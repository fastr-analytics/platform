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7FFFFA57_745A401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7FFFFA58_DCEAF4B.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8"/>
  </p:notesMasterIdLst>
  <p:sldIdLst>
    <p:sldId id="2147481044" r:id="rId5"/>
    <p:sldId id="2147482179" r:id="rId6"/>
    <p:sldId id="2147482125" r:id="rId7"/>
    <p:sldId id="2147482180" r:id="rId8"/>
    <p:sldId id="2147482181" r:id="rId9"/>
    <p:sldId id="2147482138" r:id="rId10"/>
    <p:sldId id="2147482182" r:id="rId11"/>
    <p:sldId id="2147475747" r:id="rId12"/>
    <p:sldId id="274" r:id="rId13"/>
    <p:sldId id="2147482187" r:id="rId14"/>
    <p:sldId id="2147482188" r:id="rId15"/>
    <p:sldId id="2147482189" r:id="rId16"/>
    <p:sldId id="2147482190" r:id="rId17"/>
    <p:sldId id="2147482191" r:id="rId18"/>
    <p:sldId id="2147482192" r:id="rId19"/>
    <p:sldId id="2147482193" r:id="rId20"/>
    <p:sldId id="2147482210" r:id="rId21"/>
    <p:sldId id="2147482203" r:id="rId22"/>
    <p:sldId id="2147482198" r:id="rId23"/>
    <p:sldId id="2147482197" r:id="rId24"/>
    <p:sldId id="2147482195" r:id="rId25"/>
    <p:sldId id="2147482194" r:id="rId26"/>
    <p:sldId id="2147482196" r:id="rId27"/>
    <p:sldId id="2147482199" r:id="rId28"/>
    <p:sldId id="2147482201" r:id="rId29"/>
    <p:sldId id="2147482202" r:id="rId30"/>
    <p:sldId id="2147482200" r:id="rId31"/>
    <p:sldId id="2147482211" r:id="rId32"/>
    <p:sldId id="2147482207" r:id="rId33"/>
    <p:sldId id="2147482183" r:id="rId34"/>
    <p:sldId id="2147482184" r:id="rId35"/>
    <p:sldId id="2147482209" r:id="rId36"/>
    <p:sldId id="862" r:id="rId37"/>
    <p:sldId id="2147377520" r:id="rId38"/>
    <p:sldId id="2147377815" r:id="rId39"/>
    <p:sldId id="2147482185" r:id="rId40"/>
    <p:sldId id="2147475760" r:id="rId41"/>
    <p:sldId id="2147475782" r:id="rId42"/>
    <p:sldId id="2147475783" r:id="rId43"/>
    <p:sldId id="2147475784" r:id="rId44"/>
    <p:sldId id="2147475785" r:id="rId45"/>
    <p:sldId id="2147482212" r:id="rId46"/>
    <p:sldId id="2147482213" r:id="rId47"/>
    <p:sldId id="2147482214" r:id="rId48"/>
    <p:sldId id="2147482215" r:id="rId49"/>
    <p:sldId id="2147482216" r:id="rId50"/>
    <p:sldId id="2147482217" r:id="rId51"/>
    <p:sldId id="2147482186" r:id="rId52"/>
    <p:sldId id="2147482117" r:id="rId53"/>
    <p:sldId id="2147482118" r:id="rId54"/>
    <p:sldId id="2147482119" r:id="rId55"/>
    <p:sldId id="2147482124" r:id="rId56"/>
    <p:sldId id="214748104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569604-823F-76E1-7EEB-3722E94AEB5C}" name="Leenisha Marks" initials="LM" userId="S::lmarks@r4d.org::6bd8b73b-a75c-4a78-b74e-7d0825fe491b" providerId="AD"/>
  <p188:author id="{CA55F219-7E48-3A24-CBB9-E857D871017B}" name="Bushra Binte Alam" initials="BA" userId="S::balam@worldbank.org::92dcf335-855e-4124-9f05-cb8922ecabf6" providerId="AD"/>
  <p188:author id="{0DDDC226-4F46-EEE8-BE07-8D426CFE24AD}" name="Tawab Hashemi" initials="MH" userId="S::mhashemi@worldbank.org::396dad66-02ad-43ad-b3f2-ebd45990416b" providerId="AD"/>
  <p188:author id="{E7F1D42B-0208-D376-E12E-7458F5AE5BA5}" name="Leenisha Marks" initials="LM" userId="S::lmarks_r4d.org#ext#@worldbankgroup.onmicrosoft.com::15ba230b-d7ff-43b3-a787-a17fcd13a71d" providerId="AD"/>
  <p188:author id="{5E59B8A8-7D61-FFDE-5974-2C1B80C74C1B}" name="Safia Shafiq Jiwani" initials="" userId="S::sjiwani@worldbank.org::524dfd23-8294-4be9-a6ef-d45ca3e123e2" providerId="AD"/>
  <p188:author id="{2FD7A2B2-CBB8-D7F8-7933-9EE4280E1CBC}" name="Viviane Agathe Julie Renee Azais" initials="VA" userId="S::vazais@worldbank.org::1cff2977-920c-456e-a05f-a85ab250a255" providerId="AD"/>
  <p188:author id="{02AFC2FE-9730-265D-963F-9FAF958CEF31}" name="Azam Khan" initials="AK" userId="S::akhan70@worldbank.org::e35e3e32-dc2d-4ab1-a34a-8c3eaea61f9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ED5D3"/>
    <a:srgbClr val="36827E"/>
    <a:srgbClr val="49B1AC"/>
    <a:srgbClr val="5191AB"/>
    <a:srgbClr val="5D918C"/>
    <a:srgbClr val="F7F9F8"/>
    <a:srgbClr val="095457"/>
    <a:srgbClr val="D5D16E"/>
    <a:srgbClr val="7AC8C4"/>
    <a:srgbClr val="FFC7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06F2AB-FC92-4089-B2EB-79A58397EECB}" v="871" dt="2026-03-30T17:58:41.846"/>
    <p1510:client id="{AC490747-A71F-4D44-96AF-AB2C83CA2705}" v="23" dt="2026-03-30T20:35:39.453"/>
  </p1510:revLst>
</p1510:revInfo>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p:restoredTop sz="94694"/>
  </p:normalViewPr>
  <p:slideViewPr>
    <p:cSldViewPr snapToGrid="0">
      <p:cViewPr varScale="1">
        <p:scale>
          <a:sx n="121" d="100"/>
          <a:sy n="121" d="100"/>
        </p:scale>
        <p:origin x="3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nisha Marks" userId="6bd8b73b-a75c-4a78-b74e-7d0825fe491b" providerId="ADAL" clId="{69033EFC-1612-4645-90C6-63A934EA3FA5}"/>
    <pc:docChg chg="undo redo custSel addSld delSld modSld sldOrd">
      <pc:chgData name="Leenisha Marks" userId="6bd8b73b-a75c-4a78-b74e-7d0825fe491b" providerId="ADAL" clId="{69033EFC-1612-4645-90C6-63A934EA3FA5}" dt="2026-03-30T15:53:07.097" v="5054" actId="20577"/>
      <pc:docMkLst>
        <pc:docMk/>
      </pc:docMkLst>
      <pc:sldChg chg="modNotesTx">
        <pc:chgData name="Leenisha Marks" userId="6bd8b73b-a75c-4a78-b74e-7d0825fe491b" providerId="ADAL" clId="{69033EFC-1612-4645-90C6-63A934EA3FA5}" dt="2026-03-29T16:57:58.377" v="2333" actId="20577"/>
        <pc:sldMkLst>
          <pc:docMk/>
          <pc:sldMk cId="95992585" sldId="274"/>
        </pc:sldMkLst>
      </pc:sldChg>
      <pc:sldChg chg="modSp mod">
        <pc:chgData name="Leenisha Marks" userId="6bd8b73b-a75c-4a78-b74e-7d0825fe491b" providerId="ADAL" clId="{69033EFC-1612-4645-90C6-63A934EA3FA5}" dt="2026-03-30T15:53:07.097" v="5054" actId="20577"/>
        <pc:sldMkLst>
          <pc:docMk/>
          <pc:sldMk cId="2201533524" sldId="2147377520"/>
        </pc:sldMkLst>
        <pc:spChg chg="mod">
          <ac:chgData name="Leenisha Marks" userId="6bd8b73b-a75c-4a78-b74e-7d0825fe491b" providerId="ADAL" clId="{69033EFC-1612-4645-90C6-63A934EA3FA5}" dt="2026-03-30T15:53:07.097" v="5054" actId="20577"/>
          <ac:spMkLst>
            <pc:docMk/>
            <pc:sldMk cId="2201533524" sldId="2147377520"/>
            <ac:spMk id="2" creationId="{16B69795-512D-2EDA-0F03-6D302E6C7DFB}"/>
          </ac:spMkLst>
        </pc:spChg>
      </pc:sldChg>
      <pc:sldChg chg="ord">
        <pc:chgData name="Leenisha Marks" userId="6bd8b73b-a75c-4a78-b74e-7d0825fe491b" providerId="ADAL" clId="{69033EFC-1612-4645-90C6-63A934EA3FA5}" dt="2026-03-29T15:21:05.137" v="3"/>
        <pc:sldMkLst>
          <pc:docMk/>
          <pc:sldMk cId="2294120072" sldId="2147377817"/>
        </pc:sldMkLst>
      </pc:sldChg>
      <pc:sldChg chg="modNotesTx">
        <pc:chgData name="Leenisha Marks" userId="6bd8b73b-a75c-4a78-b74e-7d0825fe491b" providerId="ADAL" clId="{69033EFC-1612-4645-90C6-63A934EA3FA5}" dt="2026-03-29T16:56:52.888" v="2068" actId="20577"/>
        <pc:sldMkLst>
          <pc:docMk/>
          <pc:sldMk cId="181260184" sldId="2147475747"/>
        </pc:sldMkLst>
      </pc:sldChg>
      <pc:sldChg chg="modNotesTx">
        <pc:chgData name="Leenisha Marks" userId="6bd8b73b-a75c-4a78-b74e-7d0825fe491b" providerId="ADAL" clId="{69033EFC-1612-4645-90C6-63A934EA3FA5}" dt="2026-03-29T16:30:40.506" v="1183" actId="20577"/>
        <pc:sldMkLst>
          <pc:docMk/>
          <pc:sldMk cId="2994226904" sldId="2147482138"/>
        </pc:sldMkLst>
      </pc:sldChg>
      <pc:sldChg chg="modSp mod modNotesTx">
        <pc:chgData name="Leenisha Marks" userId="6bd8b73b-a75c-4a78-b74e-7d0825fe491b" providerId="ADAL" clId="{69033EFC-1612-4645-90C6-63A934EA3FA5}" dt="2026-03-30T15:12:55.732" v="5053" actId="20577"/>
        <pc:sldMkLst>
          <pc:docMk/>
          <pc:sldMk cId="715272806" sldId="2147482180"/>
        </pc:sldMkLst>
        <pc:spChg chg="mod">
          <ac:chgData name="Leenisha Marks" userId="6bd8b73b-a75c-4a78-b74e-7d0825fe491b" providerId="ADAL" clId="{69033EFC-1612-4645-90C6-63A934EA3FA5}" dt="2026-03-29T16:26:08.142" v="269" actId="20577"/>
          <ac:spMkLst>
            <pc:docMk/>
            <pc:sldMk cId="715272806" sldId="2147482180"/>
            <ac:spMk id="15" creationId="{D23F2E48-23E9-27A0-A4D2-37ACE857C3F8}"/>
          </ac:spMkLst>
        </pc:spChg>
      </pc:sldChg>
      <pc:sldChg chg="modSp mod modNotesTx">
        <pc:chgData name="Leenisha Marks" userId="6bd8b73b-a75c-4a78-b74e-7d0825fe491b" providerId="ADAL" clId="{69033EFC-1612-4645-90C6-63A934EA3FA5}" dt="2026-03-29T17:00:25.708" v="2400" actId="20577"/>
        <pc:sldMkLst>
          <pc:docMk/>
          <pc:sldMk cId="1949702073" sldId="2147482187"/>
        </pc:sldMkLst>
        <pc:spChg chg="mod">
          <ac:chgData name="Leenisha Marks" userId="6bd8b73b-a75c-4a78-b74e-7d0825fe491b" providerId="ADAL" clId="{69033EFC-1612-4645-90C6-63A934EA3FA5}" dt="2026-03-29T17:00:10.983" v="2396" actId="1036"/>
          <ac:spMkLst>
            <pc:docMk/>
            <pc:sldMk cId="1949702073" sldId="2147482187"/>
            <ac:spMk id="8" creationId="{700D0EC4-073A-724F-E60E-83B1E90A8953}"/>
          </ac:spMkLst>
        </pc:spChg>
        <pc:spChg chg="mod">
          <ac:chgData name="Leenisha Marks" userId="6bd8b73b-a75c-4a78-b74e-7d0825fe491b" providerId="ADAL" clId="{69033EFC-1612-4645-90C6-63A934EA3FA5}" dt="2026-03-29T17:00:25.708" v="2400" actId="20577"/>
          <ac:spMkLst>
            <pc:docMk/>
            <pc:sldMk cId="1949702073" sldId="2147482187"/>
            <ac:spMk id="9" creationId="{BA789CFC-56C0-C629-9769-9801E608CC7E}"/>
          </ac:spMkLst>
        </pc:spChg>
      </pc:sldChg>
      <pc:sldChg chg="modNotesTx">
        <pc:chgData name="Leenisha Marks" userId="6bd8b73b-a75c-4a78-b74e-7d0825fe491b" providerId="ADAL" clId="{69033EFC-1612-4645-90C6-63A934EA3FA5}" dt="2026-03-29T17:00:57.905" v="2492" actId="20577"/>
        <pc:sldMkLst>
          <pc:docMk/>
          <pc:sldMk cId="282959123" sldId="2147482188"/>
        </pc:sldMkLst>
      </pc:sldChg>
      <pc:sldChg chg="modNotesTx">
        <pc:chgData name="Leenisha Marks" userId="6bd8b73b-a75c-4a78-b74e-7d0825fe491b" providerId="ADAL" clId="{69033EFC-1612-4645-90C6-63A934EA3FA5}" dt="2026-03-29T17:01:37.663" v="2601" actId="20577"/>
        <pc:sldMkLst>
          <pc:docMk/>
          <pc:sldMk cId="123912094" sldId="2147482189"/>
        </pc:sldMkLst>
      </pc:sldChg>
      <pc:sldChg chg="modSp mod modNotesTx">
        <pc:chgData name="Leenisha Marks" userId="6bd8b73b-a75c-4a78-b74e-7d0825fe491b" providerId="ADAL" clId="{69033EFC-1612-4645-90C6-63A934EA3FA5}" dt="2026-03-29T17:03:44.425" v="2871" actId="20577"/>
        <pc:sldMkLst>
          <pc:docMk/>
          <pc:sldMk cId="828466254" sldId="2147482190"/>
        </pc:sldMkLst>
        <pc:spChg chg="mod">
          <ac:chgData name="Leenisha Marks" userId="6bd8b73b-a75c-4a78-b74e-7d0825fe491b" providerId="ADAL" clId="{69033EFC-1612-4645-90C6-63A934EA3FA5}" dt="2026-03-29T17:03:44.425" v="2871" actId="20577"/>
          <ac:spMkLst>
            <pc:docMk/>
            <pc:sldMk cId="828466254" sldId="2147482190"/>
            <ac:spMk id="11" creationId="{8E9023E9-55E6-7CA9-BE95-DACF90CA61D9}"/>
          </ac:spMkLst>
        </pc:spChg>
      </pc:sldChg>
      <pc:sldChg chg="modSp mod modNotesTx">
        <pc:chgData name="Leenisha Marks" userId="6bd8b73b-a75c-4a78-b74e-7d0825fe491b" providerId="ADAL" clId="{69033EFC-1612-4645-90C6-63A934EA3FA5}" dt="2026-03-29T17:07:07.774" v="3268" actId="20577"/>
        <pc:sldMkLst>
          <pc:docMk/>
          <pc:sldMk cId="2440358373" sldId="2147482191"/>
        </pc:sldMkLst>
        <pc:spChg chg="mod">
          <ac:chgData name="Leenisha Marks" userId="6bd8b73b-a75c-4a78-b74e-7d0825fe491b" providerId="ADAL" clId="{69033EFC-1612-4645-90C6-63A934EA3FA5}" dt="2026-03-29T17:07:07.774" v="3268" actId="20577"/>
          <ac:spMkLst>
            <pc:docMk/>
            <pc:sldMk cId="2440358373" sldId="2147482191"/>
            <ac:spMk id="9" creationId="{15B3074F-3651-6810-21BC-08C27B1ED77B}"/>
          </ac:spMkLst>
        </pc:spChg>
      </pc:sldChg>
      <pc:sldChg chg="modNotesTx">
        <pc:chgData name="Leenisha Marks" userId="6bd8b73b-a75c-4a78-b74e-7d0825fe491b" providerId="ADAL" clId="{69033EFC-1612-4645-90C6-63A934EA3FA5}" dt="2026-03-29T17:09:10.199" v="3648" actId="20577"/>
        <pc:sldMkLst>
          <pc:docMk/>
          <pc:sldMk cId="1785678240" sldId="2147482192"/>
        </pc:sldMkLst>
      </pc:sldChg>
      <pc:sldChg chg="modNotesTx">
        <pc:chgData name="Leenisha Marks" userId="6bd8b73b-a75c-4a78-b74e-7d0825fe491b" providerId="ADAL" clId="{69033EFC-1612-4645-90C6-63A934EA3FA5}" dt="2026-03-29T17:09:38.042" v="3779" actId="20577"/>
        <pc:sldMkLst>
          <pc:docMk/>
          <pc:sldMk cId="2580371189" sldId="2147482193"/>
        </pc:sldMkLst>
      </pc:sldChg>
      <pc:sldChg chg="modNotesTx">
        <pc:chgData name="Leenisha Marks" userId="6bd8b73b-a75c-4a78-b74e-7d0825fe491b" providerId="ADAL" clId="{69033EFC-1612-4645-90C6-63A934EA3FA5}" dt="2026-03-29T17:15:46.269" v="4249" actId="20577"/>
        <pc:sldMkLst>
          <pc:docMk/>
          <pc:sldMk cId="539324333" sldId="2147482194"/>
        </pc:sldMkLst>
      </pc:sldChg>
      <pc:sldChg chg="modNotesTx">
        <pc:chgData name="Leenisha Marks" userId="6bd8b73b-a75c-4a78-b74e-7d0825fe491b" providerId="ADAL" clId="{69033EFC-1612-4645-90C6-63A934EA3FA5}" dt="2026-03-29T17:15:23.905" v="4184" actId="20577"/>
        <pc:sldMkLst>
          <pc:docMk/>
          <pc:sldMk cId="1707221787" sldId="2147482195"/>
        </pc:sldMkLst>
      </pc:sldChg>
      <pc:sldChg chg="modNotesTx">
        <pc:chgData name="Leenisha Marks" userId="6bd8b73b-a75c-4a78-b74e-7d0825fe491b" providerId="ADAL" clId="{69033EFC-1612-4645-90C6-63A934EA3FA5}" dt="2026-03-29T17:17:14.395" v="4310" actId="20577"/>
        <pc:sldMkLst>
          <pc:docMk/>
          <pc:sldMk cId="2221877972" sldId="2147482196"/>
        </pc:sldMkLst>
      </pc:sldChg>
      <pc:sldChg chg="modNotesTx">
        <pc:chgData name="Leenisha Marks" userId="6bd8b73b-a75c-4a78-b74e-7d0825fe491b" providerId="ADAL" clId="{69033EFC-1612-4645-90C6-63A934EA3FA5}" dt="2026-03-29T17:14:00.508" v="4128" actId="20577"/>
        <pc:sldMkLst>
          <pc:docMk/>
          <pc:sldMk cId="3868917425" sldId="2147482197"/>
        </pc:sldMkLst>
      </pc:sldChg>
      <pc:sldChg chg="modSp mod modNotesTx">
        <pc:chgData name="Leenisha Marks" userId="6bd8b73b-a75c-4a78-b74e-7d0825fe491b" providerId="ADAL" clId="{69033EFC-1612-4645-90C6-63A934EA3FA5}" dt="2026-03-29T17:11:11.756" v="3928" actId="20577"/>
        <pc:sldMkLst>
          <pc:docMk/>
          <pc:sldMk cId="981902431" sldId="2147482198"/>
        </pc:sldMkLst>
        <pc:spChg chg="mod">
          <ac:chgData name="Leenisha Marks" userId="6bd8b73b-a75c-4a78-b74e-7d0825fe491b" providerId="ADAL" clId="{69033EFC-1612-4645-90C6-63A934EA3FA5}" dt="2026-03-29T17:11:11.756" v="3928" actId="20577"/>
          <ac:spMkLst>
            <pc:docMk/>
            <pc:sldMk cId="981902431" sldId="2147482198"/>
            <ac:spMk id="7" creationId="{A6CA9EE5-8C57-33B6-7738-5F4338F07C6A}"/>
          </ac:spMkLst>
        </pc:spChg>
      </pc:sldChg>
      <pc:sldChg chg="modNotesTx">
        <pc:chgData name="Leenisha Marks" userId="6bd8b73b-a75c-4a78-b74e-7d0825fe491b" providerId="ADAL" clId="{69033EFC-1612-4645-90C6-63A934EA3FA5}" dt="2026-03-29T17:18:42.110" v="4603" actId="20577"/>
        <pc:sldMkLst>
          <pc:docMk/>
          <pc:sldMk cId="1952071696" sldId="2147482199"/>
        </pc:sldMkLst>
      </pc:sldChg>
      <pc:sldChg chg="modNotesTx">
        <pc:chgData name="Leenisha Marks" userId="6bd8b73b-a75c-4a78-b74e-7d0825fe491b" providerId="ADAL" clId="{69033EFC-1612-4645-90C6-63A934EA3FA5}" dt="2026-03-29T17:21:52.378" v="5006" actId="20577"/>
        <pc:sldMkLst>
          <pc:docMk/>
          <pc:sldMk cId="231649099" sldId="2147482200"/>
        </pc:sldMkLst>
      </pc:sldChg>
      <pc:sldChg chg="modSp mod modNotesTx">
        <pc:chgData name="Leenisha Marks" userId="6bd8b73b-a75c-4a78-b74e-7d0825fe491b" providerId="ADAL" clId="{69033EFC-1612-4645-90C6-63A934EA3FA5}" dt="2026-03-29T17:20:05.360" v="4761" actId="20577"/>
        <pc:sldMkLst>
          <pc:docMk/>
          <pc:sldMk cId="2944363704" sldId="2147482201"/>
        </pc:sldMkLst>
        <pc:spChg chg="mod">
          <ac:chgData name="Leenisha Marks" userId="6bd8b73b-a75c-4a78-b74e-7d0825fe491b" providerId="ADAL" clId="{69033EFC-1612-4645-90C6-63A934EA3FA5}" dt="2026-03-29T17:20:05.360" v="4761" actId="20577"/>
          <ac:spMkLst>
            <pc:docMk/>
            <pc:sldMk cId="2944363704" sldId="2147482201"/>
            <ac:spMk id="9" creationId="{55A4F756-3402-8B84-D6D3-F9FB20D4E578}"/>
          </ac:spMkLst>
        </pc:spChg>
      </pc:sldChg>
      <pc:sldChg chg="modNotesTx">
        <pc:chgData name="Leenisha Marks" userId="6bd8b73b-a75c-4a78-b74e-7d0825fe491b" providerId="ADAL" clId="{69033EFC-1612-4645-90C6-63A934EA3FA5}" dt="2026-03-29T17:20:57.601" v="4895" actId="20577"/>
        <pc:sldMkLst>
          <pc:docMk/>
          <pc:sldMk cId="3299357157" sldId="2147482202"/>
        </pc:sldMkLst>
      </pc:sldChg>
      <pc:sldChg chg="modSp mod modNotesTx">
        <pc:chgData name="Leenisha Marks" userId="6bd8b73b-a75c-4a78-b74e-7d0825fe491b" providerId="ADAL" clId="{69033EFC-1612-4645-90C6-63A934EA3FA5}" dt="2026-03-29T17:10:24.827" v="3870" actId="20577"/>
        <pc:sldMkLst>
          <pc:docMk/>
          <pc:sldMk cId="1758738337" sldId="2147482203"/>
        </pc:sldMkLst>
        <pc:spChg chg="mod">
          <ac:chgData name="Leenisha Marks" userId="6bd8b73b-a75c-4a78-b74e-7d0825fe491b" providerId="ADAL" clId="{69033EFC-1612-4645-90C6-63A934EA3FA5}" dt="2026-03-29T17:10:24.827" v="3870" actId="20577"/>
          <ac:spMkLst>
            <pc:docMk/>
            <pc:sldMk cId="1758738337" sldId="2147482203"/>
            <ac:spMk id="9" creationId="{F679CB4A-4A8F-1DFE-A68B-1A7057C66D32}"/>
          </ac:spMkLst>
        </pc:spChg>
      </pc:sldChg>
      <pc:sldChg chg="mod modShow">
        <pc:chgData name="Leenisha Marks" userId="6bd8b73b-a75c-4a78-b74e-7d0825fe491b" providerId="ADAL" clId="{69033EFC-1612-4645-90C6-63A934EA3FA5}" dt="2026-03-29T17:14:05.058" v="4129" actId="729"/>
        <pc:sldMkLst>
          <pc:docMk/>
          <pc:sldMk cId="3088417744" sldId="2147482204"/>
        </pc:sldMkLst>
      </pc:sldChg>
      <pc:sldChg chg="add del">
        <pc:chgData name="Leenisha Marks" userId="6bd8b73b-a75c-4a78-b74e-7d0825fe491b" providerId="ADAL" clId="{69033EFC-1612-4645-90C6-63A934EA3FA5}" dt="2026-03-29T17:28:25.485" v="5046" actId="47"/>
        <pc:sldMkLst>
          <pc:docMk/>
          <pc:sldMk cId="403866647" sldId="2147482206"/>
        </pc:sldMkLst>
      </pc:sldChg>
      <pc:sldChg chg="modSp add del mod modNotesTx">
        <pc:chgData name="Leenisha Marks" userId="6bd8b73b-a75c-4a78-b74e-7d0825fe491b" providerId="ADAL" clId="{69033EFC-1612-4645-90C6-63A934EA3FA5}" dt="2026-03-29T17:28:24.810" v="5045" actId="47"/>
        <pc:sldMkLst>
          <pc:docMk/>
          <pc:sldMk cId="1748057843" sldId="2147482207"/>
        </pc:sldMkLst>
        <pc:spChg chg="mod">
          <ac:chgData name="Leenisha Marks" userId="6bd8b73b-a75c-4a78-b74e-7d0825fe491b" providerId="ADAL" clId="{69033EFC-1612-4645-90C6-63A934EA3FA5}" dt="2026-03-29T16:29:26.643" v="893" actId="20577"/>
          <ac:spMkLst>
            <pc:docMk/>
            <pc:sldMk cId="1748057843" sldId="2147482207"/>
            <ac:spMk id="9" creationId="{E1E750BD-21FD-0EF8-1199-814F730C3D8B}"/>
          </ac:spMkLst>
        </pc:spChg>
        <pc:spChg chg="mod">
          <ac:chgData name="Leenisha Marks" userId="6bd8b73b-a75c-4a78-b74e-7d0825fe491b" providerId="ADAL" clId="{69033EFC-1612-4645-90C6-63A934EA3FA5}" dt="2026-03-29T16:31:44.485" v="1445" actId="20577"/>
          <ac:spMkLst>
            <pc:docMk/>
            <pc:sldMk cId="1748057843" sldId="2147482207"/>
            <ac:spMk id="15" creationId="{1C07AD6B-6EE9-1C45-2874-9C584F744F7E}"/>
          </ac:spMkLst>
        </pc:spChg>
      </pc:sldChg>
      <pc:sldChg chg="modSp add mod">
        <pc:chgData name="Leenisha Marks" userId="6bd8b73b-a75c-4a78-b74e-7d0825fe491b" providerId="ADAL" clId="{69033EFC-1612-4645-90C6-63A934EA3FA5}" dt="2026-03-29T17:28:10.811" v="5044" actId="20577"/>
        <pc:sldMkLst>
          <pc:docMk/>
          <pc:sldMk cId="1874525083" sldId="2147482208"/>
        </pc:sldMkLst>
        <pc:spChg chg="mod">
          <ac:chgData name="Leenisha Marks" userId="6bd8b73b-a75c-4a78-b74e-7d0825fe491b" providerId="ADAL" clId="{69033EFC-1612-4645-90C6-63A934EA3FA5}" dt="2026-03-29T17:28:10.811" v="5044" actId="20577"/>
          <ac:spMkLst>
            <pc:docMk/>
            <pc:sldMk cId="1874525083" sldId="2147482208"/>
            <ac:spMk id="9" creationId="{B22EE8E5-3DCB-36A7-3453-627D64BC16CB}"/>
          </ac:spMkLst>
        </pc:spChg>
        <pc:spChg chg="mod">
          <ac:chgData name="Leenisha Marks" userId="6bd8b73b-a75c-4a78-b74e-7d0825fe491b" providerId="ADAL" clId="{69033EFC-1612-4645-90C6-63A934EA3FA5}" dt="2026-03-29T17:28:02.928" v="5024" actId="5793"/>
          <ac:spMkLst>
            <pc:docMk/>
            <pc:sldMk cId="1874525083" sldId="2147482208"/>
            <ac:spMk id="15" creationId="{9731515C-FFA7-05C5-78C7-AFCC691C753A}"/>
          </ac:spMkLst>
        </pc:spChg>
      </pc:sldChg>
    </pc:docChg>
  </pc:docChgLst>
  <pc:docChgLst>
    <pc:chgData name="Viviane Agathe Julie Renee Azais" userId="1cff2977-920c-456e-a05f-a85ab250a255" providerId="ADAL" clId="{5C045B96-6018-4C99-B12F-1135D607B173}"/>
    <pc:docChg chg="undo custSel addSld delSld modSld">
      <pc:chgData name="Viviane Agathe Julie Renee Azais" userId="1cff2977-920c-456e-a05f-a85ab250a255" providerId="ADAL" clId="{5C045B96-6018-4C99-B12F-1135D607B173}" dt="2026-03-30T17:57:59.220" v="2113" actId="47"/>
      <pc:docMkLst>
        <pc:docMk/>
      </pc:docMkLst>
      <pc:sldChg chg="modSp mod">
        <pc:chgData name="Viviane Agathe Julie Renee Azais" userId="1cff2977-920c-456e-a05f-a85ab250a255" providerId="ADAL" clId="{5C045B96-6018-4C99-B12F-1135D607B173}" dt="2026-03-30T15:59:42.177" v="2074" actId="2711"/>
        <pc:sldMkLst>
          <pc:docMk/>
          <pc:sldMk cId="1748612590" sldId="862"/>
        </pc:sldMkLst>
        <pc:spChg chg="mod">
          <ac:chgData name="Viviane Agathe Julie Renee Azais" userId="1cff2977-920c-456e-a05f-a85ab250a255" providerId="ADAL" clId="{5C045B96-6018-4C99-B12F-1135D607B173}" dt="2026-03-30T15:59:42.177" v="2074" actId="2711"/>
          <ac:spMkLst>
            <pc:docMk/>
            <pc:sldMk cId="1748612590" sldId="862"/>
            <ac:spMk id="6" creationId="{22E2B063-AE41-4933-AC76-41C6A2884B28}"/>
          </ac:spMkLst>
        </pc:spChg>
      </pc:sldChg>
      <pc:sldChg chg="modSp mod">
        <pc:chgData name="Viviane Agathe Julie Renee Azais" userId="1cff2977-920c-456e-a05f-a85ab250a255" providerId="ADAL" clId="{5C045B96-6018-4C99-B12F-1135D607B173}" dt="2026-03-30T15:59:49.272" v="2075" actId="2711"/>
        <pc:sldMkLst>
          <pc:docMk/>
          <pc:sldMk cId="2201533524" sldId="2147377520"/>
        </pc:sldMkLst>
        <pc:spChg chg="mod">
          <ac:chgData name="Viviane Agathe Julie Renee Azais" userId="1cff2977-920c-456e-a05f-a85ab250a255" providerId="ADAL" clId="{5C045B96-6018-4C99-B12F-1135D607B173}" dt="2026-03-30T15:59:49.272" v="2075" actId="2711"/>
          <ac:spMkLst>
            <pc:docMk/>
            <pc:sldMk cId="2201533524" sldId="2147377520"/>
            <ac:spMk id="9" creationId="{682CD28B-FBD7-181E-DC83-1A1D2951732C}"/>
          </ac:spMkLst>
        </pc:spChg>
      </pc:sldChg>
      <pc:sldChg chg="modSp mod">
        <pc:chgData name="Viviane Agathe Julie Renee Azais" userId="1cff2977-920c-456e-a05f-a85ab250a255" providerId="ADAL" clId="{5C045B96-6018-4C99-B12F-1135D607B173}" dt="2026-03-30T15:59:53.099" v="2076" actId="2711"/>
        <pc:sldMkLst>
          <pc:docMk/>
          <pc:sldMk cId="941575339" sldId="2147377815"/>
        </pc:sldMkLst>
        <pc:spChg chg="mod">
          <ac:chgData name="Viviane Agathe Julie Renee Azais" userId="1cff2977-920c-456e-a05f-a85ab250a255" providerId="ADAL" clId="{5C045B96-6018-4C99-B12F-1135D607B173}" dt="2026-03-30T15:59:53.099" v="2076" actId="2711"/>
          <ac:spMkLst>
            <pc:docMk/>
            <pc:sldMk cId="941575339" sldId="2147377815"/>
            <ac:spMk id="6" creationId="{24B27DBA-7689-B5C4-00B5-DBD925CDA134}"/>
          </ac:spMkLst>
        </pc:spChg>
      </pc:sldChg>
      <pc:sldChg chg="del">
        <pc:chgData name="Viviane Agathe Julie Renee Azais" userId="1cff2977-920c-456e-a05f-a85ab250a255" providerId="ADAL" clId="{5C045B96-6018-4C99-B12F-1135D607B173}" dt="2026-03-30T11:36:21.073" v="926" actId="47"/>
        <pc:sldMkLst>
          <pc:docMk/>
          <pc:sldMk cId="2294120072" sldId="2147377817"/>
        </pc:sldMkLst>
      </pc:sldChg>
      <pc:sldChg chg="addSp delSp modSp mod">
        <pc:chgData name="Viviane Agathe Julie Renee Azais" userId="1cff2977-920c-456e-a05f-a85ab250a255" providerId="ADAL" clId="{5C045B96-6018-4C99-B12F-1135D607B173}" dt="2026-03-30T13:55:08.801" v="1643" actId="167"/>
        <pc:sldMkLst>
          <pc:docMk/>
          <pc:sldMk cId="181260184" sldId="2147475747"/>
        </pc:sldMkLst>
        <pc:spChg chg="mod">
          <ac:chgData name="Viviane Agathe Julie Renee Azais" userId="1cff2977-920c-456e-a05f-a85ab250a255" providerId="ADAL" clId="{5C045B96-6018-4C99-B12F-1135D607B173}" dt="2026-03-30T12:33:56.106" v="1235" actId="20577"/>
          <ac:spMkLst>
            <pc:docMk/>
            <pc:sldMk cId="181260184" sldId="2147475747"/>
            <ac:spMk id="3" creationId="{7B8EA98F-A274-8F97-418A-27E4403EA2D9}"/>
          </ac:spMkLst>
        </pc:spChg>
        <pc:picChg chg="add del ord">
          <ac:chgData name="Viviane Agathe Julie Renee Azais" userId="1cff2977-920c-456e-a05f-a85ab250a255" providerId="ADAL" clId="{5C045B96-6018-4C99-B12F-1135D607B173}" dt="2026-03-30T12:34:17.508" v="1236" actId="478"/>
          <ac:picMkLst>
            <pc:docMk/>
            <pc:sldMk cId="181260184" sldId="2147475747"/>
            <ac:picMk id="5" creationId="{E150D88E-34F4-8877-F823-2DA37ABCB3B2}"/>
          </ac:picMkLst>
        </pc:picChg>
        <pc:picChg chg="del">
          <ac:chgData name="Viviane Agathe Julie Renee Azais" userId="1cff2977-920c-456e-a05f-a85ab250a255" providerId="ADAL" clId="{5C045B96-6018-4C99-B12F-1135D607B173}" dt="2026-03-30T12:32:28.541" v="1227" actId="478"/>
          <ac:picMkLst>
            <pc:docMk/>
            <pc:sldMk cId="181260184" sldId="2147475747"/>
            <ac:picMk id="6" creationId="{FF55EC75-906B-08AF-FD08-9FA251302B8C}"/>
          </ac:picMkLst>
        </pc:picChg>
        <pc:picChg chg="add del ord">
          <ac:chgData name="Viviane Agathe Julie Renee Azais" userId="1cff2977-920c-456e-a05f-a85ab250a255" providerId="ADAL" clId="{5C045B96-6018-4C99-B12F-1135D607B173}" dt="2026-03-30T13:55:06.054" v="1641" actId="478"/>
          <ac:picMkLst>
            <pc:docMk/>
            <pc:sldMk cId="181260184" sldId="2147475747"/>
            <ac:picMk id="9" creationId="{BD7AC078-6046-5524-A8D9-EBC8488175FD}"/>
          </ac:picMkLst>
        </pc:picChg>
        <pc:picChg chg="add ord">
          <ac:chgData name="Viviane Agathe Julie Renee Azais" userId="1cff2977-920c-456e-a05f-a85ab250a255" providerId="ADAL" clId="{5C045B96-6018-4C99-B12F-1135D607B173}" dt="2026-03-30T13:55:08.801" v="1643" actId="167"/>
          <ac:picMkLst>
            <pc:docMk/>
            <pc:sldMk cId="181260184" sldId="2147475747"/>
            <ac:picMk id="11" creationId="{C4361595-AF25-3EF0-39AC-A578941F653D}"/>
          </ac:picMkLst>
        </pc:picChg>
      </pc:sldChg>
      <pc:sldChg chg="addSp delSp mod">
        <pc:chgData name="Viviane Agathe Julie Renee Azais" userId="1cff2977-920c-456e-a05f-a85ab250a255" providerId="ADAL" clId="{5C045B96-6018-4C99-B12F-1135D607B173}" dt="2026-03-30T17:56:00.941" v="2086" actId="22"/>
        <pc:sldMkLst>
          <pc:docMk/>
          <pc:sldMk cId="2632529856" sldId="2147475760"/>
        </pc:sldMkLst>
        <pc:picChg chg="add">
          <ac:chgData name="Viviane Agathe Julie Renee Azais" userId="1cff2977-920c-456e-a05f-a85ab250a255" providerId="ADAL" clId="{5C045B96-6018-4C99-B12F-1135D607B173}" dt="2026-03-30T17:56:00.941" v="2086" actId="22"/>
          <ac:picMkLst>
            <pc:docMk/>
            <pc:sldMk cId="2632529856" sldId="2147475760"/>
            <ac:picMk id="3" creationId="{28510442-0D46-3ADA-171F-B6477C839997}"/>
          </ac:picMkLst>
        </pc:picChg>
        <pc:picChg chg="del">
          <ac:chgData name="Viviane Agathe Julie Renee Azais" userId="1cff2977-920c-456e-a05f-a85ab250a255" providerId="ADAL" clId="{5C045B96-6018-4C99-B12F-1135D607B173}" dt="2026-03-30T17:56:00.579" v="2085" actId="478"/>
          <ac:picMkLst>
            <pc:docMk/>
            <pc:sldMk cId="2632529856" sldId="2147475760"/>
            <ac:picMk id="5" creationId="{0B1D44A8-D4B0-B476-4A79-5A6418D3619C}"/>
          </ac:picMkLst>
        </pc:picChg>
      </pc:sldChg>
      <pc:sldChg chg="addSp delSp mod">
        <pc:chgData name="Viviane Agathe Julie Renee Azais" userId="1cff2977-920c-456e-a05f-a85ab250a255" providerId="ADAL" clId="{5C045B96-6018-4C99-B12F-1135D607B173}" dt="2026-03-30T17:56:19.879" v="2088" actId="22"/>
        <pc:sldMkLst>
          <pc:docMk/>
          <pc:sldMk cId="182996461" sldId="2147475782"/>
        </pc:sldMkLst>
        <pc:picChg chg="add">
          <ac:chgData name="Viviane Agathe Julie Renee Azais" userId="1cff2977-920c-456e-a05f-a85ab250a255" providerId="ADAL" clId="{5C045B96-6018-4C99-B12F-1135D607B173}" dt="2026-03-30T17:56:19.879" v="2088" actId="22"/>
          <ac:picMkLst>
            <pc:docMk/>
            <pc:sldMk cId="182996461" sldId="2147475782"/>
            <ac:picMk id="3" creationId="{3B1D377C-F6F3-1614-0CE1-8A70A9ECB24E}"/>
          </ac:picMkLst>
        </pc:picChg>
        <pc:picChg chg="del">
          <ac:chgData name="Viviane Agathe Julie Renee Azais" userId="1cff2977-920c-456e-a05f-a85ab250a255" providerId="ADAL" clId="{5C045B96-6018-4C99-B12F-1135D607B173}" dt="2026-03-30T17:56:19.494" v="2087" actId="478"/>
          <ac:picMkLst>
            <pc:docMk/>
            <pc:sldMk cId="182996461" sldId="2147475782"/>
            <ac:picMk id="5" creationId="{48679167-720F-D389-9149-01E25DF4D099}"/>
          </ac:picMkLst>
        </pc:picChg>
      </pc:sldChg>
      <pc:sldChg chg="addSp delSp mod">
        <pc:chgData name="Viviane Agathe Julie Renee Azais" userId="1cff2977-920c-456e-a05f-a85ab250a255" providerId="ADAL" clId="{5C045B96-6018-4C99-B12F-1135D607B173}" dt="2026-03-30T17:56:29.069" v="2090" actId="22"/>
        <pc:sldMkLst>
          <pc:docMk/>
          <pc:sldMk cId="3644914299" sldId="2147475783"/>
        </pc:sldMkLst>
        <pc:picChg chg="del">
          <ac:chgData name="Viviane Agathe Julie Renee Azais" userId="1cff2977-920c-456e-a05f-a85ab250a255" providerId="ADAL" clId="{5C045B96-6018-4C99-B12F-1135D607B173}" dt="2026-03-30T17:56:28.738" v="2089" actId="478"/>
          <ac:picMkLst>
            <pc:docMk/>
            <pc:sldMk cId="3644914299" sldId="2147475783"/>
            <ac:picMk id="3" creationId="{65AAAD7A-5DCB-37C3-6A7C-D36C727A1EA0}"/>
          </ac:picMkLst>
        </pc:picChg>
        <pc:picChg chg="add">
          <ac:chgData name="Viviane Agathe Julie Renee Azais" userId="1cff2977-920c-456e-a05f-a85ab250a255" providerId="ADAL" clId="{5C045B96-6018-4C99-B12F-1135D607B173}" dt="2026-03-30T17:56:29.069" v="2090" actId="22"/>
          <ac:picMkLst>
            <pc:docMk/>
            <pc:sldMk cId="3644914299" sldId="2147475783"/>
            <ac:picMk id="4" creationId="{BC8A3F1A-56BD-7390-55CD-FA7589E1B53B}"/>
          </ac:picMkLst>
        </pc:picChg>
      </pc:sldChg>
      <pc:sldChg chg="addSp delSp mod">
        <pc:chgData name="Viviane Agathe Julie Renee Azais" userId="1cff2977-920c-456e-a05f-a85ab250a255" providerId="ADAL" clId="{5C045B96-6018-4C99-B12F-1135D607B173}" dt="2026-03-30T17:56:36.329" v="2092" actId="22"/>
        <pc:sldMkLst>
          <pc:docMk/>
          <pc:sldMk cId="3934807485" sldId="2147475784"/>
        </pc:sldMkLst>
        <pc:picChg chg="del">
          <ac:chgData name="Viviane Agathe Julie Renee Azais" userId="1cff2977-920c-456e-a05f-a85ab250a255" providerId="ADAL" clId="{5C045B96-6018-4C99-B12F-1135D607B173}" dt="2026-03-30T17:56:35.926" v="2091" actId="478"/>
          <ac:picMkLst>
            <pc:docMk/>
            <pc:sldMk cId="3934807485" sldId="2147475784"/>
            <ac:picMk id="3" creationId="{3084A039-67FA-6F52-F39F-D86D58BBC0C7}"/>
          </ac:picMkLst>
        </pc:picChg>
        <pc:picChg chg="add">
          <ac:chgData name="Viviane Agathe Julie Renee Azais" userId="1cff2977-920c-456e-a05f-a85ab250a255" providerId="ADAL" clId="{5C045B96-6018-4C99-B12F-1135D607B173}" dt="2026-03-30T17:56:36.329" v="2092" actId="22"/>
          <ac:picMkLst>
            <pc:docMk/>
            <pc:sldMk cId="3934807485" sldId="2147475784"/>
            <ac:picMk id="4" creationId="{49EE9283-163C-40B4-0C69-1BCD49CD14BC}"/>
          </ac:picMkLst>
        </pc:picChg>
      </pc:sldChg>
      <pc:sldChg chg="addSp delSp mod">
        <pc:chgData name="Viviane Agathe Julie Renee Azais" userId="1cff2977-920c-456e-a05f-a85ab250a255" providerId="ADAL" clId="{5C045B96-6018-4C99-B12F-1135D607B173}" dt="2026-03-30T17:56:43.788" v="2094" actId="22"/>
        <pc:sldMkLst>
          <pc:docMk/>
          <pc:sldMk cId="993795294" sldId="2147475785"/>
        </pc:sldMkLst>
        <pc:picChg chg="add del">
          <ac:chgData name="Viviane Agathe Julie Renee Azais" userId="1cff2977-920c-456e-a05f-a85ab250a255" providerId="ADAL" clId="{5C045B96-6018-4C99-B12F-1135D607B173}" dt="2026-03-30T17:56:43.419" v="2093" actId="478"/>
          <ac:picMkLst>
            <pc:docMk/>
            <pc:sldMk cId="993795294" sldId="2147475785"/>
            <ac:picMk id="3" creationId="{4A6C41DF-D2F8-7BF3-7117-1373FD5366D3}"/>
          </ac:picMkLst>
        </pc:picChg>
        <pc:picChg chg="add">
          <ac:chgData name="Viviane Agathe Julie Renee Azais" userId="1cff2977-920c-456e-a05f-a85ab250a255" providerId="ADAL" clId="{5C045B96-6018-4C99-B12F-1135D607B173}" dt="2026-03-30T17:56:43.788" v="2094" actId="22"/>
          <ac:picMkLst>
            <pc:docMk/>
            <pc:sldMk cId="993795294" sldId="2147475785"/>
            <ac:picMk id="4" creationId="{F441B2D6-1A98-0142-D766-4577E3F59D40}"/>
          </ac:picMkLst>
        </pc:picChg>
        <pc:picChg chg="del">
          <ac:chgData name="Viviane Agathe Julie Renee Azais" userId="1cff2977-920c-456e-a05f-a85ab250a255" providerId="ADAL" clId="{5C045B96-6018-4C99-B12F-1135D607B173}" dt="2026-03-30T15:12:59.217" v="2069" actId="478"/>
          <ac:picMkLst>
            <pc:docMk/>
            <pc:sldMk cId="993795294" sldId="2147475785"/>
            <ac:picMk id="5" creationId="{E64F4023-359B-250D-0182-F96EC705ED50}"/>
          </ac:picMkLst>
        </pc:picChg>
      </pc:sldChg>
      <pc:sldChg chg="del">
        <pc:chgData name="Viviane Agathe Julie Renee Azais" userId="1cff2977-920c-456e-a05f-a85ab250a255" providerId="ADAL" clId="{5C045B96-6018-4C99-B12F-1135D607B173}" dt="2026-03-30T17:57:59.220" v="2113" actId="47"/>
        <pc:sldMkLst>
          <pc:docMk/>
          <pc:sldMk cId="1188471586" sldId="2147475786"/>
        </pc:sldMkLst>
      </pc:sldChg>
      <pc:sldChg chg="modSp mod">
        <pc:chgData name="Viviane Agathe Julie Renee Azais" userId="1cff2977-920c-456e-a05f-a85ab250a255" providerId="ADAL" clId="{5C045B96-6018-4C99-B12F-1135D607B173}" dt="2026-03-30T11:18:33.161" v="103" actId="20577"/>
        <pc:sldMkLst>
          <pc:docMk/>
          <pc:sldMk cId="715272806" sldId="2147482180"/>
        </pc:sldMkLst>
        <pc:spChg chg="mod">
          <ac:chgData name="Viviane Agathe Julie Renee Azais" userId="1cff2977-920c-456e-a05f-a85ab250a255" providerId="ADAL" clId="{5C045B96-6018-4C99-B12F-1135D607B173}" dt="2026-03-30T11:18:33.161" v="103" actId="20577"/>
          <ac:spMkLst>
            <pc:docMk/>
            <pc:sldMk cId="715272806" sldId="2147482180"/>
            <ac:spMk id="15" creationId="{D23F2E48-23E9-27A0-A4D2-37ACE857C3F8}"/>
          </ac:spMkLst>
        </pc:spChg>
      </pc:sldChg>
      <pc:sldChg chg="modSp mod modCm">
        <pc:chgData name="Viviane Agathe Julie Renee Azais" userId="1cff2977-920c-456e-a05f-a85ab250a255" providerId="ADAL" clId="{5C045B96-6018-4C99-B12F-1135D607B173}" dt="2026-03-30T11:18:51.392" v="110" actId="20577"/>
        <pc:sldMkLst>
          <pc:docMk/>
          <pc:sldMk cId="4223286974" sldId="2147482181"/>
        </pc:sldMkLst>
        <pc:graphicFrameChg chg="modGraphic">
          <ac:chgData name="Viviane Agathe Julie Renee Azais" userId="1cff2977-920c-456e-a05f-a85ab250a255" providerId="ADAL" clId="{5C045B96-6018-4C99-B12F-1135D607B173}" dt="2026-03-30T11:18:51.392" v="110" actId="20577"/>
          <ac:graphicFrameMkLst>
            <pc:docMk/>
            <pc:sldMk cId="4223286974" sldId="2147482181"/>
            <ac:graphicFrameMk id="36" creationId="{FA86BA0D-6AAA-67FC-D0E7-BE2C463C4835}"/>
          </ac:graphicFrameMkLst>
        </pc:graphicFrameChg>
        <pc:extLst>
          <p:ext xmlns:p="http://schemas.openxmlformats.org/presentationml/2006/main" uri="{D6D511B9-2390-475A-947B-AFAB55BFBCF1}">
            <pc226:cmChg xmlns:pc226="http://schemas.microsoft.com/office/powerpoint/2022/06/main/command" chg="mod">
              <pc226:chgData name="Viviane Agathe Julie Renee Azais" userId="1cff2977-920c-456e-a05f-a85ab250a255" providerId="ADAL" clId="{5C045B96-6018-4C99-B12F-1135D607B173}" dt="2026-03-30T11:18:48.972" v="108" actId="20577"/>
              <pc2:cmMkLst xmlns:pc2="http://schemas.microsoft.com/office/powerpoint/2019/9/main/command">
                <pc:docMk/>
                <pc:sldMk cId="4223286974" sldId="2147482181"/>
                <pc2:cmMk id="{17DF1E49-54E5-463D-982E-1FC23EEFB514}"/>
              </pc2:cmMkLst>
            </pc226:cmChg>
          </p:ext>
        </pc:extLst>
      </pc:sldChg>
      <pc:sldChg chg="addSp delSp modSp mod">
        <pc:chgData name="Viviane Agathe Julie Renee Azais" userId="1cff2977-920c-456e-a05f-a85ab250a255" providerId="ADAL" clId="{5C045B96-6018-4C99-B12F-1135D607B173}" dt="2026-03-30T16:39:46.096" v="2081" actId="167"/>
        <pc:sldMkLst>
          <pc:docMk/>
          <pc:sldMk cId="123912094" sldId="2147482189"/>
        </pc:sldMkLst>
        <pc:picChg chg="add ord">
          <ac:chgData name="Viviane Agathe Julie Renee Azais" userId="1cff2977-920c-456e-a05f-a85ab250a255" providerId="ADAL" clId="{5C045B96-6018-4C99-B12F-1135D607B173}" dt="2026-03-30T16:39:46.096" v="2081" actId="167"/>
          <ac:picMkLst>
            <pc:docMk/>
            <pc:sldMk cId="123912094" sldId="2147482189"/>
            <ac:picMk id="3" creationId="{CF661CD3-41F6-5918-445B-AEB52B863DE9}"/>
          </ac:picMkLst>
        </pc:picChg>
        <pc:picChg chg="del">
          <ac:chgData name="Viviane Agathe Julie Renee Azais" userId="1cff2977-920c-456e-a05f-a85ab250a255" providerId="ADAL" clId="{5C045B96-6018-4C99-B12F-1135D607B173}" dt="2026-03-30T16:39:39.852" v="2079" actId="478"/>
          <ac:picMkLst>
            <pc:docMk/>
            <pc:sldMk cId="123912094" sldId="2147482189"/>
            <ac:picMk id="5" creationId="{C65F7C37-BCCF-ACBC-7FC5-63B5AAA93E2B}"/>
          </ac:picMkLst>
        </pc:picChg>
      </pc:sldChg>
      <pc:sldChg chg="addSp delSp modSp mod">
        <pc:chgData name="Viviane Agathe Julie Renee Azais" userId="1cff2977-920c-456e-a05f-a85ab250a255" providerId="ADAL" clId="{5C045B96-6018-4C99-B12F-1135D607B173}" dt="2026-03-30T13:28:10.508" v="1438" actId="167"/>
        <pc:sldMkLst>
          <pc:docMk/>
          <pc:sldMk cId="1785678240" sldId="2147482192"/>
        </pc:sldMkLst>
        <pc:spChg chg="mod">
          <ac:chgData name="Viviane Agathe Julie Renee Azais" userId="1cff2977-920c-456e-a05f-a85ab250a255" providerId="ADAL" clId="{5C045B96-6018-4C99-B12F-1135D607B173}" dt="2026-03-30T12:36:58.100" v="1296" actId="20577"/>
          <ac:spMkLst>
            <pc:docMk/>
            <pc:sldMk cId="1785678240" sldId="2147482192"/>
            <ac:spMk id="7" creationId="{60A7AAE0-C249-7535-9BD5-6A2CA93F6774}"/>
          </ac:spMkLst>
        </pc:spChg>
        <pc:picChg chg="add del">
          <ac:chgData name="Viviane Agathe Julie Renee Azais" userId="1cff2977-920c-456e-a05f-a85ab250a255" providerId="ADAL" clId="{5C045B96-6018-4C99-B12F-1135D607B173}" dt="2026-03-30T12:27:01.205" v="1202" actId="22"/>
          <ac:picMkLst>
            <pc:docMk/>
            <pc:sldMk cId="1785678240" sldId="2147482192"/>
            <ac:picMk id="3" creationId="{D6774EBC-70F3-450A-7DE3-0C45D5A19443}"/>
          </ac:picMkLst>
        </pc:picChg>
        <pc:picChg chg="add del">
          <ac:chgData name="Viviane Agathe Julie Renee Azais" userId="1cff2977-920c-456e-a05f-a85ab250a255" providerId="ADAL" clId="{5C045B96-6018-4C99-B12F-1135D607B173}" dt="2026-03-30T12:27:02.797" v="1204" actId="478"/>
          <ac:picMkLst>
            <pc:docMk/>
            <pc:sldMk cId="1785678240" sldId="2147482192"/>
            <ac:picMk id="5" creationId="{55F86C88-C892-A25D-9171-9D9B4C3A6E48}"/>
          </ac:picMkLst>
        </pc:picChg>
        <pc:picChg chg="add del ord">
          <ac:chgData name="Viviane Agathe Julie Renee Azais" userId="1cff2977-920c-456e-a05f-a85ab250a255" providerId="ADAL" clId="{5C045B96-6018-4C99-B12F-1135D607B173}" dt="2026-03-30T13:28:07.981" v="1436" actId="478"/>
          <ac:picMkLst>
            <pc:docMk/>
            <pc:sldMk cId="1785678240" sldId="2147482192"/>
            <ac:picMk id="9" creationId="{912F59D0-D4DD-3C3D-E49C-2C12769DDB76}"/>
          </ac:picMkLst>
        </pc:picChg>
        <pc:picChg chg="add ord">
          <ac:chgData name="Viviane Agathe Julie Renee Azais" userId="1cff2977-920c-456e-a05f-a85ab250a255" providerId="ADAL" clId="{5C045B96-6018-4C99-B12F-1135D607B173}" dt="2026-03-30T13:28:10.508" v="1438" actId="167"/>
          <ac:picMkLst>
            <pc:docMk/>
            <pc:sldMk cId="1785678240" sldId="2147482192"/>
            <ac:picMk id="11" creationId="{C87EEC81-2648-B6E4-7599-B41BD8ED7AF7}"/>
          </ac:picMkLst>
        </pc:picChg>
      </pc:sldChg>
      <pc:sldChg chg="modSp mod">
        <pc:chgData name="Viviane Agathe Julie Renee Azais" userId="1cff2977-920c-456e-a05f-a85ab250a255" providerId="ADAL" clId="{5C045B96-6018-4C99-B12F-1135D607B173}" dt="2026-03-30T13:25:00.701" v="1432" actId="5793"/>
        <pc:sldMkLst>
          <pc:docMk/>
          <pc:sldMk cId="2580371189" sldId="2147482193"/>
        </pc:sldMkLst>
        <pc:spChg chg="mod">
          <ac:chgData name="Viviane Agathe Julie Renee Azais" userId="1cff2977-920c-456e-a05f-a85ab250a255" providerId="ADAL" clId="{5C045B96-6018-4C99-B12F-1135D607B173}" dt="2026-03-30T13:25:00.701" v="1432" actId="5793"/>
          <ac:spMkLst>
            <pc:docMk/>
            <pc:sldMk cId="2580371189" sldId="2147482193"/>
            <ac:spMk id="7" creationId="{B5459262-12B4-A6CB-D065-335E4CF76838}"/>
          </ac:spMkLst>
        </pc:spChg>
      </pc:sldChg>
      <pc:sldChg chg="addSp delSp modSp mod">
        <pc:chgData name="Viviane Agathe Julie Renee Azais" userId="1cff2977-920c-456e-a05f-a85ab250a255" providerId="ADAL" clId="{5C045B96-6018-4C99-B12F-1135D607B173}" dt="2026-03-30T13:27:28.707" v="1435" actId="167"/>
        <pc:sldMkLst>
          <pc:docMk/>
          <pc:sldMk cId="539324333" sldId="2147482194"/>
        </pc:sldMkLst>
        <pc:spChg chg="mod">
          <ac:chgData name="Viviane Agathe Julie Renee Azais" userId="1cff2977-920c-456e-a05f-a85ab250a255" providerId="ADAL" clId="{5C045B96-6018-4C99-B12F-1135D607B173}" dt="2026-03-30T12:48:21.825" v="1400" actId="113"/>
          <ac:spMkLst>
            <pc:docMk/>
            <pc:sldMk cId="539324333" sldId="2147482194"/>
            <ac:spMk id="8" creationId="{F7FB4FA6-5724-4F04-43CD-1EDDA843A5BC}"/>
          </ac:spMkLst>
        </pc:spChg>
        <pc:picChg chg="add del ord">
          <ac:chgData name="Viviane Agathe Julie Renee Azais" userId="1cff2977-920c-456e-a05f-a85ab250a255" providerId="ADAL" clId="{5C045B96-6018-4C99-B12F-1135D607B173}" dt="2026-03-30T13:27:21.493" v="1433" actId="478"/>
          <ac:picMkLst>
            <pc:docMk/>
            <pc:sldMk cId="539324333" sldId="2147482194"/>
            <ac:picMk id="3" creationId="{C34247DB-0642-D0DB-D14F-05881004B97A}"/>
          </ac:picMkLst>
        </pc:picChg>
        <pc:picChg chg="del">
          <ac:chgData name="Viviane Agathe Julie Renee Azais" userId="1cff2977-920c-456e-a05f-a85ab250a255" providerId="ADAL" clId="{5C045B96-6018-4C99-B12F-1135D607B173}" dt="2026-03-30T12:26:22.329" v="1197" actId="478"/>
          <ac:picMkLst>
            <pc:docMk/>
            <pc:sldMk cId="539324333" sldId="2147482194"/>
            <ac:picMk id="5" creationId="{61133144-CA77-CCA7-F2D2-013A26B07404}"/>
          </ac:picMkLst>
        </pc:picChg>
        <pc:picChg chg="add ord">
          <ac:chgData name="Viviane Agathe Julie Renee Azais" userId="1cff2977-920c-456e-a05f-a85ab250a255" providerId="ADAL" clId="{5C045B96-6018-4C99-B12F-1135D607B173}" dt="2026-03-30T13:27:28.707" v="1435" actId="167"/>
          <ac:picMkLst>
            <pc:docMk/>
            <pc:sldMk cId="539324333" sldId="2147482194"/>
            <ac:picMk id="7" creationId="{4B0DAAD5-C42E-A169-20D4-13EBE2F92CE7}"/>
          </ac:picMkLst>
        </pc:picChg>
      </pc:sldChg>
      <pc:sldChg chg="addSp delSp modSp mod">
        <pc:chgData name="Viviane Agathe Julie Renee Azais" userId="1cff2977-920c-456e-a05f-a85ab250a255" providerId="ADAL" clId="{5C045B96-6018-4C99-B12F-1135D607B173}" dt="2026-03-30T14:46:42.311" v="1732" actId="20577"/>
        <pc:sldMkLst>
          <pc:docMk/>
          <pc:sldMk cId="981902431" sldId="2147482198"/>
        </pc:sldMkLst>
        <pc:spChg chg="mod">
          <ac:chgData name="Viviane Agathe Julie Renee Azais" userId="1cff2977-920c-456e-a05f-a85ab250a255" providerId="ADAL" clId="{5C045B96-6018-4C99-B12F-1135D607B173}" dt="2026-03-30T14:46:42.311" v="1732" actId="20577"/>
          <ac:spMkLst>
            <pc:docMk/>
            <pc:sldMk cId="981902431" sldId="2147482198"/>
            <ac:spMk id="7" creationId="{A6CA9EE5-8C57-33B6-7738-5F4338F07C6A}"/>
          </ac:spMkLst>
        </pc:spChg>
        <pc:picChg chg="add ord">
          <ac:chgData name="Viviane Agathe Julie Renee Azais" userId="1cff2977-920c-456e-a05f-a85ab250a255" providerId="ADAL" clId="{5C045B96-6018-4C99-B12F-1135D607B173}" dt="2026-03-30T14:20:19.805" v="1710" actId="167"/>
          <ac:picMkLst>
            <pc:docMk/>
            <pc:sldMk cId="981902431" sldId="2147482198"/>
            <ac:picMk id="3" creationId="{A126D47A-C1A4-FBAA-F4EA-397BDA56F0F5}"/>
          </ac:picMkLst>
        </pc:picChg>
        <pc:picChg chg="del">
          <ac:chgData name="Viviane Agathe Julie Renee Azais" userId="1cff2977-920c-456e-a05f-a85ab250a255" providerId="ADAL" clId="{5C045B96-6018-4C99-B12F-1135D607B173}" dt="2026-03-30T14:20:17.851" v="1708" actId="478"/>
          <ac:picMkLst>
            <pc:docMk/>
            <pc:sldMk cId="981902431" sldId="2147482198"/>
            <ac:picMk id="5" creationId="{577EF4F0-C3BF-A5DA-146A-9D0DD3D411BE}"/>
          </ac:picMkLst>
        </pc:picChg>
      </pc:sldChg>
      <pc:sldChg chg="modSp mod">
        <pc:chgData name="Viviane Agathe Julie Renee Azais" userId="1cff2977-920c-456e-a05f-a85ab250a255" providerId="ADAL" clId="{5C045B96-6018-4C99-B12F-1135D607B173}" dt="2026-03-30T11:27:57.971" v="846" actId="20577"/>
        <pc:sldMkLst>
          <pc:docMk/>
          <pc:sldMk cId="1952071696" sldId="2147482199"/>
        </pc:sldMkLst>
        <pc:spChg chg="mod">
          <ac:chgData name="Viviane Agathe Julie Renee Azais" userId="1cff2977-920c-456e-a05f-a85ab250a255" providerId="ADAL" clId="{5C045B96-6018-4C99-B12F-1135D607B173}" dt="2026-03-30T11:26:28.555" v="715" actId="20577"/>
          <ac:spMkLst>
            <pc:docMk/>
            <pc:sldMk cId="1952071696" sldId="2147482199"/>
            <ac:spMk id="7" creationId="{C3DC552E-B951-2135-2AD4-4FEE8872C8D0}"/>
          </ac:spMkLst>
        </pc:spChg>
        <pc:spChg chg="mod">
          <ac:chgData name="Viviane Agathe Julie Renee Azais" userId="1cff2977-920c-456e-a05f-a85ab250a255" providerId="ADAL" clId="{5C045B96-6018-4C99-B12F-1135D607B173}" dt="2026-03-30T11:27:57.971" v="846" actId="20577"/>
          <ac:spMkLst>
            <pc:docMk/>
            <pc:sldMk cId="1952071696" sldId="2147482199"/>
            <ac:spMk id="8" creationId="{8379E869-9D39-BA62-16BF-248A5D8948AE}"/>
          </ac:spMkLst>
        </pc:spChg>
      </pc:sldChg>
      <pc:sldChg chg="addSp delSp modSp mod">
        <pc:chgData name="Viviane Agathe Julie Renee Azais" userId="1cff2977-920c-456e-a05f-a85ab250a255" providerId="ADAL" clId="{5C045B96-6018-4C99-B12F-1135D607B173}" dt="2026-03-30T11:32:19.892" v="925" actId="20577"/>
        <pc:sldMkLst>
          <pc:docMk/>
          <pc:sldMk cId="3299357157" sldId="2147482202"/>
        </pc:sldMkLst>
        <pc:spChg chg="mod">
          <ac:chgData name="Viviane Agathe Julie Renee Azais" userId="1cff2977-920c-456e-a05f-a85ab250a255" providerId="ADAL" clId="{5C045B96-6018-4C99-B12F-1135D607B173}" dt="2026-03-30T11:32:19.892" v="925" actId="20577"/>
          <ac:spMkLst>
            <pc:docMk/>
            <pc:sldMk cId="3299357157" sldId="2147482202"/>
            <ac:spMk id="11" creationId="{34E79454-5302-19EA-B149-9F8B1D422DDC}"/>
          </ac:spMkLst>
        </pc:spChg>
        <pc:picChg chg="add del ord">
          <ac:chgData name="Viviane Agathe Julie Renee Azais" userId="1cff2977-920c-456e-a05f-a85ab250a255" providerId="ADAL" clId="{5C045B96-6018-4C99-B12F-1135D607B173}" dt="2026-03-30T11:30:25.036" v="851" actId="22"/>
          <ac:picMkLst>
            <pc:docMk/>
            <pc:sldMk cId="3299357157" sldId="2147482202"/>
            <ac:picMk id="3" creationId="{4B4CC8F4-763C-4916-86E5-B92F7DC2C0D6}"/>
          </ac:picMkLst>
        </pc:picChg>
        <pc:picChg chg="add ord">
          <ac:chgData name="Viviane Agathe Julie Renee Azais" userId="1cff2977-920c-456e-a05f-a85ab250a255" providerId="ADAL" clId="{5C045B96-6018-4C99-B12F-1135D607B173}" dt="2026-03-30T11:31:16.864" v="853" actId="167"/>
          <ac:picMkLst>
            <pc:docMk/>
            <pc:sldMk cId="3299357157" sldId="2147482202"/>
            <ac:picMk id="5" creationId="{AA498C3B-A9AD-DA07-9511-EBAA9FF154F3}"/>
          </ac:picMkLst>
        </pc:picChg>
        <pc:picChg chg="del">
          <ac:chgData name="Viviane Agathe Julie Renee Azais" userId="1cff2977-920c-456e-a05f-a85ab250a255" providerId="ADAL" clId="{5C045B96-6018-4C99-B12F-1135D607B173}" dt="2026-03-30T11:30:20.834" v="847" actId="478"/>
          <ac:picMkLst>
            <pc:docMk/>
            <pc:sldMk cId="3299357157" sldId="2147482202"/>
            <ac:picMk id="9" creationId="{3DCAFFF4-59DB-F03A-077F-36E9DB4247E4}"/>
          </ac:picMkLst>
        </pc:picChg>
      </pc:sldChg>
      <pc:sldChg chg="del">
        <pc:chgData name="Viviane Agathe Julie Renee Azais" userId="1cff2977-920c-456e-a05f-a85ab250a255" providerId="ADAL" clId="{5C045B96-6018-4C99-B12F-1135D607B173}" dt="2026-03-30T11:19:38.467" v="112" actId="47"/>
        <pc:sldMkLst>
          <pc:docMk/>
          <pc:sldMk cId="3088417744" sldId="2147482204"/>
        </pc:sldMkLst>
      </pc:sldChg>
      <pc:sldChg chg="del">
        <pc:chgData name="Viviane Agathe Julie Renee Azais" userId="1cff2977-920c-456e-a05f-a85ab250a255" providerId="ADAL" clId="{5C045B96-6018-4C99-B12F-1135D607B173}" dt="2026-03-30T12:22:46.887" v="1192" actId="47"/>
        <pc:sldMkLst>
          <pc:docMk/>
          <pc:sldMk cId="3841452459" sldId="2147482205"/>
        </pc:sldMkLst>
      </pc:sldChg>
      <pc:sldChg chg="add del">
        <pc:chgData name="Viviane Agathe Julie Renee Azais" userId="1cff2977-920c-456e-a05f-a85ab250a255" providerId="ADAL" clId="{5C045B96-6018-4C99-B12F-1135D607B173}" dt="2026-03-30T15:10:05.256" v="2067" actId="2696"/>
        <pc:sldMkLst>
          <pc:docMk/>
          <pc:sldMk cId="2183590504" sldId="2147482207"/>
        </pc:sldMkLst>
      </pc:sldChg>
      <pc:sldChg chg="add">
        <pc:chgData name="Viviane Agathe Julie Renee Azais" userId="1cff2977-920c-456e-a05f-a85ab250a255" providerId="ADAL" clId="{5C045B96-6018-4C99-B12F-1135D607B173}" dt="2026-03-30T15:10:09.455" v="2068"/>
        <pc:sldMkLst>
          <pc:docMk/>
          <pc:sldMk cId="3628785134" sldId="2147482207"/>
        </pc:sldMkLst>
      </pc:sldChg>
      <pc:sldChg chg="modSp del mod">
        <pc:chgData name="Viviane Agathe Julie Renee Azais" userId="1cff2977-920c-456e-a05f-a85ab250a255" providerId="ADAL" clId="{5C045B96-6018-4C99-B12F-1135D607B173}" dt="2026-03-30T14:18:52.686" v="1707" actId="2696"/>
        <pc:sldMkLst>
          <pc:docMk/>
          <pc:sldMk cId="1874525083" sldId="2147482208"/>
        </pc:sldMkLst>
        <pc:spChg chg="mod">
          <ac:chgData name="Viviane Agathe Julie Renee Azais" userId="1cff2977-920c-456e-a05f-a85ab250a255" providerId="ADAL" clId="{5C045B96-6018-4C99-B12F-1135D607B173}" dt="2026-03-30T14:00:12.067" v="1706" actId="27636"/>
          <ac:spMkLst>
            <pc:docMk/>
            <pc:sldMk cId="1874525083" sldId="2147482208"/>
            <ac:spMk id="15" creationId="{9731515C-FFA7-05C5-78C7-AFCC691C753A}"/>
          </ac:spMkLst>
        </pc:spChg>
      </pc:sldChg>
      <pc:sldChg chg="addSp delSp modSp new mod">
        <pc:chgData name="Viviane Agathe Julie Renee Azais" userId="1cff2977-920c-456e-a05f-a85ab250a255" providerId="ADAL" clId="{5C045B96-6018-4C99-B12F-1135D607B173}" dt="2026-03-30T13:10:19.021" v="1420" actId="20577"/>
        <pc:sldMkLst>
          <pc:docMk/>
          <pc:sldMk cId="32469550" sldId="2147482209"/>
        </pc:sldMkLst>
        <pc:spChg chg="del">
          <ac:chgData name="Viviane Agathe Julie Renee Azais" userId="1cff2977-920c-456e-a05f-a85ab250a255" providerId="ADAL" clId="{5C045B96-6018-4C99-B12F-1135D607B173}" dt="2026-03-30T12:15:47.088" v="928" actId="478"/>
          <ac:spMkLst>
            <pc:docMk/>
            <pc:sldMk cId="32469550" sldId="2147482209"/>
            <ac:spMk id="2" creationId="{6FAD9F14-FB1D-6416-8E7D-8BF4DD4818E8}"/>
          </ac:spMkLst>
        </pc:spChg>
        <pc:spChg chg="del">
          <ac:chgData name="Viviane Agathe Julie Renee Azais" userId="1cff2977-920c-456e-a05f-a85ab250a255" providerId="ADAL" clId="{5C045B96-6018-4C99-B12F-1135D607B173}" dt="2026-03-30T12:15:47.088" v="928" actId="478"/>
          <ac:spMkLst>
            <pc:docMk/>
            <pc:sldMk cId="32469550" sldId="2147482209"/>
            <ac:spMk id="3" creationId="{DCD5120A-5F82-E341-6EE2-1C6E490CEFF4}"/>
          </ac:spMkLst>
        </pc:spChg>
        <pc:spChg chg="add mod">
          <ac:chgData name="Viviane Agathe Julie Renee Azais" userId="1cff2977-920c-456e-a05f-a85ab250a255" providerId="ADAL" clId="{5C045B96-6018-4C99-B12F-1135D607B173}" dt="2026-03-30T12:31:29.196" v="1226" actId="207"/>
          <ac:spMkLst>
            <pc:docMk/>
            <pc:sldMk cId="32469550" sldId="2147482209"/>
            <ac:spMk id="5" creationId="{50D39D1F-E79A-AA37-F48C-4A81ED228B76}"/>
          </ac:spMkLst>
        </pc:spChg>
        <pc:spChg chg="add mod">
          <ac:chgData name="Viviane Agathe Julie Renee Azais" userId="1cff2977-920c-456e-a05f-a85ab250a255" providerId="ADAL" clId="{5C045B96-6018-4C99-B12F-1135D607B173}" dt="2026-03-30T12:23:31.255" v="1196"/>
          <ac:spMkLst>
            <pc:docMk/>
            <pc:sldMk cId="32469550" sldId="2147482209"/>
            <ac:spMk id="6" creationId="{2C2E226C-BDE1-11AA-5E39-124C9D13E352}"/>
          </ac:spMkLst>
        </pc:spChg>
        <pc:graphicFrameChg chg="add mod modGraphic">
          <ac:chgData name="Viviane Agathe Julie Renee Azais" userId="1cff2977-920c-456e-a05f-a85ab250a255" providerId="ADAL" clId="{5C045B96-6018-4C99-B12F-1135D607B173}" dt="2026-03-30T13:10:19.021" v="1420" actId="20577"/>
          <ac:graphicFrameMkLst>
            <pc:docMk/>
            <pc:sldMk cId="32469550" sldId="2147482209"/>
            <ac:graphicFrameMk id="4" creationId="{58EB1C09-C190-D60D-8C77-1B6EEF893435}"/>
          </ac:graphicFrameMkLst>
        </pc:graphicFrameChg>
      </pc:sldChg>
      <pc:sldChg chg="addSp delSp modSp new mod">
        <pc:chgData name="Viviane Agathe Julie Renee Azais" userId="1cff2977-920c-456e-a05f-a85ab250a255" providerId="ADAL" clId="{5C045B96-6018-4C99-B12F-1135D607B173}" dt="2026-03-30T17:19:50.455" v="2084" actId="167"/>
        <pc:sldMkLst>
          <pc:docMk/>
          <pc:sldMk cId="1114145220" sldId="2147482210"/>
        </pc:sldMkLst>
        <pc:spChg chg="del">
          <ac:chgData name="Viviane Agathe Julie Renee Azais" userId="1cff2977-920c-456e-a05f-a85ab250a255" providerId="ADAL" clId="{5C045B96-6018-4C99-B12F-1135D607B173}" dt="2026-03-30T13:24:37.978" v="1422" actId="478"/>
          <ac:spMkLst>
            <pc:docMk/>
            <pc:sldMk cId="1114145220" sldId="2147482210"/>
            <ac:spMk id="2" creationId="{2C4E5E49-C509-E640-6ED2-3FA67FE56C40}"/>
          </ac:spMkLst>
        </pc:spChg>
        <pc:spChg chg="del">
          <ac:chgData name="Viviane Agathe Julie Renee Azais" userId="1cff2977-920c-456e-a05f-a85ab250a255" providerId="ADAL" clId="{5C045B96-6018-4C99-B12F-1135D607B173}" dt="2026-03-30T13:24:37.978" v="1422" actId="478"/>
          <ac:spMkLst>
            <pc:docMk/>
            <pc:sldMk cId="1114145220" sldId="2147482210"/>
            <ac:spMk id="3" creationId="{9A9B832C-EBAE-5D6A-7974-DB16AC895C13}"/>
          </ac:spMkLst>
        </pc:spChg>
        <pc:spChg chg="add mod">
          <ac:chgData name="Viviane Agathe Julie Renee Azais" userId="1cff2977-920c-456e-a05f-a85ab250a255" providerId="ADAL" clId="{5C045B96-6018-4C99-B12F-1135D607B173}" dt="2026-03-30T13:24:44.003" v="1424"/>
          <ac:spMkLst>
            <pc:docMk/>
            <pc:sldMk cId="1114145220" sldId="2147482210"/>
            <ac:spMk id="6" creationId="{86154620-69F4-E554-82D2-140B55378F32}"/>
          </ac:spMkLst>
        </pc:spChg>
        <pc:spChg chg="add mod">
          <ac:chgData name="Viviane Agathe Julie Renee Azais" userId="1cff2977-920c-456e-a05f-a85ab250a255" providerId="ADAL" clId="{5C045B96-6018-4C99-B12F-1135D607B173}" dt="2026-03-30T13:30:42.852" v="1640" actId="113"/>
          <ac:spMkLst>
            <pc:docMk/>
            <pc:sldMk cId="1114145220" sldId="2147482210"/>
            <ac:spMk id="7" creationId="{FB1CF726-F330-D014-4442-76FE795E7B50}"/>
          </ac:spMkLst>
        </pc:spChg>
        <pc:picChg chg="add ord">
          <ac:chgData name="Viviane Agathe Julie Renee Azais" userId="1cff2977-920c-456e-a05f-a85ab250a255" providerId="ADAL" clId="{5C045B96-6018-4C99-B12F-1135D607B173}" dt="2026-03-30T17:19:50.455" v="2084" actId="167"/>
          <ac:picMkLst>
            <pc:docMk/>
            <pc:sldMk cId="1114145220" sldId="2147482210"/>
            <ac:picMk id="3" creationId="{728BAEB4-957F-410C-F1F1-1324A03C29FA}"/>
          </ac:picMkLst>
        </pc:picChg>
        <pc:picChg chg="add del">
          <ac:chgData name="Viviane Agathe Julie Renee Azais" userId="1cff2977-920c-456e-a05f-a85ab250a255" providerId="ADAL" clId="{5C045B96-6018-4C99-B12F-1135D607B173}" dt="2026-03-30T13:29:58.527" v="1439" actId="478"/>
          <ac:picMkLst>
            <pc:docMk/>
            <pc:sldMk cId="1114145220" sldId="2147482210"/>
            <ac:picMk id="5" creationId="{0384DEE9-5A88-6CF3-153B-D24F1ABB18C6}"/>
          </ac:picMkLst>
        </pc:picChg>
        <pc:picChg chg="add del ord">
          <ac:chgData name="Viviane Agathe Julie Renee Azais" userId="1cff2977-920c-456e-a05f-a85ab250a255" providerId="ADAL" clId="{5C045B96-6018-4C99-B12F-1135D607B173}" dt="2026-03-30T17:19:48.359" v="2082" actId="478"/>
          <ac:picMkLst>
            <pc:docMk/>
            <pc:sldMk cId="1114145220" sldId="2147482210"/>
            <ac:picMk id="9" creationId="{3AA9B772-4A43-CFA2-6D20-68EEB241212E}"/>
          </ac:picMkLst>
        </pc:picChg>
      </pc:sldChg>
      <pc:sldChg chg="modSp add mod">
        <pc:chgData name="Viviane Agathe Julie Renee Azais" userId="1cff2977-920c-456e-a05f-a85ab250a255" providerId="ADAL" clId="{5C045B96-6018-4C99-B12F-1135D607B173}" dt="2026-03-30T15:59:15.264" v="2073" actId="113"/>
        <pc:sldMkLst>
          <pc:docMk/>
          <pc:sldMk cId="1661227020" sldId="2147482211"/>
        </pc:sldMkLst>
        <pc:spChg chg="mod">
          <ac:chgData name="Viviane Agathe Julie Renee Azais" userId="1cff2977-920c-456e-a05f-a85ab250a255" providerId="ADAL" clId="{5C045B96-6018-4C99-B12F-1135D607B173}" dt="2026-03-30T15:59:15.264" v="2073" actId="113"/>
          <ac:spMkLst>
            <pc:docMk/>
            <pc:sldMk cId="1661227020" sldId="2147482211"/>
            <ac:spMk id="15" creationId="{9731515C-FFA7-05C5-78C7-AFCC691C753A}"/>
          </ac:spMkLst>
        </pc:spChg>
      </pc:sldChg>
      <pc:sldChg chg="new del">
        <pc:chgData name="Viviane Agathe Julie Renee Azais" userId="1cff2977-920c-456e-a05f-a85ab250a255" providerId="ADAL" clId="{5C045B96-6018-4C99-B12F-1135D607B173}" dt="2026-03-30T16:24:08.818" v="2078" actId="680"/>
        <pc:sldMkLst>
          <pc:docMk/>
          <pc:sldMk cId="774977895" sldId="2147482212"/>
        </pc:sldMkLst>
      </pc:sldChg>
      <pc:sldChg chg="addSp delSp new mod">
        <pc:chgData name="Viviane Agathe Julie Renee Azais" userId="1cff2977-920c-456e-a05f-a85ab250a255" providerId="ADAL" clId="{5C045B96-6018-4C99-B12F-1135D607B173}" dt="2026-03-30T17:56:56.300" v="2100" actId="22"/>
        <pc:sldMkLst>
          <pc:docMk/>
          <pc:sldMk cId="4164118679" sldId="2147482212"/>
        </pc:sldMkLst>
        <pc:spChg chg="del">
          <ac:chgData name="Viviane Agathe Julie Renee Azais" userId="1cff2977-920c-456e-a05f-a85ab250a255" providerId="ADAL" clId="{5C045B96-6018-4C99-B12F-1135D607B173}" dt="2026-03-30T17:56:55.961" v="2099" actId="478"/>
          <ac:spMkLst>
            <pc:docMk/>
            <pc:sldMk cId="4164118679" sldId="2147482212"/>
            <ac:spMk id="2" creationId="{1E31166B-1770-5489-1A35-CD489260AFED}"/>
          </ac:spMkLst>
        </pc:spChg>
        <pc:spChg chg="del">
          <ac:chgData name="Viviane Agathe Julie Renee Azais" userId="1cff2977-920c-456e-a05f-a85ab250a255" providerId="ADAL" clId="{5C045B96-6018-4C99-B12F-1135D607B173}" dt="2026-03-30T17:56:55.961" v="2099" actId="478"/>
          <ac:spMkLst>
            <pc:docMk/>
            <pc:sldMk cId="4164118679" sldId="2147482212"/>
            <ac:spMk id="3" creationId="{A83D2600-FB67-BFC7-F850-75554FCA634A}"/>
          </ac:spMkLst>
        </pc:spChg>
        <pc:picChg chg="add">
          <ac:chgData name="Viviane Agathe Julie Renee Azais" userId="1cff2977-920c-456e-a05f-a85ab250a255" providerId="ADAL" clId="{5C045B96-6018-4C99-B12F-1135D607B173}" dt="2026-03-30T17:56:56.300" v="2100" actId="22"/>
          <ac:picMkLst>
            <pc:docMk/>
            <pc:sldMk cId="4164118679" sldId="2147482212"/>
            <ac:picMk id="5" creationId="{BEE62B54-5D0E-E7BC-EE2E-344B1BCFE2C7}"/>
          </ac:picMkLst>
        </pc:picChg>
      </pc:sldChg>
      <pc:sldChg chg="addSp delSp new mod">
        <pc:chgData name="Viviane Agathe Julie Renee Azais" userId="1cff2977-920c-456e-a05f-a85ab250a255" providerId="ADAL" clId="{5C045B96-6018-4C99-B12F-1135D607B173}" dt="2026-03-30T17:57:05.170" v="2102" actId="22"/>
        <pc:sldMkLst>
          <pc:docMk/>
          <pc:sldMk cId="940747786" sldId="2147482213"/>
        </pc:sldMkLst>
        <pc:spChg chg="del">
          <ac:chgData name="Viviane Agathe Julie Renee Azais" userId="1cff2977-920c-456e-a05f-a85ab250a255" providerId="ADAL" clId="{5C045B96-6018-4C99-B12F-1135D607B173}" dt="2026-03-30T17:57:04.783" v="2101" actId="478"/>
          <ac:spMkLst>
            <pc:docMk/>
            <pc:sldMk cId="940747786" sldId="2147482213"/>
            <ac:spMk id="2" creationId="{0CC8E8FF-353C-F05B-A0C7-385379F31CBF}"/>
          </ac:spMkLst>
        </pc:spChg>
        <pc:spChg chg="del">
          <ac:chgData name="Viviane Agathe Julie Renee Azais" userId="1cff2977-920c-456e-a05f-a85ab250a255" providerId="ADAL" clId="{5C045B96-6018-4C99-B12F-1135D607B173}" dt="2026-03-30T17:57:04.783" v="2101" actId="478"/>
          <ac:spMkLst>
            <pc:docMk/>
            <pc:sldMk cId="940747786" sldId="2147482213"/>
            <ac:spMk id="3" creationId="{87CB2CCC-817F-49C6-3062-C96A3D5731BB}"/>
          </ac:spMkLst>
        </pc:spChg>
        <pc:picChg chg="add">
          <ac:chgData name="Viviane Agathe Julie Renee Azais" userId="1cff2977-920c-456e-a05f-a85ab250a255" providerId="ADAL" clId="{5C045B96-6018-4C99-B12F-1135D607B173}" dt="2026-03-30T17:57:05.170" v="2102" actId="22"/>
          <ac:picMkLst>
            <pc:docMk/>
            <pc:sldMk cId="940747786" sldId="2147482213"/>
            <ac:picMk id="5" creationId="{65005000-CE3B-CD10-1C94-C48DD4F47EFA}"/>
          </ac:picMkLst>
        </pc:picChg>
      </pc:sldChg>
      <pc:sldChg chg="addSp delSp new mod">
        <pc:chgData name="Viviane Agathe Julie Renee Azais" userId="1cff2977-920c-456e-a05f-a85ab250a255" providerId="ADAL" clId="{5C045B96-6018-4C99-B12F-1135D607B173}" dt="2026-03-30T17:57:12.366" v="2104" actId="22"/>
        <pc:sldMkLst>
          <pc:docMk/>
          <pc:sldMk cId="3186400174" sldId="2147482214"/>
        </pc:sldMkLst>
        <pc:spChg chg="del">
          <ac:chgData name="Viviane Agathe Julie Renee Azais" userId="1cff2977-920c-456e-a05f-a85ab250a255" providerId="ADAL" clId="{5C045B96-6018-4C99-B12F-1135D607B173}" dt="2026-03-30T17:57:12.011" v="2103" actId="478"/>
          <ac:spMkLst>
            <pc:docMk/>
            <pc:sldMk cId="3186400174" sldId="2147482214"/>
            <ac:spMk id="2" creationId="{24F2AFF2-97DB-E375-26F9-1D0382A88A76}"/>
          </ac:spMkLst>
        </pc:spChg>
        <pc:spChg chg="del">
          <ac:chgData name="Viviane Agathe Julie Renee Azais" userId="1cff2977-920c-456e-a05f-a85ab250a255" providerId="ADAL" clId="{5C045B96-6018-4C99-B12F-1135D607B173}" dt="2026-03-30T17:57:12.011" v="2103" actId="478"/>
          <ac:spMkLst>
            <pc:docMk/>
            <pc:sldMk cId="3186400174" sldId="2147482214"/>
            <ac:spMk id="3" creationId="{8354F40B-A52C-6BBC-4CA8-E5135DD67509}"/>
          </ac:spMkLst>
        </pc:spChg>
        <pc:picChg chg="add">
          <ac:chgData name="Viviane Agathe Julie Renee Azais" userId="1cff2977-920c-456e-a05f-a85ab250a255" providerId="ADAL" clId="{5C045B96-6018-4C99-B12F-1135D607B173}" dt="2026-03-30T17:57:12.366" v="2104" actId="22"/>
          <ac:picMkLst>
            <pc:docMk/>
            <pc:sldMk cId="3186400174" sldId="2147482214"/>
            <ac:picMk id="5" creationId="{5384725E-EF98-009C-D5F7-ECADC7C88F53}"/>
          </ac:picMkLst>
        </pc:picChg>
      </pc:sldChg>
      <pc:sldChg chg="addSp delSp new mod">
        <pc:chgData name="Viviane Agathe Julie Renee Azais" userId="1cff2977-920c-456e-a05f-a85ab250a255" providerId="ADAL" clId="{5C045B96-6018-4C99-B12F-1135D607B173}" dt="2026-03-30T17:57:20.608" v="2106" actId="22"/>
        <pc:sldMkLst>
          <pc:docMk/>
          <pc:sldMk cId="3204360354" sldId="2147482215"/>
        </pc:sldMkLst>
        <pc:spChg chg="del">
          <ac:chgData name="Viviane Agathe Julie Renee Azais" userId="1cff2977-920c-456e-a05f-a85ab250a255" providerId="ADAL" clId="{5C045B96-6018-4C99-B12F-1135D607B173}" dt="2026-03-30T17:57:20.255" v="2105" actId="478"/>
          <ac:spMkLst>
            <pc:docMk/>
            <pc:sldMk cId="3204360354" sldId="2147482215"/>
            <ac:spMk id="2" creationId="{701E77EC-328F-DC4F-C0B2-A59B09D1C87E}"/>
          </ac:spMkLst>
        </pc:spChg>
        <pc:spChg chg="del">
          <ac:chgData name="Viviane Agathe Julie Renee Azais" userId="1cff2977-920c-456e-a05f-a85ab250a255" providerId="ADAL" clId="{5C045B96-6018-4C99-B12F-1135D607B173}" dt="2026-03-30T17:57:20.255" v="2105" actId="478"/>
          <ac:spMkLst>
            <pc:docMk/>
            <pc:sldMk cId="3204360354" sldId="2147482215"/>
            <ac:spMk id="3" creationId="{DE9E7BC6-684B-E6CA-40D5-BF90E804AE7A}"/>
          </ac:spMkLst>
        </pc:spChg>
        <pc:picChg chg="add">
          <ac:chgData name="Viviane Agathe Julie Renee Azais" userId="1cff2977-920c-456e-a05f-a85ab250a255" providerId="ADAL" clId="{5C045B96-6018-4C99-B12F-1135D607B173}" dt="2026-03-30T17:57:20.608" v="2106" actId="22"/>
          <ac:picMkLst>
            <pc:docMk/>
            <pc:sldMk cId="3204360354" sldId="2147482215"/>
            <ac:picMk id="5" creationId="{44289FB3-8717-C206-54D3-CE84B6D7FC29}"/>
          </ac:picMkLst>
        </pc:picChg>
      </pc:sldChg>
      <pc:sldChg chg="addSp delSp new mod">
        <pc:chgData name="Viviane Agathe Julie Renee Azais" userId="1cff2977-920c-456e-a05f-a85ab250a255" providerId="ADAL" clId="{5C045B96-6018-4C99-B12F-1135D607B173}" dt="2026-03-30T17:57:37.306" v="2111" actId="22"/>
        <pc:sldMkLst>
          <pc:docMk/>
          <pc:sldMk cId="3998221872" sldId="2147482216"/>
        </pc:sldMkLst>
        <pc:spChg chg="del">
          <ac:chgData name="Viviane Agathe Julie Renee Azais" userId="1cff2977-920c-456e-a05f-a85ab250a255" providerId="ADAL" clId="{5C045B96-6018-4C99-B12F-1135D607B173}" dt="2026-03-30T17:57:31.227" v="2110" actId="478"/>
          <ac:spMkLst>
            <pc:docMk/>
            <pc:sldMk cId="3998221872" sldId="2147482216"/>
            <ac:spMk id="2" creationId="{7D4492B5-8B18-1A62-382B-52D526AB095C}"/>
          </ac:spMkLst>
        </pc:spChg>
        <pc:spChg chg="del">
          <ac:chgData name="Viviane Agathe Julie Renee Azais" userId="1cff2977-920c-456e-a05f-a85ab250a255" providerId="ADAL" clId="{5C045B96-6018-4C99-B12F-1135D607B173}" dt="2026-03-30T17:57:31.227" v="2110" actId="478"/>
          <ac:spMkLst>
            <pc:docMk/>
            <pc:sldMk cId="3998221872" sldId="2147482216"/>
            <ac:spMk id="3" creationId="{300F0343-45F8-0E19-0AF0-649FBD1E01E8}"/>
          </ac:spMkLst>
        </pc:spChg>
        <pc:picChg chg="add">
          <ac:chgData name="Viviane Agathe Julie Renee Azais" userId="1cff2977-920c-456e-a05f-a85ab250a255" providerId="ADAL" clId="{5C045B96-6018-4C99-B12F-1135D607B173}" dt="2026-03-30T17:57:37.306" v="2111" actId="22"/>
          <ac:picMkLst>
            <pc:docMk/>
            <pc:sldMk cId="3998221872" sldId="2147482216"/>
            <ac:picMk id="5" creationId="{2049C5ED-22FE-60AB-7E20-5BC354B0C9F0}"/>
          </ac:picMkLst>
        </pc:picChg>
      </pc:sldChg>
      <pc:sldChg chg="addSp delSp new mod">
        <pc:chgData name="Viviane Agathe Julie Renee Azais" userId="1cff2977-920c-456e-a05f-a85ab250a255" providerId="ADAL" clId="{5C045B96-6018-4C99-B12F-1135D607B173}" dt="2026-03-30T17:57:45.823" v="2112" actId="22"/>
        <pc:sldMkLst>
          <pc:docMk/>
          <pc:sldMk cId="57599684" sldId="2147482217"/>
        </pc:sldMkLst>
        <pc:spChg chg="del">
          <ac:chgData name="Viviane Agathe Julie Renee Azais" userId="1cff2977-920c-456e-a05f-a85ab250a255" providerId="ADAL" clId="{5C045B96-6018-4C99-B12F-1135D607B173}" dt="2026-03-30T17:57:28.118" v="2109" actId="478"/>
          <ac:spMkLst>
            <pc:docMk/>
            <pc:sldMk cId="57599684" sldId="2147482217"/>
            <ac:spMk id="2" creationId="{C4772105-81B6-67C6-28EA-6C466EE2E161}"/>
          </ac:spMkLst>
        </pc:spChg>
        <pc:spChg chg="del">
          <ac:chgData name="Viviane Agathe Julie Renee Azais" userId="1cff2977-920c-456e-a05f-a85ab250a255" providerId="ADAL" clId="{5C045B96-6018-4C99-B12F-1135D607B173}" dt="2026-03-30T17:57:28.118" v="2109" actId="478"/>
          <ac:spMkLst>
            <pc:docMk/>
            <pc:sldMk cId="57599684" sldId="2147482217"/>
            <ac:spMk id="3" creationId="{A8C1F1FA-012C-C1AC-83FF-060444AF2E60}"/>
          </ac:spMkLst>
        </pc:spChg>
        <pc:picChg chg="add">
          <ac:chgData name="Viviane Agathe Julie Renee Azais" userId="1cff2977-920c-456e-a05f-a85ab250a255" providerId="ADAL" clId="{5C045B96-6018-4C99-B12F-1135D607B173}" dt="2026-03-30T17:57:45.823" v="2112" actId="22"/>
          <ac:picMkLst>
            <pc:docMk/>
            <pc:sldMk cId="57599684" sldId="2147482217"/>
            <ac:picMk id="5" creationId="{DD3CBC17-501D-FBF1-F3DB-E7F8863BE0F6}"/>
          </ac:picMkLst>
        </pc:picChg>
      </pc:sldChg>
      <pc:sldMasterChg chg="delSldLayout">
        <pc:chgData name="Viviane Agathe Julie Renee Azais" userId="1cff2977-920c-456e-a05f-a85ab250a255" providerId="ADAL" clId="{5C045B96-6018-4C99-B12F-1135D607B173}" dt="2026-03-30T11:36:21.073" v="926" actId="47"/>
        <pc:sldMasterMkLst>
          <pc:docMk/>
          <pc:sldMasterMk cId="1904852015" sldId="2147483648"/>
        </pc:sldMasterMkLst>
        <pc:sldLayoutChg chg="del">
          <pc:chgData name="Viviane Agathe Julie Renee Azais" userId="1cff2977-920c-456e-a05f-a85ab250a255" providerId="ADAL" clId="{5C045B96-6018-4C99-B12F-1135D607B173}" dt="2026-03-30T11:36:21.073" v="926" actId="47"/>
          <pc:sldLayoutMkLst>
            <pc:docMk/>
            <pc:sldMasterMk cId="1904852015" sldId="2147483648"/>
            <pc:sldLayoutMk cId="677713923" sldId="2147483661"/>
          </pc:sldLayoutMkLst>
        </pc:sldLayoutChg>
      </pc:sldMasterChg>
    </pc:docChg>
  </pc:docChgLst>
</pc:chgInfo>
</file>

<file path=ppt/comments/modernComment_7FFFFA57_745A4010.xml><?xml version="1.0" encoding="utf-8"?>
<p188:cmLst xmlns:a="http://schemas.openxmlformats.org/drawingml/2006/main" xmlns:r="http://schemas.openxmlformats.org/officeDocument/2006/relationships" xmlns:p188="http://schemas.microsoft.com/office/powerpoint/2018/8/main">
  <p188:cm id="{6108B4C1-6EFE-424A-B030-5F7709FE8383}" authorId="{CA55F219-7E48-3A24-CBB9-E857D871017B}" status="resolved" created="2026-03-29T11:58:07.932" complete="100000">
    <pc:sldMkLst xmlns:pc="http://schemas.microsoft.com/office/powerpoint/2013/main/command">
      <pc:docMk/>
      <pc:sldMk cId="1952071696" sldId="2147482199"/>
    </pc:sldMkLst>
    <p188:replyLst>
      <p188:reply id="{4E9C14CF-44E2-4530-B0F7-244364AFBEFC}" authorId="{2FD7A2B2-CBB8-D7F8-7933-9EE4280E1CBC}" created="2026-03-30T11:20:53.750">
        <p188:txBody>
          <a:bodyPr/>
          <a:lstStyle/>
          <a:p>
            <a:r>
              <a:rPr lang="en-US"/>
              <a:t>“Use or prescribe a less suitable medicine” means the provider gives an alternative drug that is not the recommended first-line treatment because the ideal medicine is out of stock - typically a second-choice option that may be less effective, have more side effects, or not fully align with clinical guidelines. They do this because the ideal (essential) medicine is out of stock, so they choose the best available option on hand - even if it’s not optimal.</a:t>
            </a:r>
          </a:p>
        </p188:txBody>
      </p188:reply>
    </p188:replyLst>
    <p188:txBody>
      <a:bodyPr/>
      <a:lstStyle/>
      <a:p>
        <a:r>
          <a:rPr lang="en-US"/>
          <a:t>What does the less suitable medicine mean , you need to be able to say what it means </a:t>
        </a:r>
      </a:p>
    </p188:txBody>
  </p188:cm>
</p188:cmLst>
</file>

<file path=ppt/comments/modernComment_7FFFFA58_DCEAF4B.xml><?xml version="1.0" encoding="utf-8"?>
<p188:cmLst xmlns:a="http://schemas.openxmlformats.org/drawingml/2006/main" xmlns:r="http://schemas.openxmlformats.org/officeDocument/2006/relationships" xmlns:p188="http://schemas.microsoft.com/office/powerpoint/2018/8/main">
  <p188:cm id="{6DE60EB7-C22E-4F68-A97C-FD6698E82EE1}" authorId="{CA55F219-7E48-3A24-CBB9-E857D871017B}" created="2026-03-29T12:03:00.642">
    <ac:txMkLst xmlns:ac="http://schemas.microsoft.com/office/drawing/2013/main/command">
      <pc:docMk xmlns:pc="http://schemas.microsoft.com/office/powerpoint/2013/main/command"/>
      <pc:sldMk xmlns:pc="http://schemas.microsoft.com/office/powerpoint/2013/main/command" cId="231649099" sldId="2147482200"/>
      <ac:spMk id="9" creationId="{088B2923-4CE4-F042-3B6F-8789D33C5B6D}"/>
      <ac:txMk cp="338" len="138">
        <ac:context len="641" hash="415595098"/>
      </ac:txMk>
    </ac:txMkLst>
    <p188:pos x="4206951" y="2212937"/>
    <p188:replyLst>
      <p188:reply id="{4C652252-8ED3-4E2D-A7B0-33F5FD4F762F}" authorId="{2FD7A2B2-CBB8-D7F8-7933-9EE4280E1CBC}" created="2026-03-30T11:34:49.343">
        <p188:txBody>
          <a:bodyPr/>
          <a:lstStyle/>
          <a:p>
            <a:r>
              <a:rPr lang="en-US"/>
              <a:t>We are referring to all facility levels included in the survey (district hospitals, CHC, CHP, and MCHP), as each reported providing supplies to CHWs. This cannot be limited to district hospitals alone, since only 7 were included, whereas the statement refers to all 281 facilities.</a:t>
            </a:r>
          </a:p>
        </p188:txBody>
      </p188:reply>
    </p188:replyLst>
    <p188:txBody>
      <a:bodyPr/>
      <a:lstStyle/>
      <a:p>
        <a:r>
          <a:rPr lang="en-US"/>
          <a:t>Which level are you referring to here only district or other level too, need to be explicit here ,as it is  medical supplies provided to CHW</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1FF79-FAC8-4934-AF74-BA32408D4135}"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E2CE3-C147-4563-83D4-7DA88276CF52}" type="slidenum">
              <a:rPr lang="en-US" smtClean="0"/>
              <a:t>‹#›</a:t>
            </a:fld>
            <a:endParaRPr lang="en-US"/>
          </a:p>
        </p:txBody>
      </p:sp>
    </p:spTree>
    <p:extLst>
      <p:ext uri="{BB962C8B-B14F-4D97-AF65-F5344CB8AC3E}">
        <p14:creationId xmlns:p14="http://schemas.microsoft.com/office/powerpoint/2010/main" val="563128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E2CE3-C147-4563-83D4-7DA88276CF52}" type="slidenum">
              <a:rPr lang="en-US" smtClean="0"/>
              <a:t>1</a:t>
            </a:fld>
            <a:endParaRPr lang="en-US"/>
          </a:p>
        </p:txBody>
      </p:sp>
    </p:spTree>
    <p:extLst>
      <p:ext uri="{BB962C8B-B14F-4D97-AF65-F5344CB8AC3E}">
        <p14:creationId xmlns:p14="http://schemas.microsoft.com/office/powerpoint/2010/main" val="1997709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B97C9-0E60-9E72-5422-14985DE0A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4DA8C-8803-C3DE-4AAA-CC7D8CA1D5B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FB355F-43EC-6E53-6BFD-A4ECCE7C76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32AE2D-68C2-185E-363F-1D7E17467D1D}"/>
              </a:ext>
            </a:extLst>
          </p:cNvPr>
          <p:cNvSpPr>
            <a:spLocks noGrp="1"/>
          </p:cNvSpPr>
          <p:nvPr>
            <p:ph type="sldNum" sz="quarter" idx="5"/>
          </p:nvPr>
        </p:nvSpPr>
        <p:spPr/>
        <p:txBody>
          <a:bodyPr/>
          <a:lstStyle/>
          <a:p>
            <a:fld id="{3C1FE83E-3696-41E8-8E87-70872FB95A62}" type="slidenum">
              <a:rPr lang="en-US" smtClean="0"/>
              <a:t>2</a:t>
            </a:fld>
            <a:endParaRPr lang="en-US"/>
          </a:p>
        </p:txBody>
      </p:sp>
    </p:spTree>
    <p:extLst>
      <p:ext uri="{BB962C8B-B14F-4D97-AF65-F5344CB8AC3E}">
        <p14:creationId xmlns:p14="http://schemas.microsoft.com/office/powerpoint/2010/main" val="4029164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6FA1-30B9-BEEC-60B7-C4E08991D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8DE13-C3CB-EB6A-F57D-43D155CC6F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9BEA4B-EDE9-DA0F-DEE6-5877579259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a:t>Quel est l’objectif de FASTR ?</a:t>
            </a:r>
            <a:br>
              <a:rPr lang="fr-FR" sz="1200"/>
            </a:br>
            <a:r>
              <a:rPr lang="fr-FR" sz="1200"/>
              <a:t>L’idée de FASTR est que les analyses à cycle rapide peuvent accélérer les améliorations en matière de santé et de nutrition reproductive, maternelle, néonatale, infantile et des adolescents en favorisant une utilisation systématique des données pour la prise de décision. Actuellement, de nombreux pays dépendent d’enquêtes à grande échelle, réalisées en présentiel, très coûteuses, et qui ne sont menées que tous les 4 à 5 ans — voire moins fréquemment. Bien que ces enquêtes restent importantes, l’objectif de FASTR est de les compléter par une collecte de données plus rapide et régulière. En générant des informations en temps utile entre les grandes enquêtes, nous pouvons mieux suivre les progrès, identifier les défis et ajuster les programmes et politiques de manière plus agile et réactive.</a:t>
            </a:r>
            <a:endParaRPr lang="en-US"/>
          </a:p>
          <a:p>
            <a:endParaRPr lang="en-US"/>
          </a:p>
        </p:txBody>
      </p:sp>
      <p:sp>
        <p:nvSpPr>
          <p:cNvPr id="4" name="Slide Number Placeholder 3">
            <a:extLst>
              <a:ext uri="{FF2B5EF4-FFF2-40B4-BE49-F238E27FC236}">
                <a16:creationId xmlns:a16="http://schemas.microsoft.com/office/drawing/2014/main" id="{356A4ED0-B765-3DF2-F24F-80A6BD5ADF4A}"/>
              </a:ext>
            </a:extLst>
          </p:cNvPr>
          <p:cNvSpPr>
            <a:spLocks noGrp="1"/>
          </p:cNvSpPr>
          <p:nvPr>
            <p:ph type="sldNum" sz="quarter" idx="5"/>
          </p:nvPr>
        </p:nvSpPr>
        <p:spPr/>
        <p:txBody>
          <a:bodyPr/>
          <a:lstStyle/>
          <a:p>
            <a:fld id="{0FEE2CE3-C147-4563-83D4-7DA88276CF52}" type="slidenum">
              <a:rPr lang="en-US" smtClean="0"/>
              <a:t>3</a:t>
            </a:fld>
            <a:endParaRPr lang="en-US"/>
          </a:p>
        </p:txBody>
      </p:sp>
    </p:spTree>
    <p:extLst>
      <p:ext uri="{BB962C8B-B14F-4D97-AF65-F5344CB8AC3E}">
        <p14:creationId xmlns:p14="http://schemas.microsoft.com/office/powerpoint/2010/main" val="471976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77150-46AB-8A71-E58F-FAA657B1E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AB65C-C028-BCA9-0935-D264D848B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93AC7-76CD-A11F-0ED4-4A76A042EA72}"/>
              </a:ext>
            </a:extLst>
          </p:cNvPr>
          <p:cNvSpPr>
            <a:spLocks noGrp="1"/>
          </p:cNvSpPr>
          <p:nvPr>
            <p:ph type="body" idx="1"/>
          </p:nvPr>
        </p:nvSpPr>
        <p:spPr/>
        <p:txBody>
          <a:bodyPr/>
          <a:lstStyle/>
          <a:p>
            <a:r>
              <a:rPr lang="en-US"/>
              <a:t>So, the objective of the HFA is to: [read slide]</a:t>
            </a:r>
          </a:p>
          <a:p>
            <a:r>
              <a:rPr lang="en-US"/>
              <a:t>Implementation: The overall leadership…[read slide]</a:t>
            </a:r>
          </a:p>
          <a:p>
            <a:r>
              <a:rPr lang="en-US"/>
              <a:t>One round of data collection has been completed thus far and three additional rounds are planned for 2026</a:t>
            </a:r>
          </a:p>
        </p:txBody>
      </p:sp>
      <p:sp>
        <p:nvSpPr>
          <p:cNvPr id="4" name="Slide Number Placeholder 3">
            <a:extLst>
              <a:ext uri="{FF2B5EF4-FFF2-40B4-BE49-F238E27FC236}">
                <a16:creationId xmlns:a16="http://schemas.microsoft.com/office/drawing/2014/main" id="{671A4A49-F6F7-F4B1-DDE7-A1E1AD55DF1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07384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B569-4316-C0F3-7416-D35C1A36C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B136B-912F-8B5D-B0F2-C2718DBBCA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497E-8232-8EDD-CFD7-245F9806CA5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294EE7-B7F1-A883-8507-2E2269D4C1C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8318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FF004-3DF3-A2F3-A935-1C514F10D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79D8D-D83F-91B8-96FA-2061C8BB5A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007891A-D48E-2D9D-CEC2-1445594F6A77}"/>
              </a:ext>
            </a:extLst>
          </p:cNvPr>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600"/>
              </a:spcAft>
              <a:buClr>
                <a:srgbClr val="00A1DF"/>
              </a:buClr>
              <a:buSzTx/>
              <a:buFont typeface="Arial" panose="020B0604020202020204" pitchFamily="34" charset="0"/>
              <a:buNone/>
              <a:tabLst/>
              <a:defRPr/>
            </a:pP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The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survey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will</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be</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completed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over 4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quarterly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survey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rounds. The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two</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darker</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green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domains</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the top are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asked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about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each</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round. The items in the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lighter</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green at the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bottom</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of the graph are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asked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about once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annually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p>
          <a:p>
            <a:pPr marL="0" marR="0" lvl="0" indent="0" algn="l" defTabSz="914400" rtl="0" eaLnBrk="1" fontAlgn="auto" latinLnBrk="0" hangingPunct="1">
              <a:lnSpc>
                <a:spcPct val="110000"/>
              </a:lnSpc>
              <a:spcBef>
                <a:spcPts val="0"/>
              </a:spcBef>
              <a:spcAft>
                <a:spcPts val="600"/>
              </a:spcAft>
              <a:buClr>
                <a:srgbClr val="00A1DF"/>
              </a:buClr>
              <a:buSzTx/>
              <a:buFont typeface="Arial" panose="020B0604020202020204" pitchFamily="34" charset="0"/>
              <a:buNone/>
              <a:tabLst/>
              <a:defRPr/>
            </a:pPr>
            <a:endParaRPr lang="fr-MA" sz="1200" noProof="0">
              <a:solidFill>
                <a:schemeClr val="tx1"/>
              </a:solidFill>
              <a:latin typeface="Inter" panose="02000503000000020004" pitchFamily="2" charset="0"/>
              <a:ea typeface="Inter" panose="02000503000000020004" pitchFamily="2" charset="0"/>
              <a:cs typeface="Poppins" panose="00000500000000000000" pitchFamily="2" charset="0"/>
            </a:endParaRPr>
          </a:p>
          <a:p>
            <a:pPr marL="0" marR="0" lvl="0" indent="0" algn="l" defTabSz="914400" rtl="0" eaLnBrk="1" fontAlgn="auto" latinLnBrk="0" hangingPunct="1">
              <a:lnSpc>
                <a:spcPct val="110000"/>
              </a:lnSpc>
              <a:spcBef>
                <a:spcPts val="0"/>
              </a:spcBef>
              <a:spcAft>
                <a:spcPts val="600"/>
              </a:spcAft>
              <a:buClr>
                <a:srgbClr val="00A1DF"/>
              </a:buClr>
              <a:buSzTx/>
              <a:buFont typeface="Arial" panose="020B0604020202020204" pitchFamily="34" charset="0"/>
              <a:buNone/>
              <a:tabLst/>
              <a:defRPr/>
            </a:pP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To date,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we</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have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completed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Round 1. For the first round of the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survey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questions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were</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asked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about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recent</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service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delivery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challenges,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medical</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supplies/</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equipment</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service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availability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and a couple of questions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that</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are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asked</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per quarter about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electricity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water,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telephone</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and internet service </a:t>
            </a:r>
            <a:r>
              <a:rPr lang="fr-MA" sz="1200" noProof="0" err="1">
                <a:solidFill>
                  <a:schemeClr val="tx1"/>
                </a:solidFill>
                <a:latin typeface="Inter" panose="02000503000000020004" pitchFamily="2" charset="0"/>
                <a:ea typeface="Inter" panose="02000503000000020004" pitchFamily="2" charset="0"/>
                <a:cs typeface="Poppins" panose="00000500000000000000" pitchFamily="2" charset="0"/>
              </a:rPr>
              <a:t>availability</a:t>
            </a:r>
            <a:r>
              <a:rPr lang="fr-MA" sz="1200" noProof="0">
                <a:solidFill>
                  <a:schemeClr val="tx1"/>
                </a:solidFill>
                <a:latin typeface="Inter" panose="02000503000000020004" pitchFamily="2" charset="0"/>
                <a:ea typeface="Inter" panose="02000503000000020004" pitchFamily="2" charset="0"/>
                <a:cs typeface="Poppins" panose="00000500000000000000" pitchFamily="2" charset="0"/>
              </a:rPr>
              <a:t>. </a:t>
            </a:r>
          </a:p>
        </p:txBody>
      </p:sp>
      <p:sp>
        <p:nvSpPr>
          <p:cNvPr id="4" name="Slide Number Placeholder 3">
            <a:extLst>
              <a:ext uri="{FF2B5EF4-FFF2-40B4-BE49-F238E27FC236}">
                <a16:creationId xmlns:a16="http://schemas.microsoft.com/office/drawing/2014/main" id="{846C50A7-8661-54F2-CA7C-565043A1F3A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2537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DF41E-F415-3520-9705-B4665A514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195DB-142D-7558-1169-40E29CB77F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360520-5DF1-67FB-AA3A-137418E8C1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a:t>Quel est l’objectif de FASTR ?</a:t>
            </a:r>
            <a:br>
              <a:rPr lang="fr-FR" sz="1200"/>
            </a:br>
            <a:r>
              <a:rPr lang="fr-FR" sz="1200"/>
              <a:t>L’idée de FASTR est que les analyses à cycle rapide peuvent accélérer les améliorations en matière de santé et de nutrition reproductive, maternelle, néonatale, infantile et des adolescents en favorisant une utilisation systématique des données pour la prise de décision. Actuellement, de nombreux pays dépendent d’enquêtes à grande échelle, réalisées en présentiel, très coûteuses, et qui ne sont menées que tous les 4 à 5 ans — voire moins fréquemment. Bien que ces enquêtes restent importantes, l’objectif de FASTR est de les compléter par une collecte de données plus rapide et régulière. En générant des informations en temps utile entre les grandes enquêtes, nous pouvons mieux suivre les progrès, identifier les défis et ajuster les programmes et politiques de manière plus agile et réactive.</a:t>
            </a:r>
            <a:endParaRPr lang="en-US"/>
          </a:p>
          <a:p>
            <a:endParaRPr lang="en-US"/>
          </a:p>
        </p:txBody>
      </p:sp>
      <p:sp>
        <p:nvSpPr>
          <p:cNvPr id="4" name="Slide Number Placeholder 3">
            <a:extLst>
              <a:ext uri="{FF2B5EF4-FFF2-40B4-BE49-F238E27FC236}">
                <a16:creationId xmlns:a16="http://schemas.microsoft.com/office/drawing/2014/main" id="{280ECA9D-D345-7339-A01F-F28ACECB5FA9}"/>
              </a:ext>
            </a:extLst>
          </p:cNvPr>
          <p:cNvSpPr>
            <a:spLocks noGrp="1"/>
          </p:cNvSpPr>
          <p:nvPr>
            <p:ph type="sldNum" sz="quarter" idx="5"/>
          </p:nvPr>
        </p:nvSpPr>
        <p:spPr/>
        <p:txBody>
          <a:bodyPr/>
          <a:lstStyle/>
          <a:p>
            <a:fld id="{0FEE2CE3-C147-4563-83D4-7DA88276CF52}" type="slidenum">
              <a:rPr lang="en-US" smtClean="0"/>
              <a:t>7</a:t>
            </a:fld>
            <a:endParaRPr lang="en-US"/>
          </a:p>
        </p:txBody>
      </p:sp>
    </p:spTree>
    <p:extLst>
      <p:ext uri="{BB962C8B-B14F-4D97-AF65-F5344CB8AC3E}">
        <p14:creationId xmlns:p14="http://schemas.microsoft.com/office/powerpoint/2010/main" val="1873598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provides a high-level snapshot of health system performance in Sierra Leone, disaggregated by facility type. And here, we’ll see data from the areas that were asked about for this round. Other domain results will be added once those modules are included in subsequent rounds.</a:t>
            </a:r>
          </a:p>
          <a:p>
            <a:endParaRPr lang="en-US"/>
          </a:p>
          <a:p>
            <a:r>
              <a:rPr lang="en-US"/>
              <a:t>Starting with infrastructure, availability of basic utilities is a major gap. Only </a:t>
            </a:r>
            <a:r>
              <a:rPr lang="en-US" b="0"/>
              <a:t>11% of facilities nationwide </a:t>
            </a:r>
            <a:r>
              <a:rPr lang="en-US"/>
              <a:t>report consistent access to water, power, phone, and internet. This is particularly low in CHC, CHP and MCHP facilities, highlighting disparities across facility types.</a:t>
            </a:r>
          </a:p>
          <a:p>
            <a:endParaRPr lang="en-US"/>
          </a:p>
          <a:p>
            <a:r>
              <a:rPr lang="en-US"/>
              <a:t>Service availability is relatively high with facilities providing 82% of the services that were asked about in the survey. </a:t>
            </a:r>
          </a:p>
          <a:p>
            <a:endParaRPr lang="en-US"/>
          </a:p>
          <a:p>
            <a:r>
              <a:rPr lang="en-US"/>
              <a:t>A large proportion of facilities, 81% overall, report recent service delivery challenges. Interestingly, this is much lower in district hospitals at 26%, but very high across other facility types.</a:t>
            </a:r>
          </a:p>
          <a:p>
            <a:endParaRPr lang="en-US"/>
          </a:p>
          <a:p>
            <a:r>
              <a:rPr lang="en-US"/>
              <a:t>And then on supplies and equipment, performance is mixed. Vaccines are a strong area, with over 90% availability across all facility types. Medicines and PPE are more variable, generally ranging from about 66% to the 90s depending on facility type. Equipment availability drops further, especially in lower-level facilities. Diagnostics is the weakest area with only 44% availability in Sierra Leone, and as low as 36% in the MCHP facilities.</a:t>
            </a:r>
          </a:p>
        </p:txBody>
      </p:sp>
      <p:sp>
        <p:nvSpPr>
          <p:cNvPr id="4" name="Slide Number Placeholder 3"/>
          <p:cNvSpPr>
            <a:spLocks noGrp="1"/>
          </p:cNvSpPr>
          <p:nvPr>
            <p:ph type="sldNum" sz="quarter" idx="5"/>
          </p:nvPr>
        </p:nvSpPr>
        <p:spPr/>
        <p:txBody>
          <a:bodyPr/>
          <a:lstStyle/>
          <a:p>
            <a:fld id="{0FEE2CE3-C147-4563-83D4-7DA88276CF52}" type="slidenum">
              <a:rPr lang="en-US" smtClean="0"/>
              <a:t>8</a:t>
            </a:fld>
            <a:endParaRPr lang="en-US"/>
          </a:p>
        </p:txBody>
      </p:sp>
    </p:spTree>
    <p:extLst>
      <p:ext uri="{BB962C8B-B14F-4D97-AF65-F5344CB8AC3E}">
        <p14:creationId xmlns:p14="http://schemas.microsoft.com/office/powerpoint/2010/main" val="2974180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to challenges…we firstly asked whether the facility had experienced service delivery challenges in the past 3 months. As we can see here, 97% of facilities indicated that they had experienced a challenge.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9</a:t>
            </a:fld>
            <a:endParaRPr lang="en-US"/>
          </a:p>
        </p:txBody>
      </p:sp>
    </p:spTree>
    <p:extLst>
      <p:ext uri="{BB962C8B-B14F-4D97-AF65-F5344CB8AC3E}">
        <p14:creationId xmlns:p14="http://schemas.microsoft.com/office/powerpoint/2010/main" val="677822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next domain was services.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10</a:t>
            </a:fld>
            <a:endParaRPr lang="en-US"/>
          </a:p>
        </p:txBody>
      </p:sp>
    </p:spTree>
    <p:extLst>
      <p:ext uri="{BB962C8B-B14F-4D97-AF65-F5344CB8AC3E}">
        <p14:creationId xmlns:p14="http://schemas.microsoft.com/office/powerpoint/2010/main" val="3393370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 asked about service hours and continuous health worker availability.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11</a:t>
            </a:fld>
            <a:endParaRPr lang="en-US"/>
          </a:p>
        </p:txBody>
      </p:sp>
    </p:spTree>
    <p:extLst>
      <p:ext uri="{BB962C8B-B14F-4D97-AF65-F5344CB8AC3E}">
        <p14:creationId xmlns:p14="http://schemas.microsoft.com/office/powerpoint/2010/main" val="1947122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then lastly in the service domain, we asked how certain services were provided to clients.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12</a:t>
            </a:fld>
            <a:endParaRPr lang="en-US"/>
          </a:p>
        </p:txBody>
      </p:sp>
    </p:spTree>
    <p:extLst>
      <p:ext uri="{BB962C8B-B14F-4D97-AF65-F5344CB8AC3E}">
        <p14:creationId xmlns:p14="http://schemas.microsoft.com/office/powerpoint/2010/main" val="3967012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next domain was infrastructure. We start by looking at whether facilities reported having an electricity or water source.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13</a:t>
            </a:fld>
            <a:endParaRPr lang="en-US"/>
          </a:p>
        </p:txBody>
      </p:sp>
    </p:spTree>
    <p:extLst>
      <p:ext uri="{BB962C8B-B14F-4D97-AF65-F5344CB8AC3E}">
        <p14:creationId xmlns:p14="http://schemas.microsoft.com/office/powerpoint/2010/main" val="1854975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this slide, we look at the summary of all the different infrastructure items that were asked about for this round, which include telephone survey, electricity, internet and water. For this particular question, facilities are asked if they did not have access to these items in the past 7 days.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14</a:t>
            </a:fld>
            <a:endParaRPr lang="en-US"/>
          </a:p>
        </p:txBody>
      </p:sp>
    </p:spTree>
    <p:extLst>
      <p:ext uri="{BB962C8B-B14F-4D97-AF65-F5344CB8AC3E}">
        <p14:creationId xmlns:p14="http://schemas.microsoft.com/office/powerpoint/2010/main" val="1881194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module that was asked about was medical supplies. In this section, we asked about vaccines, medicines, PPE, equipment and diagnostics. This slide shows the average percent of each supply or equipment type that was available at the national level, as well as at each facility type.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15</a:t>
            </a:fld>
            <a:endParaRPr lang="en-US"/>
          </a:p>
        </p:txBody>
      </p:sp>
    </p:spTree>
    <p:extLst>
      <p:ext uri="{BB962C8B-B14F-4D97-AF65-F5344CB8AC3E}">
        <p14:creationId xmlns:p14="http://schemas.microsoft.com/office/powerpoint/2010/main" val="2209125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now have individual slides for each of the supplies/equipment. This slide focuses on vaccine availability.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16</a:t>
            </a:fld>
            <a:endParaRPr lang="en-US"/>
          </a:p>
        </p:txBody>
      </p:sp>
    </p:spTree>
    <p:extLst>
      <p:ext uri="{BB962C8B-B14F-4D97-AF65-F5344CB8AC3E}">
        <p14:creationId xmlns:p14="http://schemas.microsoft.com/office/powerpoint/2010/main" val="1535522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E2CE3-C147-4563-83D4-7DA88276CF52}" type="slidenum">
              <a:rPr lang="en-US" smtClean="0"/>
              <a:t>17</a:t>
            </a:fld>
            <a:endParaRPr lang="en-US"/>
          </a:p>
        </p:txBody>
      </p:sp>
    </p:spTree>
    <p:extLst>
      <p:ext uri="{BB962C8B-B14F-4D97-AF65-F5344CB8AC3E}">
        <p14:creationId xmlns:p14="http://schemas.microsoft.com/office/powerpoint/2010/main" val="3855395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looks at the main reason for vaccine unavailability.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18</a:t>
            </a:fld>
            <a:endParaRPr lang="en-US"/>
          </a:p>
        </p:txBody>
      </p:sp>
    </p:spTree>
    <p:extLst>
      <p:ext uri="{BB962C8B-B14F-4D97-AF65-F5344CB8AC3E}">
        <p14:creationId xmlns:p14="http://schemas.microsoft.com/office/powerpoint/2010/main" val="452144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are the medicines.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19</a:t>
            </a:fld>
            <a:endParaRPr lang="en-US"/>
          </a:p>
        </p:txBody>
      </p:sp>
    </p:spTree>
    <p:extLst>
      <p:ext uri="{BB962C8B-B14F-4D97-AF65-F5344CB8AC3E}">
        <p14:creationId xmlns:p14="http://schemas.microsoft.com/office/powerpoint/2010/main" val="502858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next slide looks at the availability of contraceptive methods.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20</a:t>
            </a:fld>
            <a:endParaRPr lang="en-US"/>
          </a:p>
        </p:txBody>
      </p:sp>
    </p:spTree>
    <p:extLst>
      <p:ext uri="{BB962C8B-B14F-4D97-AF65-F5344CB8AC3E}">
        <p14:creationId xmlns:p14="http://schemas.microsoft.com/office/powerpoint/2010/main" val="3413257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 look at PPE availability.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21</a:t>
            </a:fld>
            <a:endParaRPr lang="en-US"/>
          </a:p>
        </p:txBody>
      </p:sp>
    </p:spTree>
    <p:extLst>
      <p:ext uri="{BB962C8B-B14F-4D97-AF65-F5344CB8AC3E}">
        <p14:creationId xmlns:p14="http://schemas.microsoft.com/office/powerpoint/2010/main" val="1201168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is equipment availability.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22</a:t>
            </a:fld>
            <a:endParaRPr lang="en-US"/>
          </a:p>
        </p:txBody>
      </p:sp>
    </p:spTree>
    <p:extLst>
      <p:ext uri="{BB962C8B-B14F-4D97-AF65-F5344CB8AC3E}">
        <p14:creationId xmlns:p14="http://schemas.microsoft.com/office/powerpoint/2010/main" val="3589338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Last, we have the diagnostics.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23</a:t>
            </a:fld>
            <a:endParaRPr lang="en-US"/>
          </a:p>
        </p:txBody>
      </p:sp>
    </p:spTree>
    <p:extLst>
      <p:ext uri="{BB962C8B-B14F-4D97-AF65-F5344CB8AC3E}">
        <p14:creationId xmlns:p14="http://schemas.microsoft.com/office/powerpoint/2010/main" val="777114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supplies section, facilities were asked a follow-up question if they reported a medicine was not available at the facility when a patient required it.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24</a:t>
            </a:fld>
            <a:endParaRPr lang="en-US"/>
          </a:p>
        </p:txBody>
      </p:sp>
    </p:spTree>
    <p:extLst>
      <p:ext uri="{BB962C8B-B14F-4D97-AF65-F5344CB8AC3E}">
        <p14:creationId xmlns:p14="http://schemas.microsoft.com/office/powerpoint/2010/main" val="4265507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next questions look at medicine ordering and record keeping. This slide looks at how frequently medicines are ordered and delivered.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25</a:t>
            </a:fld>
            <a:endParaRPr lang="en-US"/>
          </a:p>
        </p:txBody>
      </p:sp>
    </p:spTree>
    <p:extLst>
      <p:ext uri="{BB962C8B-B14F-4D97-AF65-F5344CB8AC3E}">
        <p14:creationId xmlns:p14="http://schemas.microsoft.com/office/powerpoint/2010/main" val="2178521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shows the breakdown for recording receipt, inventory and the dispensing of medicines at the facility.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26</a:t>
            </a:fld>
            <a:endParaRPr lang="en-US"/>
          </a:p>
        </p:txBody>
      </p:sp>
    </p:spTree>
    <p:extLst>
      <p:ext uri="{BB962C8B-B14F-4D97-AF65-F5344CB8AC3E}">
        <p14:creationId xmlns:p14="http://schemas.microsoft.com/office/powerpoint/2010/main" val="144349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lastly, facilities were asked whether medical supplies were a challenge at the facility. [read slide]</a:t>
            </a:r>
          </a:p>
        </p:txBody>
      </p:sp>
      <p:sp>
        <p:nvSpPr>
          <p:cNvPr id="4" name="Slide Number Placeholder 3"/>
          <p:cNvSpPr>
            <a:spLocks noGrp="1"/>
          </p:cNvSpPr>
          <p:nvPr>
            <p:ph type="sldNum" sz="quarter" idx="5"/>
          </p:nvPr>
        </p:nvSpPr>
        <p:spPr/>
        <p:txBody>
          <a:bodyPr/>
          <a:lstStyle/>
          <a:p>
            <a:fld id="{0FEE2CE3-C147-4563-83D4-7DA88276CF52}" type="slidenum">
              <a:rPr lang="en-US" smtClean="0"/>
              <a:t>27</a:t>
            </a:fld>
            <a:endParaRPr lang="en-US"/>
          </a:p>
        </p:txBody>
      </p:sp>
    </p:spTree>
    <p:extLst>
      <p:ext uri="{BB962C8B-B14F-4D97-AF65-F5344CB8AC3E}">
        <p14:creationId xmlns:p14="http://schemas.microsoft.com/office/powerpoint/2010/main" val="38504390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2D2ED-EC07-96FC-5A96-42B8E48BA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02BAF-CD04-2EB2-02BB-3D6410458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443B7-1373-C6DF-9AFA-DBF4A2CFEB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130DE2-781A-4BCD-5C20-6ADF1407C9E2}"/>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9262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2024D-4672-E07E-551B-ACFA51B40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EF747-9570-0260-4004-7543DECF0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3676D7-E805-0450-2C06-E4BCFDC67A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4DEF84-DEB8-B9EE-6E53-B567BE11B3B9}"/>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6689716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2015-4FC8-9D37-0609-A910568AC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79ABA3-6881-351E-8DB7-962A4F2FAA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0ED46E-7587-1E5B-86A2-EDD44BF8AD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1"/>
              <a:t>Quel est l’objectif de FASTR ?</a:t>
            </a:r>
            <a:br>
              <a:rPr lang="fr-FR" sz="1200"/>
            </a:br>
            <a:r>
              <a:rPr lang="fr-FR" sz="1200"/>
              <a:t>L’idée de FASTR est que les analyses à cycle rapide peuvent accélérer les améliorations en matière de santé et de nutrition reproductive, maternelle, néonatale, infantile et des adolescents en favorisant une utilisation systématique des données pour la prise de décision. Actuellement, de nombreux pays dépendent d’enquêtes à grande échelle, réalisées en présentiel, très coûteuses, et qui ne sont menées que tous les 4 à 5 ans — voire moins fréquemment. Bien que ces enquêtes restent importantes, l’objectif de FASTR est de les compléter par une collecte de données plus rapide et régulière. En générant des informations en temps utile entre les grandes enquêtes, nous pouvons mieux suivre les progrès, identifier les défis et ajuster les programmes et politiques de manière plus agile et réactive.</a:t>
            </a:r>
            <a:endParaRPr lang="en-US"/>
          </a:p>
          <a:p>
            <a:endParaRPr lang="en-US"/>
          </a:p>
        </p:txBody>
      </p:sp>
      <p:sp>
        <p:nvSpPr>
          <p:cNvPr id="4" name="Slide Number Placeholder 3">
            <a:extLst>
              <a:ext uri="{FF2B5EF4-FFF2-40B4-BE49-F238E27FC236}">
                <a16:creationId xmlns:a16="http://schemas.microsoft.com/office/drawing/2014/main" id="{F08DAF07-B09E-96E1-6B50-924FC77645F3}"/>
              </a:ext>
            </a:extLst>
          </p:cNvPr>
          <p:cNvSpPr>
            <a:spLocks noGrp="1"/>
          </p:cNvSpPr>
          <p:nvPr>
            <p:ph type="sldNum" sz="quarter" idx="5"/>
          </p:nvPr>
        </p:nvSpPr>
        <p:spPr/>
        <p:txBody>
          <a:bodyPr/>
          <a:lstStyle/>
          <a:p>
            <a:fld id="{0FEE2CE3-C147-4563-83D4-7DA88276CF52}" type="slidenum">
              <a:rPr lang="en-US" smtClean="0"/>
              <a:t>30</a:t>
            </a:fld>
            <a:endParaRPr lang="en-US"/>
          </a:p>
        </p:txBody>
      </p:sp>
    </p:spTree>
    <p:extLst>
      <p:ext uri="{BB962C8B-B14F-4D97-AF65-F5344CB8AC3E}">
        <p14:creationId xmlns:p14="http://schemas.microsoft.com/office/powerpoint/2010/main" val="26305332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E2DC-0CD2-28FD-73EE-0A73D988F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F26B9-E9C6-189D-323C-F0DE8E0E992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2B6822-CB1A-E9B1-B81B-E51E14841D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E7D8B8-A548-B7F2-1B36-54FFB48EE40F}"/>
              </a:ext>
            </a:extLst>
          </p:cNvPr>
          <p:cNvSpPr>
            <a:spLocks noGrp="1"/>
          </p:cNvSpPr>
          <p:nvPr>
            <p:ph type="sldNum" sz="quarter" idx="5"/>
          </p:nvPr>
        </p:nvSpPr>
        <p:spPr/>
        <p:txBody>
          <a:bodyPr/>
          <a:lstStyle/>
          <a:p>
            <a:fld id="{3C1FE83E-3696-41E8-8E87-70872FB95A62}" type="slidenum">
              <a:rPr lang="en-US" smtClean="0"/>
              <a:t>31</a:t>
            </a:fld>
            <a:endParaRPr lang="en-US"/>
          </a:p>
        </p:txBody>
      </p:sp>
    </p:spTree>
    <p:extLst>
      <p:ext uri="{BB962C8B-B14F-4D97-AF65-F5344CB8AC3E}">
        <p14:creationId xmlns:p14="http://schemas.microsoft.com/office/powerpoint/2010/main" val="37326450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D02655-D7C3-4D45-BEA0-AE9D9F7BD3C2}" type="slidenum">
              <a:rPr lang="en-US" smtClean="0"/>
              <a:t>33</a:t>
            </a:fld>
            <a:endParaRPr lang="en-US"/>
          </a:p>
        </p:txBody>
      </p:sp>
    </p:spTree>
    <p:extLst>
      <p:ext uri="{BB962C8B-B14F-4D97-AF65-F5344CB8AC3E}">
        <p14:creationId xmlns:p14="http://schemas.microsoft.com/office/powerpoint/2010/main" val="29503099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D02655-D7C3-4D45-BEA0-AE9D9F7BD3C2}" type="slidenum">
              <a:rPr lang="en-US" smtClean="0"/>
              <a:t>34</a:t>
            </a:fld>
            <a:endParaRPr lang="en-US"/>
          </a:p>
        </p:txBody>
      </p:sp>
    </p:spTree>
    <p:extLst>
      <p:ext uri="{BB962C8B-B14F-4D97-AF65-F5344CB8AC3E}">
        <p14:creationId xmlns:p14="http://schemas.microsoft.com/office/powerpoint/2010/main" val="23886263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E786BE-5BAE-40AE-90D5-AA42E85429D1}" type="slidenum">
              <a:rPr lang="en-US" smtClean="0"/>
              <a:t>35</a:t>
            </a:fld>
            <a:endParaRPr lang="en-US"/>
          </a:p>
        </p:txBody>
      </p:sp>
    </p:spTree>
    <p:extLst>
      <p:ext uri="{BB962C8B-B14F-4D97-AF65-F5344CB8AC3E}">
        <p14:creationId xmlns:p14="http://schemas.microsoft.com/office/powerpoint/2010/main" val="25066287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9439A-A4B6-6681-480E-70AB5BC6E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B8059-D07A-0EA9-C10C-8E401EEC22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7146B6-6474-05D1-D3E8-76F4376E91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0706DC-43BF-4BB5-5600-F56423F056CF}"/>
              </a:ext>
            </a:extLst>
          </p:cNvPr>
          <p:cNvSpPr>
            <a:spLocks noGrp="1"/>
          </p:cNvSpPr>
          <p:nvPr>
            <p:ph type="sldNum" sz="quarter" idx="5"/>
          </p:nvPr>
        </p:nvSpPr>
        <p:spPr/>
        <p:txBody>
          <a:bodyPr/>
          <a:lstStyle/>
          <a:p>
            <a:fld id="{3C1FE83E-3696-41E8-8E87-70872FB95A62}" type="slidenum">
              <a:rPr lang="en-US" smtClean="0"/>
              <a:t>36</a:t>
            </a:fld>
            <a:endParaRPr lang="en-US"/>
          </a:p>
        </p:txBody>
      </p:sp>
    </p:spTree>
    <p:extLst>
      <p:ext uri="{BB962C8B-B14F-4D97-AF65-F5344CB8AC3E}">
        <p14:creationId xmlns:p14="http://schemas.microsoft.com/office/powerpoint/2010/main" val="804074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EE2CE3-C147-4563-83D4-7DA88276CF52}" type="slidenum">
              <a:rPr lang="en-US" smtClean="0"/>
              <a:t>37</a:t>
            </a:fld>
            <a:endParaRPr lang="en-US"/>
          </a:p>
        </p:txBody>
      </p:sp>
    </p:spTree>
    <p:extLst>
      <p:ext uri="{BB962C8B-B14F-4D97-AF65-F5344CB8AC3E}">
        <p14:creationId xmlns:p14="http://schemas.microsoft.com/office/powerpoint/2010/main" val="3726608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2241-43D9-C693-70DB-D005F8F3F9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BFF54-96AC-CD71-DF3B-C6430D7A07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08D59D-693B-6AD4-EF34-F1E20F3980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67A624-B1E1-0690-9CA8-485CF077FA11}"/>
              </a:ext>
            </a:extLst>
          </p:cNvPr>
          <p:cNvSpPr>
            <a:spLocks noGrp="1"/>
          </p:cNvSpPr>
          <p:nvPr>
            <p:ph type="sldNum" sz="quarter" idx="5"/>
          </p:nvPr>
        </p:nvSpPr>
        <p:spPr/>
        <p:txBody>
          <a:bodyPr/>
          <a:lstStyle/>
          <a:p>
            <a:fld id="{3C1FE83E-3696-41E8-8E87-70872FB95A62}" type="slidenum">
              <a:rPr lang="en-US" smtClean="0"/>
              <a:t>48</a:t>
            </a:fld>
            <a:endParaRPr lang="en-US"/>
          </a:p>
        </p:txBody>
      </p:sp>
    </p:spTree>
    <p:extLst>
      <p:ext uri="{BB962C8B-B14F-4D97-AF65-F5344CB8AC3E}">
        <p14:creationId xmlns:p14="http://schemas.microsoft.com/office/powerpoint/2010/main" val="25028477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E2678-377D-F6C4-CD4F-60D9B89C4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79F36-D001-6530-6524-8CA3A8478E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916121-18AE-5E05-ABD7-967515477D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00">
                <a:effectLst/>
                <a:latin typeface="Aptos" panose="020B0004020202020204" pitchFamily="34" charset="0"/>
                <a:ea typeface="Aptos" panose="020B0004020202020204" pitchFamily="34" charset="0"/>
                <a:cs typeface="Times New Roman" panose="02020603050405020304" pitchFamily="18" charset="0"/>
              </a:rPr>
              <a:t>What is the goal of FASTR? </a:t>
            </a:r>
            <a:r>
              <a:rPr lang="en-US" sz="1200" kern="100">
                <a:effectLst/>
                <a:latin typeface="Aptos" panose="020B0004020202020204" pitchFamily="34" charset="0"/>
                <a:ea typeface="Aptos" panose="020B0004020202020204" pitchFamily="34" charset="0"/>
                <a:cs typeface="Times New Roman" panose="02020603050405020304" pitchFamily="18" charset="0"/>
              </a:rPr>
              <a:t>The idea of FASTR is that rapid-cycle analytics can accelerate improvements in reproductive, maternal, newborn, child, adolescent health, and nutrition outcomes by increasing the systematic use of data for decision-making. Currently, many countries rely on large-scale, in-person surveys that are conducted only every 4 to 5 years—or even less frequently. While those surveys remain important, the goal of FASTR is to complement them with more rapid, regular data collection. By generating timely insights between major surveys, we can better monitor progress, identify challenges, and adjust programs and policies in a more agile and responsive 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C42321A7-8899-026B-DDEE-3347FD05CDB5}"/>
              </a:ext>
            </a:extLst>
          </p:cNvPr>
          <p:cNvSpPr>
            <a:spLocks noGrp="1"/>
          </p:cNvSpPr>
          <p:nvPr>
            <p:ph type="sldNum" sz="quarter" idx="5"/>
          </p:nvPr>
        </p:nvSpPr>
        <p:spPr/>
        <p:txBody>
          <a:bodyPr/>
          <a:lstStyle/>
          <a:p>
            <a:fld id="{0FEE2CE3-C147-4563-83D4-7DA88276CF52}" type="slidenum">
              <a:rPr lang="en-US" smtClean="0"/>
              <a:t>49</a:t>
            </a:fld>
            <a:endParaRPr lang="en-US"/>
          </a:p>
        </p:txBody>
      </p:sp>
    </p:spTree>
    <p:extLst>
      <p:ext uri="{BB962C8B-B14F-4D97-AF65-F5344CB8AC3E}">
        <p14:creationId xmlns:p14="http://schemas.microsoft.com/office/powerpoint/2010/main" val="482167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741F-FD59-AB9A-2073-4BA298308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CA191-320B-5B6C-FADD-34A9CAEBAA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949AC2-4565-81D6-8AAC-69F4F8EDCF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3C8968-E58A-4665-6340-AD3AC98C8564}"/>
              </a:ext>
            </a:extLst>
          </p:cNvPr>
          <p:cNvSpPr>
            <a:spLocks noGrp="1"/>
          </p:cNvSpPr>
          <p:nvPr>
            <p:ph type="sldNum" sz="quarter" idx="5"/>
          </p:nvPr>
        </p:nvSpPr>
        <p:spPr/>
        <p:txBody>
          <a:bodyPr/>
          <a:lstStyle/>
          <a:p>
            <a:fld id="{0FEE2CE3-C147-4563-83D4-7DA88276CF52}" type="slidenum">
              <a:rPr lang="en-US" smtClean="0"/>
              <a:t>50</a:t>
            </a:fld>
            <a:endParaRPr lang="en-US"/>
          </a:p>
        </p:txBody>
      </p:sp>
    </p:spTree>
    <p:extLst>
      <p:ext uri="{BB962C8B-B14F-4D97-AF65-F5344CB8AC3E}">
        <p14:creationId xmlns:p14="http://schemas.microsoft.com/office/powerpoint/2010/main" val="2389882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0083-9DC9-86E5-6E21-9155F193D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55B2F-BC6A-AEEA-44A9-1630C14ADC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5EB7EA-EA28-BD24-74CA-5944B4138A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6CB643-E77F-63BA-0B1E-36FEEDF64272}"/>
              </a:ext>
            </a:extLst>
          </p:cNvPr>
          <p:cNvSpPr>
            <a:spLocks noGrp="1"/>
          </p:cNvSpPr>
          <p:nvPr>
            <p:ph type="sldNum" sz="quarter" idx="5"/>
          </p:nvPr>
        </p:nvSpPr>
        <p:spPr/>
        <p:txBody>
          <a:bodyPr/>
          <a:lstStyle/>
          <a:p>
            <a:fld id="{0FEE2CE3-C147-4563-83D4-7DA88276CF52}" type="slidenum">
              <a:rPr lang="en-US" smtClean="0"/>
              <a:t>51</a:t>
            </a:fld>
            <a:endParaRPr lang="en-US"/>
          </a:p>
        </p:txBody>
      </p:sp>
    </p:spTree>
    <p:extLst>
      <p:ext uri="{BB962C8B-B14F-4D97-AF65-F5344CB8AC3E}">
        <p14:creationId xmlns:p14="http://schemas.microsoft.com/office/powerpoint/2010/main" val="28175341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C8F2-2E73-11AD-AE73-5263A9192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01268-8160-B581-4B57-39C5D23032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3ED2D4-C281-7462-0DF6-C86E2152BD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FC80AA-A9F9-60A5-6406-410CF0ECF14F}"/>
              </a:ext>
            </a:extLst>
          </p:cNvPr>
          <p:cNvSpPr>
            <a:spLocks noGrp="1"/>
          </p:cNvSpPr>
          <p:nvPr>
            <p:ph type="sldNum" sz="quarter" idx="5"/>
          </p:nvPr>
        </p:nvSpPr>
        <p:spPr/>
        <p:txBody>
          <a:bodyPr/>
          <a:lstStyle/>
          <a:p>
            <a:fld id="{0FEE2CE3-C147-4563-83D4-7DA88276CF52}" type="slidenum">
              <a:rPr lang="en-US" smtClean="0"/>
              <a:t>52</a:t>
            </a:fld>
            <a:endParaRPr lang="en-US"/>
          </a:p>
        </p:txBody>
      </p:sp>
    </p:spTree>
    <p:extLst>
      <p:ext uri="{BB962C8B-B14F-4D97-AF65-F5344CB8AC3E}">
        <p14:creationId xmlns:p14="http://schemas.microsoft.com/office/powerpoint/2010/main" val="2644607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B44FBCCF-F7CD-0E49-A4B3-7BD90B42F49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id="{31117B7F-1E85-EF49-9D52-2C5793333438}"/>
              </a:ext>
            </a:extLst>
          </p:cNvPr>
          <p:cNvPicPr>
            <a:picLocks noChangeAspect="1"/>
          </p:cNvPicPr>
          <p:nvPr userDrawn="1"/>
        </p:nvPicPr>
        <p:blipFill rotWithShape="1">
          <a:blip r:embed="rId3"/>
          <a:srcRect l="16621" t="31233" r="17015" b="37980"/>
          <a:stretch/>
        </p:blipFill>
        <p:spPr>
          <a:xfrm>
            <a:off x="457200" y="457200"/>
            <a:ext cx="2234712" cy="801097"/>
          </a:xfrm>
          <a:prstGeom prst="rect">
            <a:avLst/>
          </a:prstGeom>
        </p:spPr>
      </p:pic>
      <p:sp>
        <p:nvSpPr>
          <p:cNvPr id="18" name="Title 13">
            <a:extLst>
              <a:ext uri="{FF2B5EF4-FFF2-40B4-BE49-F238E27FC236}">
                <a16:creationId xmlns:a16="http://schemas.microsoft.com/office/drawing/2014/main" id="{1DCDB4A8-5BA7-224B-B09B-2F45B8DEFAB7}"/>
              </a:ext>
            </a:extLst>
          </p:cNvPr>
          <p:cNvSpPr>
            <a:spLocks noGrp="1"/>
          </p:cNvSpPr>
          <p:nvPr>
            <p:ph type="title" hasCustomPrompt="1"/>
          </p:nvPr>
        </p:nvSpPr>
        <p:spPr>
          <a:xfrm>
            <a:off x="457200" y="2419780"/>
            <a:ext cx="6518635" cy="776295"/>
          </a:xfrm>
          <a:prstGeom prst="rect">
            <a:avLst/>
          </a:prstGeom>
        </p:spPr>
        <p:txBody>
          <a:bodyPr/>
          <a:lstStyle>
            <a:lvl1pPr>
              <a:defRPr sz="4000" b="1" cap="all" baseline="0">
                <a:solidFill>
                  <a:schemeClr val="bg1"/>
                </a:solidFill>
                <a:latin typeface="Poppins" pitchFamily="2" charset="77"/>
                <a:cs typeface="Poppins" pitchFamily="2" charset="77"/>
              </a:defRPr>
            </a:lvl1pPr>
          </a:lstStyle>
          <a:p>
            <a:r>
              <a:rPr lang="en-US"/>
              <a:t>PRESENTATION TITLE</a:t>
            </a:r>
          </a:p>
        </p:txBody>
      </p:sp>
      <p:sp>
        <p:nvSpPr>
          <p:cNvPr id="23" name="Content Placeholder 22">
            <a:extLst>
              <a:ext uri="{FF2B5EF4-FFF2-40B4-BE49-F238E27FC236}">
                <a16:creationId xmlns:a16="http://schemas.microsoft.com/office/drawing/2014/main" id="{C8918EFC-60F3-674E-8D82-11B86D6C66CC}"/>
              </a:ext>
            </a:extLst>
          </p:cNvPr>
          <p:cNvSpPr>
            <a:spLocks noGrp="1"/>
          </p:cNvSpPr>
          <p:nvPr>
            <p:ph sz="quarter" idx="10" hasCustomPrompt="1"/>
          </p:nvPr>
        </p:nvSpPr>
        <p:spPr>
          <a:xfrm>
            <a:off x="457200" y="4374058"/>
            <a:ext cx="6703112" cy="847725"/>
          </a:xfrm>
          <a:prstGeom prst="rect">
            <a:avLst/>
          </a:prstGeom>
        </p:spPr>
        <p:txBody>
          <a:bodyPr/>
          <a:lstStyle>
            <a:lvl1pPr marL="0" indent="0">
              <a:buNone/>
              <a:defRPr b="1" i="0">
                <a:solidFill>
                  <a:schemeClr val="bg1"/>
                </a:solidFill>
                <a:latin typeface="Poppins SemiBold" pitchFamily="2" charset="77"/>
                <a:cs typeface="Poppins SemiBold" pitchFamily="2" charset="77"/>
              </a:defRPr>
            </a:lvl1pPr>
            <a:lvl2pPr marL="457200" indent="0">
              <a:buNone/>
              <a:defRPr/>
            </a:lvl2pPr>
          </a:lstStyle>
          <a:p>
            <a:pPr lvl="0"/>
            <a:r>
              <a:rPr lang="en-US"/>
              <a:t>Optional Sub Title</a:t>
            </a:r>
          </a:p>
        </p:txBody>
      </p:sp>
      <p:sp>
        <p:nvSpPr>
          <p:cNvPr id="26" name="Text Placeholder 25">
            <a:extLst>
              <a:ext uri="{FF2B5EF4-FFF2-40B4-BE49-F238E27FC236}">
                <a16:creationId xmlns:a16="http://schemas.microsoft.com/office/drawing/2014/main" id="{F0D31DF6-2E4C-1448-9AD8-85B009F07861}"/>
              </a:ext>
            </a:extLst>
          </p:cNvPr>
          <p:cNvSpPr>
            <a:spLocks noGrp="1"/>
          </p:cNvSpPr>
          <p:nvPr>
            <p:ph type="body" sz="quarter" idx="11" hasCustomPrompt="1"/>
          </p:nvPr>
        </p:nvSpPr>
        <p:spPr>
          <a:xfrm>
            <a:off x="457200" y="6093023"/>
            <a:ext cx="2121108" cy="393700"/>
          </a:xfrm>
          <a:prstGeom prst="rect">
            <a:avLst/>
          </a:prstGeom>
        </p:spPr>
        <p:txBody>
          <a:bodyPr/>
          <a:lstStyle>
            <a:lvl1pPr marL="0" indent="0">
              <a:buNone/>
              <a:defRPr sz="1400" b="1" i="0">
                <a:solidFill>
                  <a:schemeClr val="bg1"/>
                </a:solidFill>
                <a:latin typeface="Poppins SemiBold" pitchFamily="2" charset="77"/>
                <a:cs typeface="Poppins SemiBold" pitchFamily="2" charset="77"/>
              </a:defRPr>
            </a:lvl1pPr>
          </a:lstStyle>
          <a:p>
            <a:pPr lvl="0"/>
            <a:r>
              <a:rPr lang="en-US"/>
              <a:t>MONTH YEAR</a:t>
            </a:r>
          </a:p>
        </p:txBody>
      </p:sp>
    </p:spTree>
    <p:extLst>
      <p:ext uri="{BB962C8B-B14F-4D97-AF65-F5344CB8AC3E}">
        <p14:creationId xmlns:p14="http://schemas.microsoft.com/office/powerpoint/2010/main" val="1838664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68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5/26/26</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
        <p:nvSpPr>
          <p:cNvPr id="8" name="TextBox 7">
            <a:extLst>
              <a:ext uri="{FF2B5EF4-FFF2-40B4-BE49-F238E27FC236}">
                <a16:creationId xmlns:a16="http://schemas.microsoft.com/office/drawing/2014/main" id="{251E24DE-8A8B-0B16-2983-FE477057A672}"/>
              </a:ext>
            </a:extLst>
          </p:cNvPr>
          <p:cNvSpPr txBox="1"/>
          <p:nvPr userDrawn="1">
            <p:extLst>
              <p:ext uri="{1162E1C5-73C7-4A58-AE30-91384D911F3F}">
                <p184:classification xmlns:p184="http://schemas.microsoft.com/office/powerpoint/2018/4/main" val="ftr"/>
              </p:ext>
            </p:extLst>
          </p:nvPr>
        </p:nvSpPr>
        <p:spPr>
          <a:xfrm>
            <a:off x="11280775" y="66421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4.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svg"/><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4.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7FFFFA57_745A4010.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7FFFFA58_DCEAF4B.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7.sv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hyperlink" Target="https://data.gffportal.org/key-theme/FASTR" TargetMode="External"/><Relationship Id="rId4" Type="http://schemas.openxmlformats.org/officeDocument/2006/relationships/image" Target="../media/image37.sv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4.png"/><Relationship Id="rId4" Type="http://schemas.openxmlformats.org/officeDocument/2006/relationships/image" Target="../media/image6.sv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data.gffportal.org/key-theme/FASTR"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11.sv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11.svg"/></Relationships>
</file>

<file path=ppt/slides/_rels/slide5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hyperlink" Target="https://data.gffportal.org/key-theme-pages/rapid-cycle-health-facility-phone-surveys" TargetMode="External"/><Relationship Id="rId3" Type="http://schemas.openxmlformats.org/officeDocument/2006/relationships/image" Target="../media/image10.png"/><Relationship Id="rId7" Type="http://schemas.openxmlformats.org/officeDocument/2006/relationships/image" Target="../media/image55.png"/><Relationship Id="rId12" Type="http://schemas.microsoft.com/office/2007/relationships/hdphoto" Target="../media/hdphoto5.wdp"/><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57.png"/><Relationship Id="rId5" Type="http://schemas.openxmlformats.org/officeDocument/2006/relationships/image" Target="../media/image54.png"/><Relationship Id="rId10" Type="http://schemas.microsoft.com/office/2007/relationships/hdphoto" Target="../media/hdphoto4.wdp"/><Relationship Id="rId4" Type="http://schemas.openxmlformats.org/officeDocument/2006/relationships/image" Target="../media/image11.svg"/><Relationship Id="rId9" Type="http://schemas.openxmlformats.org/officeDocument/2006/relationships/image" Target="../media/image56.png"/></Relationships>
</file>

<file path=ppt/slides/_rels/slide52.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png"/><Relationship Id="rId3" Type="http://schemas.openxmlformats.org/officeDocument/2006/relationships/image" Target="../media/image10.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62.png"/><Relationship Id="rId5" Type="http://schemas.openxmlformats.org/officeDocument/2006/relationships/image" Target="../media/image55.png"/><Relationship Id="rId10" Type="http://schemas.openxmlformats.org/officeDocument/2006/relationships/image" Target="../media/image61.svg"/><Relationship Id="rId4" Type="http://schemas.openxmlformats.org/officeDocument/2006/relationships/image" Target="../media/image11.svg"/><Relationship Id="rId9" Type="http://schemas.openxmlformats.org/officeDocument/2006/relationships/image" Target="../media/image60.png"/><Relationship Id="rId14" Type="http://schemas.openxmlformats.org/officeDocument/2006/relationships/image" Target="../media/image65.svg"/></Relationships>
</file>

<file path=ppt/slides/_rels/slide53.xml.rels><?xml version="1.0" encoding="UTF-8" standalone="yes"?>
<Relationships xmlns="http://schemas.openxmlformats.org/package/2006/relationships"><Relationship Id="rId8" Type="http://schemas.openxmlformats.org/officeDocument/2006/relationships/hyperlink" Target="mailto:fastr@worldbank.org" TargetMode="External"/><Relationship Id="rId3" Type="http://schemas.microsoft.com/office/2007/relationships/hdphoto" Target="../media/hdphoto1.wdp"/><Relationship Id="rId7" Type="http://schemas.openxmlformats.org/officeDocument/2006/relationships/hyperlink" Target="https://data.gffportal.org/key-theme/FASTR/resource-repository/index.php/home" TargetMode="External"/><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hyperlink" Target="https://data.gffportal.org/key-theme/rapid-cycle-analytics-and-data-use" TargetMode="External"/><Relationship Id="rId5" Type="http://schemas.openxmlformats.org/officeDocument/2006/relationships/image" Target="../media/image6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C30C9-FB7A-6A52-6DFF-43F2B5BB87E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35A5D2D-BAD1-513E-2B4A-A97332C75CAF}"/>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900"/>
                    </a14:imgEffect>
                  </a14:imgLayer>
                </a14:imgProps>
              </a:ext>
            </a:extLst>
          </a:blip>
          <a:srcRect l="-1" r="1"/>
          <a:stretch>
            <a:fillRect/>
          </a:stretch>
        </p:blipFill>
        <p:spPr>
          <a:xfrm>
            <a:off x="-1" y="-1"/>
            <a:ext cx="12192001" cy="6857999"/>
          </a:xfrm>
          <a:prstGeom prst="rect">
            <a:avLst/>
          </a:prstGeom>
        </p:spPr>
      </p:pic>
      <p:sp>
        <p:nvSpPr>
          <p:cNvPr id="5" name="TextBox 4">
            <a:extLst>
              <a:ext uri="{FF2B5EF4-FFF2-40B4-BE49-F238E27FC236}">
                <a16:creationId xmlns:a16="http://schemas.microsoft.com/office/drawing/2014/main" id="{4A940FE8-195C-5686-6DA1-D3B9AABE60D2}"/>
              </a:ext>
            </a:extLst>
          </p:cNvPr>
          <p:cNvSpPr txBox="1"/>
          <p:nvPr/>
        </p:nvSpPr>
        <p:spPr>
          <a:xfrm>
            <a:off x="1160188" y="2020626"/>
            <a:ext cx="10358522" cy="1384995"/>
          </a:xfrm>
          <a:prstGeom prst="rect">
            <a:avLst/>
          </a:prstGeom>
          <a:noFill/>
        </p:spPr>
        <p:txBody>
          <a:bodyPr wrap="square" rtlCol="0">
            <a:spAutoFit/>
          </a:bodyPr>
          <a:lstStyle/>
          <a:p>
            <a:r>
              <a:rPr lang="en-US" sz="4200" noProof="0">
                <a:solidFill>
                  <a:schemeClr val="bg1"/>
                </a:solidFill>
                <a:latin typeface="Poppins Bold" panose="00000800000000000000" pitchFamily="2" charset="0"/>
                <a:ea typeface="Inter Bold" panose="02000503000000020004" pitchFamily="2" charset="0"/>
                <a:cs typeface="Poppins Bold" panose="00000800000000000000" pitchFamily="2" charset="0"/>
              </a:rPr>
              <a:t>SIERRA LEONE </a:t>
            </a:r>
            <a:r>
              <a:rPr lang="en-US" sz="4200" noProof="0">
                <a:solidFill>
                  <a:schemeClr val="bg1"/>
                </a:solidFill>
                <a:latin typeface="Poppins" panose="00000500000000000000" pitchFamily="2" charset="0"/>
                <a:ea typeface="Inter" panose="02000503000000020004" pitchFamily="2" charset="0"/>
                <a:cs typeface="Poppins" panose="00000500000000000000" pitchFamily="2" charset="0"/>
              </a:rPr>
              <a:t>RAPID HEALTH FACILITY ASSESSMENT </a:t>
            </a:r>
            <a:endParaRPr lang="en-US" sz="4200" noProof="0">
              <a:solidFill>
                <a:schemeClr val="bg1"/>
              </a:solidFill>
              <a:latin typeface="Poppins" panose="00000500000000000000" pitchFamily="2" charset="0"/>
              <a:ea typeface="Inter Bold" panose="02000503000000020004" pitchFamily="2" charset="0"/>
              <a:cs typeface="Poppins" panose="00000500000000000000" pitchFamily="2" charset="0"/>
            </a:endParaRPr>
          </a:p>
        </p:txBody>
      </p:sp>
      <p:pic>
        <p:nvPicPr>
          <p:cNvPr id="7" name="Picture 6" descr="A group of white logos&#10;&#10;AI-generated content may be incorrect.">
            <a:extLst>
              <a:ext uri="{FF2B5EF4-FFF2-40B4-BE49-F238E27FC236}">
                <a16:creationId xmlns:a16="http://schemas.microsoft.com/office/drawing/2014/main" id="{24FDBA72-D09D-F822-2175-585185D1FB12}"/>
              </a:ext>
            </a:extLst>
          </p:cNvPr>
          <p:cNvPicPr>
            <a:picLocks noChangeAspect="1"/>
          </p:cNvPicPr>
          <p:nvPr/>
        </p:nvPicPr>
        <p:blipFill>
          <a:blip r:embed="rId5">
            <a:extLst>
              <a:ext uri="{28A0092B-C50C-407E-A947-70E740481C1C}">
                <a14:useLocalDpi xmlns:a14="http://schemas.microsoft.com/office/drawing/2010/main" val="0"/>
              </a:ext>
            </a:extLst>
          </a:blip>
          <a:srcRect l="16446" t="38069" r="11550" b="44092"/>
          <a:stretch>
            <a:fillRect/>
          </a:stretch>
        </p:blipFill>
        <p:spPr>
          <a:xfrm>
            <a:off x="7729515" y="5565026"/>
            <a:ext cx="3998768" cy="765541"/>
          </a:xfrm>
          <a:prstGeom prst="rect">
            <a:avLst/>
          </a:prstGeom>
        </p:spPr>
      </p:pic>
      <p:pic>
        <p:nvPicPr>
          <p:cNvPr id="13" name="Graphic 12">
            <a:extLst>
              <a:ext uri="{FF2B5EF4-FFF2-40B4-BE49-F238E27FC236}">
                <a16:creationId xmlns:a16="http://schemas.microsoft.com/office/drawing/2014/main" id="{B80A66D7-5C4D-0F6A-8CA5-FD8BE766D27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34871" y="256203"/>
            <a:ext cx="1965244" cy="834086"/>
          </a:xfrm>
          <a:prstGeom prst="rect">
            <a:avLst/>
          </a:prstGeom>
        </p:spPr>
      </p:pic>
      <p:pic>
        <p:nvPicPr>
          <p:cNvPr id="2" name="Picture 1">
            <a:extLst>
              <a:ext uri="{FF2B5EF4-FFF2-40B4-BE49-F238E27FC236}">
                <a16:creationId xmlns:a16="http://schemas.microsoft.com/office/drawing/2014/main" id="{0B7C49CF-5D11-D54B-3F87-B553D584DC51}"/>
              </a:ext>
            </a:extLst>
          </p:cNvPr>
          <p:cNvPicPr>
            <a:picLocks noChangeAspect="1"/>
          </p:cNvPicPr>
          <p:nvPr/>
        </p:nvPicPr>
        <p:blipFill>
          <a:blip r:embed="rId8"/>
          <a:stretch>
            <a:fillRect/>
          </a:stretch>
        </p:blipFill>
        <p:spPr>
          <a:xfrm>
            <a:off x="6397183" y="5426248"/>
            <a:ext cx="1113418" cy="1051247"/>
          </a:xfrm>
          <a:prstGeom prst="rect">
            <a:avLst/>
          </a:prstGeom>
        </p:spPr>
      </p:pic>
      <p:sp>
        <p:nvSpPr>
          <p:cNvPr id="4" name="Text Box 2">
            <a:extLst>
              <a:ext uri="{FF2B5EF4-FFF2-40B4-BE49-F238E27FC236}">
                <a16:creationId xmlns:a16="http://schemas.microsoft.com/office/drawing/2014/main" id="{69853EE2-28F7-25F7-9EBC-D138C763B2AF}"/>
              </a:ext>
            </a:extLst>
          </p:cNvPr>
          <p:cNvSpPr txBox="1">
            <a:spLocks noChangeArrowheads="1"/>
          </p:cNvSpPr>
          <p:nvPr/>
        </p:nvSpPr>
        <p:spPr bwMode="auto">
          <a:xfrm>
            <a:off x="1160188" y="3414151"/>
            <a:ext cx="8568711" cy="1745615"/>
          </a:xfrm>
          <a:prstGeom prst="rect">
            <a:avLst/>
          </a:prstGeom>
          <a:noFill/>
          <a:ln w="9525">
            <a:noFill/>
            <a:miter lim="800000"/>
            <a:headEnd/>
            <a:tailEnd/>
          </a:ln>
        </p:spPr>
        <p:txBody>
          <a:bodyPr rot="0" vert="horz" wrap="square" lIns="91440" tIns="45720" rIns="91440" bIns="45720" anchor="t" anchorCtr="0">
            <a:noAutofit/>
          </a:bodyPr>
          <a:lstStyle/>
          <a:p>
            <a:pPr marL="0" marR="0" lvl="0" indent="0" algn="l" defTabSz="914400" rtl="0" eaLnBrk="1" fontAlgn="auto" latinLnBrk="0" hangingPunct="1">
              <a:lnSpc>
                <a:spcPts val="4200"/>
              </a:lnSpc>
              <a:spcBef>
                <a:spcPts val="0"/>
              </a:spcBef>
              <a:spcAft>
                <a:spcPts val="0"/>
              </a:spcAft>
              <a:buClrTx/>
              <a:buSzTx/>
              <a:buFontTx/>
              <a:buNone/>
              <a:tabLst/>
              <a:defRPr/>
            </a:pPr>
            <a:r>
              <a:rPr kumimoji="0" lang="en-US" sz="2200" b="1" i="0" u="none" strike="noStrike" kern="1200" cap="none" spc="0" normalizeH="0" baseline="0" noProof="0">
                <a:ln>
                  <a:noFill/>
                </a:ln>
                <a:solidFill>
                  <a:srgbClr val="FFFFFF"/>
                </a:solidFill>
                <a:effectLst/>
                <a:uLnTx/>
                <a:uFillTx/>
                <a:latin typeface="Poppins" panose="00000500000000000000" pitchFamily="2" charset="0"/>
                <a:ea typeface="Inter" panose="02000503000000020004" pitchFamily="2" charset="0"/>
                <a:cs typeface="Poppins" panose="00000500000000000000" pitchFamily="2" charset="0"/>
              </a:rPr>
              <a:t>Summary Report: </a:t>
            </a:r>
            <a:r>
              <a:rPr kumimoji="0" lang="en-US" sz="2200" b="0" i="0" u="none" strike="noStrike" kern="1200" cap="none" spc="0" normalizeH="0" baseline="0" noProof="0">
                <a:ln>
                  <a:noFill/>
                </a:ln>
                <a:solidFill>
                  <a:srgbClr val="FFFFFF"/>
                </a:solidFill>
                <a:effectLst/>
                <a:uLnTx/>
                <a:uFillTx/>
                <a:latin typeface="Poppins" panose="00000500000000000000" pitchFamily="2" charset="0"/>
                <a:ea typeface="Inter" panose="02000503000000020004" pitchFamily="2" charset="0"/>
                <a:cs typeface="Poppins" panose="00000500000000000000" pitchFamily="2" charset="0"/>
              </a:rPr>
              <a:t>Round 1</a:t>
            </a:r>
          </a:p>
          <a:p>
            <a:pPr marL="0" marR="0" lvl="0" indent="0" algn="l" defTabSz="914400" rtl="0" eaLnBrk="1" fontAlgn="auto" latinLnBrk="0" hangingPunct="1">
              <a:lnSpc>
                <a:spcPts val="4200"/>
              </a:lnSpc>
              <a:spcBef>
                <a:spcPts val="0"/>
              </a:spcBef>
              <a:spcAft>
                <a:spcPts val="0"/>
              </a:spcAft>
              <a:buClrTx/>
              <a:buSzTx/>
              <a:buFontTx/>
              <a:buNone/>
              <a:tabLst/>
              <a:defRPr/>
            </a:pPr>
            <a:r>
              <a:rPr kumimoji="0" lang="en-US" b="0" i="0" u="none" strike="noStrike" kern="1200" cap="none" spc="0" normalizeH="0" baseline="0" noProof="0">
                <a:ln>
                  <a:noFill/>
                </a:ln>
                <a:solidFill>
                  <a:srgbClr val="FFFFFF"/>
                </a:solidFill>
                <a:effectLst/>
                <a:uLnTx/>
                <a:uFillTx/>
                <a:latin typeface="Poppins" panose="00000500000000000000" pitchFamily="2" charset="0"/>
                <a:ea typeface="Inter" panose="02000503000000020004" pitchFamily="2" charset="0"/>
                <a:cs typeface="Poppins" panose="00000500000000000000" pitchFamily="2" charset="0"/>
              </a:rPr>
              <a:t>March 2026</a:t>
            </a:r>
          </a:p>
        </p:txBody>
      </p:sp>
    </p:spTree>
    <p:extLst>
      <p:ext uri="{BB962C8B-B14F-4D97-AF65-F5344CB8AC3E}">
        <p14:creationId xmlns:p14="http://schemas.microsoft.com/office/powerpoint/2010/main" val="143173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793D5-DEF3-F368-BD43-9514D92C5EC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5D9E28E-D9BB-FFCE-5924-86A00F961625}"/>
              </a:ext>
            </a:extLst>
          </p:cNvPr>
          <p:cNvSpPr/>
          <p:nvPr/>
        </p:nvSpPr>
        <p:spPr>
          <a:xfrm>
            <a:off x="-2271" y="0"/>
            <a:ext cx="12194271" cy="6857999"/>
          </a:xfrm>
          <a:prstGeom prst="rect">
            <a:avLst/>
          </a:prstGeom>
          <a:solidFill>
            <a:srgbClr val="09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10" name="TextBox 9">
            <a:extLst>
              <a:ext uri="{FF2B5EF4-FFF2-40B4-BE49-F238E27FC236}">
                <a16:creationId xmlns:a16="http://schemas.microsoft.com/office/drawing/2014/main" id="{8B86471E-689A-A656-B1B7-A228F5EC7A98}"/>
              </a:ext>
            </a:extLst>
          </p:cNvPr>
          <p:cNvSpPr txBox="1"/>
          <p:nvPr/>
        </p:nvSpPr>
        <p:spPr>
          <a:xfrm>
            <a:off x="6535454" y="640391"/>
            <a:ext cx="5563905" cy="646331"/>
          </a:xfrm>
          <a:prstGeom prst="rect">
            <a:avLst/>
          </a:prstGeom>
          <a:noFill/>
          <a:ln>
            <a:noFill/>
          </a:ln>
        </p:spPr>
        <p:txBody>
          <a:bodyPr wrap="square">
            <a:spAutoFit/>
          </a:bodyPr>
          <a:lstStyle/>
          <a:p>
            <a:r>
              <a:rPr lang="en-US" sz="3600" b="1" noProof="0">
                <a:solidFill>
                  <a:schemeClr val="bg1"/>
                </a:solidFill>
                <a:latin typeface="Poppins"/>
                <a:cs typeface="Poppins"/>
              </a:rPr>
              <a:t>Contents</a:t>
            </a:r>
            <a:endParaRPr lang="en-US" sz="2800" b="1" noProof="0">
              <a:solidFill>
                <a:schemeClr val="bg1"/>
              </a:solidFill>
              <a:latin typeface="Poppins"/>
              <a:cs typeface="Poppins"/>
            </a:endParaRPr>
          </a:p>
        </p:txBody>
      </p:sp>
      <p:sp>
        <p:nvSpPr>
          <p:cNvPr id="17" name="TextBox 16">
            <a:extLst>
              <a:ext uri="{FF2B5EF4-FFF2-40B4-BE49-F238E27FC236}">
                <a16:creationId xmlns:a16="http://schemas.microsoft.com/office/drawing/2014/main" id="{C2CA3024-6599-9079-DE3F-5FEEE20178E4}"/>
              </a:ext>
            </a:extLst>
          </p:cNvPr>
          <p:cNvSpPr txBox="1"/>
          <p:nvPr/>
        </p:nvSpPr>
        <p:spPr>
          <a:xfrm>
            <a:off x="6661614" y="1098388"/>
            <a:ext cx="5367747" cy="5423792"/>
          </a:xfrm>
          <a:prstGeom prst="rect">
            <a:avLst/>
          </a:prstGeom>
          <a:noFill/>
        </p:spPr>
        <p:txBody>
          <a:bodyPr wrap="square" lIns="91440" tIns="45720" rIns="91440" bIns="45720" rtlCol="0" anchor="t">
            <a:spAutoFit/>
          </a:bodyPr>
          <a:lstStyle/>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Overview</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Primary Health Care (PHC) Assessment</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Delivery Challenges</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Availability</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Infrastructure</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Medical Supplies</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0" i="0" u="none" strike="noStrike" kern="1200" cap="none" spc="0" normalizeH="0" baseline="0" noProof="0">
                <a:ln>
                  <a:noFill/>
                </a:ln>
                <a:solidFill>
                  <a:prstClr val="white"/>
                </a:solidFill>
                <a:effectLst/>
                <a:uLnTx/>
                <a:uFillTx/>
                <a:latin typeface="Poppins" panose="00000500000000000000" pitchFamily="2" charset="0"/>
                <a:ea typeface="Inter" panose="02000503000000020004" pitchFamily="2" charset="0"/>
                <a:cs typeface="Poppins" panose="00000500000000000000" pitchFamily="2" charset="0"/>
              </a:rPr>
              <a:t>Methodology 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lang="en-US" noProof="0">
                <a:solidFill>
                  <a:prstClr val="white"/>
                </a:solidFill>
                <a:latin typeface="Poppins" panose="00000500000000000000" pitchFamily="2" charset="0"/>
                <a:ea typeface="Inter" panose="02000503000000020004" pitchFamily="2" charset="0"/>
                <a:cs typeface="Poppins" panose="00000500000000000000" pitchFamily="2" charset="0"/>
              </a:rPr>
              <a:t>Annex Tables</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0" i="0" u="none" strike="noStrike" kern="1200" cap="none" spc="0" normalizeH="0" baseline="0" noProof="0">
                <a:ln>
                  <a:noFill/>
                </a:ln>
                <a:solidFill>
                  <a:prstClr val="white"/>
                </a:solidFill>
                <a:effectLst/>
                <a:uLnTx/>
                <a:uFillTx/>
                <a:latin typeface="Poppins" panose="00000500000000000000" pitchFamily="2" charset="0"/>
                <a:ea typeface="Inter" panose="02000503000000020004" pitchFamily="2" charset="0"/>
                <a:cs typeface="Poppins" panose="00000500000000000000" pitchFamily="2" charset="0"/>
              </a:rPr>
              <a:t>Background on the FASTR initiative</a:t>
            </a:r>
          </a:p>
          <a:p>
            <a:pPr marL="342900" indent="-342900">
              <a:lnSpc>
                <a:spcPts val="3000"/>
              </a:lnSpc>
              <a:spcAft>
                <a:spcPts val="600"/>
              </a:spcAft>
              <a:buAutoNum type="arabicPeriod"/>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p:txBody>
      </p:sp>
      <p:sp>
        <p:nvSpPr>
          <p:cNvPr id="6" name="Rectangle 5">
            <a:extLst>
              <a:ext uri="{FF2B5EF4-FFF2-40B4-BE49-F238E27FC236}">
                <a16:creationId xmlns:a16="http://schemas.microsoft.com/office/drawing/2014/main" id="{95C26704-F2B9-38D8-F507-27E002E36D7E}"/>
              </a:ext>
            </a:extLst>
          </p:cNvPr>
          <p:cNvSpPr/>
          <p:nvPr/>
        </p:nvSpPr>
        <p:spPr>
          <a:xfrm>
            <a:off x="6535454" y="1268434"/>
            <a:ext cx="3660111" cy="27432"/>
          </a:xfrm>
          <a:prstGeom prst="rect">
            <a:avLst/>
          </a:prstGeom>
          <a:solidFill>
            <a:srgbClr val="D5D16E"/>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8" name="Picture 7">
            <a:extLst>
              <a:ext uri="{FF2B5EF4-FFF2-40B4-BE49-F238E27FC236}">
                <a16:creationId xmlns:a16="http://schemas.microsoft.com/office/drawing/2014/main" id="{4C722E0B-9F9F-3B88-0BDF-B95763C095FA}"/>
              </a:ext>
            </a:extLst>
          </p:cNvPr>
          <p:cNvPicPr>
            <a:picLocks noChangeAspect="1"/>
          </p:cNvPicPr>
          <p:nvPr/>
        </p:nvPicPr>
        <p:blipFill>
          <a:blip r:embed="rId3">
            <a:extLst>
              <a:ext uri="{28A0092B-C50C-407E-A947-70E740481C1C}">
                <a14:useLocalDpi xmlns:a14="http://schemas.microsoft.com/office/drawing/2010/main" val="0"/>
              </a:ext>
            </a:extLst>
          </a:blip>
          <a:srcRect l="29215" r="9554"/>
          <a:stretch>
            <a:fillRect/>
          </a:stretch>
        </p:blipFill>
        <p:spPr>
          <a:xfrm>
            <a:off x="6813" y="0"/>
            <a:ext cx="6298738" cy="6858000"/>
          </a:xfrm>
          <a:prstGeom prst="flowChartDelay">
            <a:avLst/>
          </a:prstGeom>
        </p:spPr>
      </p:pic>
      <p:sp>
        <p:nvSpPr>
          <p:cNvPr id="3" name="TextBox 2">
            <a:extLst>
              <a:ext uri="{FF2B5EF4-FFF2-40B4-BE49-F238E27FC236}">
                <a16:creationId xmlns:a16="http://schemas.microsoft.com/office/drawing/2014/main" id="{A34B676B-AC89-408D-8E3F-49C89EA1FEEF}"/>
              </a:ext>
            </a:extLst>
          </p:cNvPr>
          <p:cNvSpPr txBox="1"/>
          <p:nvPr/>
        </p:nvSpPr>
        <p:spPr>
          <a:xfrm>
            <a:off x="162639" y="6465585"/>
            <a:ext cx="3827017" cy="261610"/>
          </a:xfrm>
          <a:prstGeom prst="rect">
            <a:avLst/>
          </a:prstGeom>
          <a:noFill/>
        </p:spPr>
        <p:txBody>
          <a:bodyPr wrap="square">
            <a:spAutoFit/>
          </a:bodyPr>
          <a:lstStyle/>
          <a:p>
            <a:r>
              <a:rPr lang="en-US" sz="1100" noProof="0">
                <a:solidFill>
                  <a:schemeClr val="bg1"/>
                </a:solidFill>
                <a:latin typeface="Poppins" panose="00000500000000000000" pitchFamily="2" charset="0"/>
                <a:cs typeface="Poppins" panose="00000500000000000000" pitchFamily="2" charset="0"/>
              </a:rPr>
              <a:t>@ UNICEF Sierra Leone/2016/Mason</a:t>
            </a:r>
          </a:p>
        </p:txBody>
      </p:sp>
    </p:spTree>
    <p:extLst>
      <p:ext uri="{BB962C8B-B14F-4D97-AF65-F5344CB8AC3E}">
        <p14:creationId xmlns:p14="http://schemas.microsoft.com/office/powerpoint/2010/main" val="257460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2EB6-B647-9D68-B4A5-CB4E14C51682}"/>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93D41923-939A-9C93-8A73-1DA9E920EDF7}"/>
              </a:ext>
            </a:extLst>
          </p:cNvPr>
          <p:cNvSpPr/>
          <p:nvPr/>
        </p:nvSpPr>
        <p:spPr>
          <a:xfrm>
            <a:off x="-4033" y="-30739"/>
            <a:ext cx="8837932" cy="686798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Box 6">
            <a:extLst>
              <a:ext uri="{FF2B5EF4-FFF2-40B4-BE49-F238E27FC236}">
                <a16:creationId xmlns:a16="http://schemas.microsoft.com/office/drawing/2014/main" id="{2C20C2EC-613F-A46F-68DE-BD0BBB744AF0}"/>
              </a:ext>
            </a:extLst>
          </p:cNvPr>
          <p:cNvSpPr txBox="1"/>
          <p:nvPr/>
        </p:nvSpPr>
        <p:spPr>
          <a:xfrm>
            <a:off x="1552074" y="2950733"/>
            <a:ext cx="4164914" cy="707886"/>
          </a:xfrm>
          <a:prstGeom prst="rect">
            <a:avLst/>
          </a:prstGeom>
          <a:noFill/>
        </p:spPr>
        <p:txBody>
          <a:bodyPr wrap="square" lIns="91440" tIns="45720" rIns="91440" bIns="45720" rtlCol="0" anchor="t">
            <a:spAutoFit/>
          </a:bodyPr>
          <a:lstStyle/>
          <a:p>
            <a:pPr algn="ctr"/>
            <a:r>
              <a:rPr lang="en-US" sz="4000" b="1" noProof="0">
                <a:solidFill>
                  <a:schemeClr val="bg1"/>
                </a:solidFill>
                <a:latin typeface="Poppins SemiBold" panose="00000700000000000000" pitchFamily="2" charset="0"/>
                <a:ea typeface="Inter" panose="02000503000000020004" pitchFamily="2" charset="0"/>
                <a:cs typeface="Poppins SemiBold" panose="00000700000000000000" pitchFamily="2" charset="0"/>
              </a:rPr>
              <a:t>1. Overview</a:t>
            </a:r>
          </a:p>
        </p:txBody>
      </p:sp>
      <p:pic>
        <p:nvPicPr>
          <p:cNvPr id="8" name="Graphic 7">
            <a:extLst>
              <a:ext uri="{FF2B5EF4-FFF2-40B4-BE49-F238E27FC236}">
                <a16:creationId xmlns:a16="http://schemas.microsoft.com/office/drawing/2014/main" id="{02325389-22B2-B782-2619-6606BBA6E8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105" y="122616"/>
            <a:ext cx="1044989" cy="443513"/>
          </a:xfrm>
          <a:prstGeom prst="rect">
            <a:avLst/>
          </a:prstGeom>
        </p:spPr>
      </p:pic>
      <p:pic>
        <p:nvPicPr>
          <p:cNvPr id="9" name="Picture 8" descr="A group of white logos&#10;&#10;AI-generated content may be incorrect.">
            <a:extLst>
              <a:ext uri="{FF2B5EF4-FFF2-40B4-BE49-F238E27FC236}">
                <a16:creationId xmlns:a16="http://schemas.microsoft.com/office/drawing/2014/main" id="{00C880AA-6F5C-FCEF-160E-D80FA0B9BCEB}"/>
              </a:ext>
            </a:extLst>
          </p:cNvPr>
          <p:cNvPicPr>
            <a:picLocks noChangeAspect="1"/>
          </p:cNvPicPr>
          <p:nvPr/>
        </p:nvPicPr>
        <p:blipFill>
          <a:blip r:embed="rId5">
            <a:extLst>
              <a:ext uri="{28A0092B-C50C-407E-A947-70E740481C1C}">
                <a14:useLocalDpi xmlns:a14="http://schemas.microsoft.com/office/drawing/2010/main" val="0"/>
              </a:ext>
            </a:extLst>
          </a:blip>
          <a:srcRect l="16446" t="38069" r="56052" b="44092"/>
          <a:stretch>
            <a:fillRect/>
          </a:stretch>
        </p:blipFill>
        <p:spPr>
          <a:xfrm>
            <a:off x="1386094" y="122616"/>
            <a:ext cx="1013926" cy="508220"/>
          </a:xfrm>
          <a:prstGeom prst="rect">
            <a:avLst/>
          </a:prstGeom>
        </p:spPr>
      </p:pic>
      <p:sp>
        <p:nvSpPr>
          <p:cNvPr id="16" name="Rectangle 15">
            <a:extLst>
              <a:ext uri="{FF2B5EF4-FFF2-40B4-BE49-F238E27FC236}">
                <a16:creationId xmlns:a16="http://schemas.microsoft.com/office/drawing/2014/main" id="{5082A5A2-904C-7251-C09B-C56523E8B86D}"/>
              </a:ext>
            </a:extLst>
          </p:cNvPr>
          <p:cNvSpPr/>
          <p:nvPr/>
        </p:nvSpPr>
        <p:spPr>
          <a:xfrm>
            <a:off x="1072040" y="1251284"/>
            <a:ext cx="6434229" cy="5149515"/>
          </a:xfrm>
          <a:prstGeom prst="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09B0D16D-5BD0-1FCF-FCA8-F545B2D3AD64}"/>
              </a:ext>
            </a:extLst>
          </p:cNvPr>
          <p:cNvSpPr/>
          <p:nvPr/>
        </p:nvSpPr>
        <p:spPr>
          <a:xfrm>
            <a:off x="719219" y="2268895"/>
            <a:ext cx="688474" cy="3025000"/>
          </a:xfrm>
          <a:prstGeom prst="rect">
            <a:avLst/>
          </a:prstGeom>
          <a:solidFill>
            <a:srgbClr val="BED5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3" name="Picture 2">
            <a:extLst>
              <a:ext uri="{FF2B5EF4-FFF2-40B4-BE49-F238E27FC236}">
                <a16:creationId xmlns:a16="http://schemas.microsoft.com/office/drawing/2014/main" id="{C1216B77-A15D-C3E4-6E6E-E0F1EA5CB61E}"/>
              </a:ext>
            </a:extLst>
          </p:cNvPr>
          <p:cNvPicPr>
            <a:picLocks noChangeAspect="1"/>
          </p:cNvPicPr>
          <p:nvPr/>
        </p:nvPicPr>
        <p:blipFill>
          <a:blip r:embed="rId6">
            <a:extLst>
              <a:ext uri="{28A0092B-C50C-407E-A947-70E740481C1C}">
                <a14:useLocalDpi xmlns:a14="http://schemas.microsoft.com/office/drawing/2010/main" val="0"/>
              </a:ext>
            </a:extLst>
          </a:blip>
          <a:srcRect l="10126" r="28248"/>
          <a:stretch>
            <a:fillRect/>
          </a:stretch>
        </p:blipFill>
        <p:spPr>
          <a:xfrm>
            <a:off x="5843523" y="-30740"/>
            <a:ext cx="6375772" cy="6867988"/>
          </a:xfrm>
          <a:prstGeom prst="rect">
            <a:avLst/>
          </a:prstGeom>
        </p:spPr>
      </p:pic>
    </p:spTree>
    <p:extLst>
      <p:ext uri="{BB962C8B-B14F-4D97-AF65-F5344CB8AC3E}">
        <p14:creationId xmlns:p14="http://schemas.microsoft.com/office/powerpoint/2010/main" val="1779544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3E88F-D5D3-A5D1-F174-2FB0FBA592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94E4C6-54FD-359A-BCFD-767E7D78C0EB}"/>
              </a:ext>
            </a:extLst>
          </p:cNvPr>
          <p:cNvSpPr/>
          <p:nvPr/>
        </p:nvSpPr>
        <p:spPr>
          <a:xfrm>
            <a:off x="0" y="0"/>
            <a:ext cx="12192000" cy="6858000"/>
          </a:xfrm>
          <a:prstGeom prst="rect">
            <a:avLst/>
          </a:prstGeom>
          <a:solidFill>
            <a:srgbClr val="FFFFFF"/>
          </a:solidFill>
          <a:ln w="12700">
            <a:solidFill>
              <a:srgbClr val="FFFFFF"/>
            </a:solidFill>
            <a:prstDash val="solid"/>
          </a:ln>
        </p:spPr>
        <p:txBody>
          <a:bodyPr/>
          <a:lstStyle/>
          <a:p>
            <a:endParaRPr lang="en-US" sz="576" noProof="0"/>
          </a:p>
        </p:txBody>
      </p:sp>
      <p:sp>
        <p:nvSpPr>
          <p:cNvPr id="3" name="Shape 1">
            <a:extLst>
              <a:ext uri="{FF2B5EF4-FFF2-40B4-BE49-F238E27FC236}">
                <a16:creationId xmlns:a16="http://schemas.microsoft.com/office/drawing/2014/main" id="{D2DC6802-1771-F04A-3BB7-A102EF6D12AE}"/>
              </a:ext>
            </a:extLst>
          </p:cNvPr>
          <p:cNvSpPr/>
          <p:nvPr/>
        </p:nvSpPr>
        <p:spPr>
          <a:xfrm>
            <a:off x="0" y="0"/>
            <a:ext cx="12192000" cy="670560"/>
          </a:xfrm>
          <a:prstGeom prst="rect">
            <a:avLst/>
          </a:prstGeom>
          <a:solidFill>
            <a:srgbClr val="FFFFFF"/>
          </a:solidFill>
          <a:ln w="12700">
            <a:solidFill>
              <a:srgbClr val="FFFFFF"/>
            </a:solidFill>
            <a:prstDash val="solid"/>
          </a:ln>
        </p:spPr>
        <p:txBody>
          <a:bodyPr/>
          <a:lstStyle/>
          <a:p>
            <a:endParaRPr lang="en-US" sz="576" noProof="0"/>
          </a:p>
        </p:txBody>
      </p:sp>
      <p:sp>
        <p:nvSpPr>
          <p:cNvPr id="6" name="Text 4">
            <a:extLst>
              <a:ext uri="{FF2B5EF4-FFF2-40B4-BE49-F238E27FC236}">
                <a16:creationId xmlns:a16="http://schemas.microsoft.com/office/drawing/2014/main" id="{D8403C25-2146-4BCE-60E4-0CA1BBB9FC60}"/>
              </a:ext>
            </a:extLst>
          </p:cNvPr>
          <p:cNvSpPr/>
          <p:nvPr/>
        </p:nvSpPr>
        <p:spPr>
          <a:xfrm>
            <a:off x="243840" y="6495288"/>
            <a:ext cx="11704320" cy="179832"/>
          </a:xfrm>
          <a:prstGeom prst="rect">
            <a:avLst/>
          </a:prstGeom>
          <a:noFill/>
          <a:ln/>
        </p:spPr>
        <p:txBody>
          <a:bodyPr wrap="square" lIns="0" tIns="0" rIns="0" bIns="0" rtlCol="0" anchor="t"/>
          <a:lstStyle/>
          <a:p>
            <a:pPr>
              <a:lnSpc>
                <a:spcPct val="116667"/>
              </a:lnSpc>
            </a:pPr>
            <a:r>
              <a:rPr lang="en-US" sz="1152" kern="0" spc="-23" noProof="0">
                <a:solidFill>
                  <a:srgbClr val="FFFFFF"/>
                </a:solidFill>
                <a:latin typeface="Inter" pitchFamily="34" charset="0"/>
                <a:ea typeface="Inter" pitchFamily="34" charset="-122"/>
                <a:cs typeface="Inter" pitchFamily="34" charset="-120"/>
              </a:rPr>
              <a:t>Plus de </a:t>
            </a:r>
            <a:r>
              <a:rPr lang="en-US" sz="1152" kern="0" spc="-23" noProof="0" err="1">
                <a:solidFill>
                  <a:srgbClr val="FFFFFF"/>
                </a:solidFill>
                <a:latin typeface="Inter" pitchFamily="34" charset="0"/>
                <a:ea typeface="Inter" pitchFamily="34" charset="-122"/>
                <a:cs typeface="Inter" pitchFamily="34" charset="-120"/>
              </a:rPr>
              <a:t>détails</a:t>
            </a:r>
            <a:r>
              <a:rPr lang="en-US" sz="1152" kern="0" spc="-23" noProof="0">
                <a:solidFill>
                  <a:srgbClr val="FFFFFF"/>
                </a:solidFill>
                <a:latin typeface="Inter" pitchFamily="34" charset="0"/>
                <a:ea typeface="Inter" pitchFamily="34" charset="-122"/>
                <a:cs typeface="Inter" pitchFamily="34" charset="-120"/>
              </a:rPr>
              <a:t> sur la </a:t>
            </a:r>
            <a:r>
              <a:rPr lang="en-US" sz="1152" kern="0" spc="-23" noProof="0" err="1">
                <a:solidFill>
                  <a:srgbClr val="FFFFFF"/>
                </a:solidFill>
                <a:latin typeface="Inter" pitchFamily="34" charset="0"/>
                <a:ea typeface="Inter" pitchFamily="34" charset="-122"/>
                <a:cs typeface="Inter" pitchFamily="34" charset="-120"/>
              </a:rPr>
              <a:t>méthodologie</a:t>
            </a:r>
            <a:r>
              <a:rPr lang="en-US" sz="1152" kern="0" spc="-23" noProof="0">
                <a:solidFill>
                  <a:srgbClr val="FFFFFF"/>
                </a:solidFill>
                <a:latin typeface="Inter" pitchFamily="34" charset="0"/>
                <a:ea typeface="Inter" pitchFamily="34" charset="-122"/>
                <a:cs typeface="Inter" pitchFamily="34" charset="-120"/>
              </a:rPr>
              <a:t> </a:t>
            </a:r>
            <a:r>
              <a:rPr lang="en-US" sz="1152" kern="0" spc="-23" noProof="0" err="1">
                <a:solidFill>
                  <a:srgbClr val="FFFFFF"/>
                </a:solidFill>
                <a:latin typeface="Inter" pitchFamily="34" charset="0"/>
                <a:ea typeface="Inter" pitchFamily="34" charset="-122"/>
                <a:cs typeface="Inter" pitchFamily="34" charset="-120"/>
              </a:rPr>
              <a:t>sont</a:t>
            </a:r>
            <a:r>
              <a:rPr lang="en-US" sz="1152" kern="0" spc="-23" noProof="0">
                <a:solidFill>
                  <a:srgbClr val="FFFFFF"/>
                </a:solidFill>
                <a:latin typeface="Inter" pitchFamily="34" charset="0"/>
                <a:ea typeface="Inter" pitchFamily="34" charset="-122"/>
                <a:cs typeface="Inter" pitchFamily="34" charset="-120"/>
              </a:rPr>
              <a:t> </a:t>
            </a:r>
            <a:r>
              <a:rPr lang="en-US" sz="1152" kern="0" spc="-23" noProof="0" err="1">
                <a:solidFill>
                  <a:srgbClr val="FFFFFF"/>
                </a:solidFill>
                <a:latin typeface="Inter" pitchFamily="34" charset="0"/>
                <a:ea typeface="Inter" pitchFamily="34" charset="-122"/>
                <a:cs typeface="Inter" pitchFamily="34" charset="-120"/>
              </a:rPr>
              <a:t>disponibles</a:t>
            </a:r>
            <a:r>
              <a:rPr lang="en-US" sz="1152" kern="0" spc="-23" noProof="0">
                <a:solidFill>
                  <a:srgbClr val="FFFFFF"/>
                </a:solidFill>
                <a:latin typeface="Inter" pitchFamily="34" charset="0"/>
                <a:ea typeface="Inter" pitchFamily="34" charset="-122"/>
                <a:cs typeface="Inter" pitchFamily="34" charset="-120"/>
              </a:rPr>
              <a:t> sur GitHub (https://fastr-analytics.github.io/fastr-resource-hub/).</a:t>
            </a:r>
            <a:endParaRPr lang="en-US" sz="1152" noProof="0"/>
          </a:p>
        </p:txBody>
      </p:sp>
      <p:sp>
        <p:nvSpPr>
          <p:cNvPr id="11" name="Rectangle 10">
            <a:extLst>
              <a:ext uri="{FF2B5EF4-FFF2-40B4-BE49-F238E27FC236}">
                <a16:creationId xmlns:a16="http://schemas.microsoft.com/office/drawing/2014/main" id="{B66DA004-1B36-92C4-A7A9-BCF2BAF7D07B}"/>
              </a:ext>
            </a:extLst>
          </p:cNvPr>
          <p:cNvSpPr/>
          <p:nvPr/>
        </p:nvSpPr>
        <p:spPr>
          <a:xfrm>
            <a:off x="0" y="6505575"/>
            <a:ext cx="12192000" cy="352425"/>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6" name="Group 15">
            <a:extLst>
              <a:ext uri="{FF2B5EF4-FFF2-40B4-BE49-F238E27FC236}">
                <a16:creationId xmlns:a16="http://schemas.microsoft.com/office/drawing/2014/main" id="{9DED45C9-EA58-BDE4-3E76-84AF03F5362D}"/>
              </a:ext>
            </a:extLst>
          </p:cNvPr>
          <p:cNvGrpSpPr/>
          <p:nvPr/>
        </p:nvGrpSpPr>
        <p:grpSpPr>
          <a:xfrm>
            <a:off x="285493" y="961726"/>
            <a:ext cx="11621015" cy="5313968"/>
            <a:chOff x="285493" y="1085481"/>
            <a:chExt cx="11621015" cy="5086720"/>
          </a:xfrm>
        </p:grpSpPr>
        <p:sp>
          <p:nvSpPr>
            <p:cNvPr id="14" name="Rectangle 13">
              <a:extLst>
                <a:ext uri="{FF2B5EF4-FFF2-40B4-BE49-F238E27FC236}">
                  <a16:creationId xmlns:a16="http://schemas.microsoft.com/office/drawing/2014/main" id="{9A8F7C1A-C2BA-3FA6-11C6-70F37436F14A}"/>
                </a:ext>
              </a:extLst>
            </p:cNvPr>
            <p:cNvSpPr/>
            <p:nvPr/>
          </p:nvSpPr>
          <p:spPr>
            <a:xfrm>
              <a:off x="285493" y="1085481"/>
              <a:ext cx="11621015" cy="4989189"/>
            </a:xfrm>
            <a:prstGeom prst="rect">
              <a:avLst/>
            </a:prstGeom>
            <a:solidFill>
              <a:srgbClr val="F2F2F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5" name="Text Placeholder 2">
              <a:extLst>
                <a:ext uri="{FF2B5EF4-FFF2-40B4-BE49-F238E27FC236}">
                  <a16:creationId xmlns:a16="http://schemas.microsoft.com/office/drawing/2014/main" id="{D23F2E48-23E9-27A0-A4D2-37ACE857C3F8}"/>
                </a:ext>
              </a:extLst>
            </p:cNvPr>
            <p:cNvSpPr txBox="1">
              <a:spLocks/>
            </p:cNvSpPr>
            <p:nvPr/>
          </p:nvSpPr>
          <p:spPr>
            <a:xfrm>
              <a:off x="541148" y="1289723"/>
              <a:ext cx="11232498" cy="4882478"/>
            </a:xfrm>
            <a:prstGeom prst="rect">
              <a:avLst/>
            </a:prstGeom>
          </p:spPr>
          <p:txBody>
            <a:bodyPr vert="horz" lIns="0" tIns="0" rIns="0" bIns="0" numCol="1" spcCol="180000" rtlCol="0" anchor="t">
              <a:normAutofit/>
            </a:bodyPr>
            <a:lstStyle>
              <a:lvl1pPr marL="0" indent="0" algn="l" defTabSz="914400" rtl="0" eaLnBrk="1" latinLnBrk="0" hangingPunct="1">
                <a:lnSpc>
                  <a:spcPct val="110000"/>
                </a:lnSpc>
                <a:spcBef>
                  <a:spcPts val="0"/>
                </a:spcBef>
                <a:spcAft>
                  <a:spcPts val="0"/>
                </a:spcAft>
                <a:buClr>
                  <a:schemeClr val="bg2"/>
                </a:buClr>
                <a:buFont typeface="Arial" panose="020B0604020202020204" pitchFamily="34" charset="0"/>
                <a:buNone/>
                <a:defRPr sz="2000" b="1" kern="1200">
                  <a:solidFill>
                    <a:schemeClr val="tx2">
                      <a:lumMod val="50000"/>
                    </a:schemeClr>
                  </a:solidFill>
                  <a:latin typeface="Arial" panose="020B0604020202020204" pitchFamily="34" charset="0"/>
                  <a:ea typeface="+mn-ea"/>
                  <a:cs typeface="Arial" panose="020B0604020202020204" pitchFamily="34" charset="0"/>
                </a:defRPr>
              </a:lvl1pPr>
              <a:lvl2pPr marL="3444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800" kern="1200">
                  <a:solidFill>
                    <a:schemeClr val="tx2">
                      <a:lumMod val="50000"/>
                    </a:schemeClr>
                  </a:solidFill>
                  <a:latin typeface="Arial" panose="020B0604020202020204" pitchFamily="34" charset="0"/>
                  <a:ea typeface="+mn-ea"/>
                  <a:cs typeface="Arial" panose="020B0604020202020204" pitchFamily="34" charset="0"/>
                </a:defRPr>
              </a:lvl2pPr>
              <a:lvl3pPr marL="8016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900"/>
                </a:lnSpc>
                <a:spcBef>
                  <a:spcPts val="0"/>
                </a:spcBef>
                <a:spcAft>
                  <a:spcPts val="0"/>
                </a:spcAft>
                <a:buClr>
                  <a:srgbClr val="00A1DF"/>
                </a:buClr>
                <a:buSzTx/>
                <a:buFont typeface="Arial" panose="020B0604020202020204" pitchFamily="34" charset="0"/>
                <a:buNone/>
                <a:tabLst/>
                <a:defRPr/>
              </a:pPr>
              <a:r>
                <a:rPr lang="en-US" sz="1500" b="0" noProof="0">
                  <a:solidFill>
                    <a:schemeClr val="tx1"/>
                  </a:solidFill>
                  <a:latin typeface="Poppins" panose="00000500000000000000" pitchFamily="2" charset="0"/>
                  <a:ea typeface="Inter"/>
                  <a:cs typeface="Poppins" panose="00000500000000000000" pitchFamily="2" charset="0"/>
                </a:rPr>
                <a:t>In </a:t>
              </a:r>
              <a:r>
                <a:rPr lang="en-US" sz="1500" noProof="0">
                  <a:solidFill>
                    <a:schemeClr val="tx1"/>
                  </a:solidFill>
                  <a:latin typeface="Poppins" panose="00000500000000000000" pitchFamily="2" charset="0"/>
                  <a:ea typeface="Inter"/>
                  <a:cs typeface="Poppins" panose="00000500000000000000" pitchFamily="2" charset="0"/>
                </a:rPr>
                <a:t>Sierra Leone</a:t>
              </a:r>
              <a:r>
                <a:rPr lang="en-US" sz="1500" b="0" noProof="0">
                  <a:solidFill>
                    <a:schemeClr val="tx1"/>
                  </a:solidFill>
                  <a:latin typeface="Poppins" panose="00000500000000000000" pitchFamily="2" charset="0"/>
                  <a:ea typeface="Inter"/>
                  <a:cs typeface="Poppins" panose="00000500000000000000" pitchFamily="2" charset="0"/>
                </a:rPr>
                <a:t>, the </a:t>
              </a:r>
              <a:r>
                <a:rPr lang="en-US" sz="1500" noProof="0">
                  <a:solidFill>
                    <a:schemeClr val="tx1"/>
                  </a:solidFill>
                  <a:latin typeface="Poppins" panose="00000500000000000000" pitchFamily="2" charset="0"/>
                  <a:ea typeface="Inter"/>
                  <a:cs typeface="Poppins" panose="00000500000000000000" pitchFamily="2" charset="0"/>
                </a:rPr>
                <a:t>Ministry of Health </a:t>
              </a:r>
              <a:r>
                <a:rPr lang="en-US" sz="1500" b="0" noProof="0">
                  <a:solidFill>
                    <a:schemeClr val="tx1"/>
                  </a:solidFill>
                  <a:latin typeface="Poppins" panose="00000500000000000000" pitchFamily="2" charset="0"/>
                  <a:ea typeface="Inter"/>
                  <a:cs typeface="Poppins" panose="00000500000000000000" pitchFamily="2" charset="0"/>
                </a:rPr>
                <a:t>with support from the Global Financing Facility for Women, Children, and Adolescents (GFF) and the World Bank, is implementing a series of </a:t>
              </a:r>
              <a:r>
                <a:rPr lang="en-US" sz="1500" noProof="0">
                  <a:solidFill>
                    <a:schemeClr val="tx1"/>
                  </a:solidFill>
                  <a:latin typeface="Poppins" panose="00000500000000000000" pitchFamily="2" charset="0"/>
                  <a:ea typeface="Inter"/>
                  <a:cs typeface="Poppins" panose="00000500000000000000" pitchFamily="2" charset="0"/>
                </a:rPr>
                <a:t>rapid phone surveys of primary health care facilities </a:t>
              </a:r>
              <a:r>
                <a:rPr lang="en-US" sz="1500" b="0" noProof="0">
                  <a:solidFill>
                    <a:schemeClr val="tx1"/>
                  </a:solidFill>
                  <a:latin typeface="Poppins" panose="00000500000000000000" pitchFamily="2" charset="0"/>
                  <a:ea typeface="Inter"/>
                  <a:cs typeface="Poppins" panose="00000500000000000000" pitchFamily="2" charset="0"/>
                </a:rPr>
                <a:t>under the FASTR initiative.</a:t>
              </a:r>
            </a:p>
            <a:p>
              <a:pPr marL="0" marR="0" lvl="0" indent="0" algn="l" defTabSz="914400" rtl="0" eaLnBrk="1" fontAlgn="auto" latinLnBrk="0" hangingPunct="1">
                <a:lnSpc>
                  <a:spcPts val="1900"/>
                </a:lnSpc>
                <a:spcBef>
                  <a:spcPts val="0"/>
                </a:spcBef>
                <a:spcAft>
                  <a:spcPts val="0"/>
                </a:spcAft>
                <a:buClr>
                  <a:srgbClr val="00A1DF"/>
                </a:buClr>
                <a:buSzTx/>
                <a:buFont typeface="Arial" panose="020B0604020202020204" pitchFamily="34" charset="0"/>
                <a:buNone/>
                <a:tabLst/>
                <a:defRPr/>
              </a:pPr>
              <a:endPar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endParaRPr>
            </a:p>
            <a:p>
              <a:pPr marL="0" marR="0" lvl="0" indent="0" algn="l" defTabSz="914400" rtl="0" eaLnBrk="1" fontAlgn="auto" latinLnBrk="0" hangingPunct="1">
                <a:lnSpc>
                  <a:spcPts val="1900"/>
                </a:lnSpc>
                <a:spcBef>
                  <a:spcPts val="0"/>
                </a:spcBef>
                <a:spcAft>
                  <a:spcPts val="600"/>
                </a:spcAft>
                <a:buClr>
                  <a:srgbClr val="00A1DF"/>
                </a:buClr>
                <a:buSzTx/>
                <a:buFont typeface="Arial" panose="020B0604020202020204" pitchFamily="34" charset="0"/>
                <a:buNone/>
                <a:tabLst/>
                <a:defRPr/>
              </a:pP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Objectives</a:t>
              </a:r>
              <a:r>
                <a:rPr kumimoji="0" lang="en-US" sz="150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rPr>
                <a:t>:</a:t>
              </a:r>
            </a:p>
            <a:p>
              <a:pPr marL="342900" indent="-342900">
                <a:lnSpc>
                  <a:spcPts val="1900"/>
                </a:lnSpc>
                <a:spcBef>
                  <a:spcPts val="600"/>
                </a:spcBef>
                <a:buClr>
                  <a:srgbClr val="00A1DF"/>
                </a:buClr>
                <a:buFont typeface="Arial" panose="020B0604020202020204" pitchFamily="34" charset="0"/>
                <a:buChar char="•"/>
                <a:defRPr/>
              </a:pPr>
              <a:r>
                <a:rPr lang="en-US" sz="1500" b="0" noProof="0">
                  <a:solidFill>
                    <a:schemeClr val="tx1"/>
                  </a:solidFill>
                  <a:latin typeface="Poppins" panose="00000500000000000000" pitchFamily="2" charset="0"/>
                  <a:ea typeface="Inter"/>
                  <a:cs typeface="Poppins" panose="00000500000000000000" pitchFamily="2" charset="0"/>
                </a:rPr>
                <a:t>Provide up-to-date snapshots of primary health care (PHC) facility performance, enabling the </a:t>
              </a:r>
              <a:r>
                <a:rPr lang="en-US" sz="1500" noProof="0">
                  <a:solidFill>
                    <a:schemeClr val="tx1"/>
                  </a:solidFill>
                  <a:latin typeface="Poppins" panose="00000500000000000000" pitchFamily="2" charset="0"/>
                  <a:ea typeface="Inter"/>
                  <a:cs typeface="Poppins" panose="00000500000000000000" pitchFamily="2" charset="0"/>
                </a:rPr>
                <a:t>rapid identification of critical gaps and service delivery readiness challenges </a:t>
              </a:r>
              <a:r>
                <a:rPr lang="en-US" sz="1500" b="0" noProof="0">
                  <a:solidFill>
                    <a:schemeClr val="tx1"/>
                  </a:solidFill>
                  <a:latin typeface="Poppins" panose="00000500000000000000" pitchFamily="2" charset="0"/>
                  <a:ea typeface="Inter"/>
                  <a:cs typeface="Poppins" panose="00000500000000000000" pitchFamily="2" charset="0"/>
                </a:rPr>
                <a:t>at both national and subnational levels. </a:t>
              </a:r>
            </a:p>
            <a:p>
              <a:pPr marL="342900" indent="-342900">
                <a:lnSpc>
                  <a:spcPts val="1900"/>
                </a:lnSpc>
                <a:spcBef>
                  <a:spcPts val="600"/>
                </a:spcBef>
                <a:buClr>
                  <a:srgbClr val="00A1DF"/>
                </a:buClr>
                <a:buFont typeface="Arial" panose="020B0604020202020204" pitchFamily="34" charset="0"/>
                <a:buChar char="•"/>
                <a:defRPr/>
              </a:pPr>
              <a:r>
                <a:rPr lang="en-US" sz="1500" b="0" noProof="0">
                  <a:solidFill>
                    <a:schemeClr val="tx1"/>
                  </a:solidFill>
                  <a:latin typeface="Poppins"/>
                  <a:ea typeface="Inter"/>
                  <a:cs typeface="Poppins"/>
                </a:rPr>
                <a:t>Support </a:t>
              </a:r>
              <a:r>
                <a:rPr lang="en-US" sz="1500" noProof="0">
                  <a:solidFill>
                    <a:schemeClr val="tx1"/>
                  </a:solidFill>
                  <a:latin typeface="Poppins"/>
                  <a:ea typeface="Inter"/>
                  <a:cs typeface="Poppins"/>
                </a:rPr>
                <a:t>continuous monitoring of program and reform implementation,</a:t>
              </a:r>
              <a:r>
                <a:rPr lang="en-US" sz="1500" b="0" noProof="0">
                  <a:solidFill>
                    <a:schemeClr val="tx1"/>
                  </a:solidFill>
                  <a:latin typeface="Poppins"/>
                  <a:ea typeface="Inter"/>
                  <a:cs typeface="Poppins"/>
                </a:rPr>
                <a:t> facilitating timely course-correction and evidence-based decision-making – ultimately strengthening PHC systems and improving reproductive, maternal, newborn, child, and adolescent health and nutrition (RMNCAH-N) outcomes.</a:t>
              </a:r>
            </a:p>
            <a:p>
              <a:pPr marL="342900" marR="0" lvl="0" indent="-342900" algn="l" defTabSz="914400" rtl="0" eaLnBrk="1" fontAlgn="auto" latinLnBrk="0" hangingPunct="1">
                <a:lnSpc>
                  <a:spcPts val="1900"/>
                </a:lnSpc>
                <a:spcBef>
                  <a:spcPts val="0"/>
                </a:spcBef>
                <a:spcAft>
                  <a:spcPts val="0"/>
                </a:spcAft>
                <a:buClr>
                  <a:srgbClr val="00A1DF"/>
                </a:buClr>
                <a:buSzTx/>
                <a:buFontTx/>
                <a:buChar char="-"/>
                <a:tabLst/>
                <a:defRPr/>
              </a:pPr>
              <a:endPar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endParaRPr>
            </a:p>
            <a:p>
              <a:pPr marL="0" marR="0" lvl="0" indent="0" algn="l" defTabSz="914400" rtl="0" eaLnBrk="1" fontAlgn="auto" latinLnBrk="0" hangingPunct="1">
                <a:lnSpc>
                  <a:spcPts val="1900"/>
                </a:lnSpc>
                <a:spcBef>
                  <a:spcPts val="0"/>
                </a:spcBef>
                <a:spcAft>
                  <a:spcPts val="600"/>
                </a:spcAft>
                <a:buClr>
                  <a:srgbClr val="00A1DF"/>
                </a:buClr>
                <a:buSzTx/>
                <a:buFont typeface="Arial" panose="020B0604020202020204" pitchFamily="34" charset="0"/>
                <a:buNone/>
                <a:tabLst/>
                <a:defRPr/>
              </a:pPr>
              <a:r>
                <a:rPr kumimoji="0" lang="en-US" sz="150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rPr>
                <a:t>Implementation:</a:t>
              </a:r>
            </a:p>
            <a:p>
              <a:pPr marL="342900" lvl="0" indent="-342900">
                <a:lnSpc>
                  <a:spcPts val="1900"/>
                </a:lnSpc>
                <a:spcBef>
                  <a:spcPts val="600"/>
                </a:spcBef>
                <a:buClr>
                  <a:srgbClr val="00A1DF"/>
                </a:buClr>
                <a:buFont typeface="Arial" panose="020B0604020202020204" pitchFamily="34" charset="0"/>
                <a:buChar char="•"/>
              </a:pPr>
              <a:r>
                <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rPr>
                <a:t>Overall leadership, tool adaptation, and implementation are led by the Ministry of Health.</a:t>
              </a:r>
            </a:p>
            <a:p>
              <a:pPr marL="342900" indent="-342900">
                <a:lnSpc>
                  <a:spcPts val="1900"/>
                </a:lnSpc>
                <a:spcBef>
                  <a:spcPts val="600"/>
                </a:spcBef>
                <a:buClr>
                  <a:srgbClr val="00A1DF"/>
                </a:buClr>
                <a:buFont typeface="Arial" panose="020B0604020202020204" pitchFamily="34" charset="0"/>
                <a:buChar char="•"/>
              </a:pPr>
              <a:r>
                <a:rPr kumimoji="0" lang="en-US" sz="1500" b="0" i="0" u="none" strike="noStrike" kern="1200" cap="none" spc="0" normalizeH="0" baseline="0" noProof="0">
                  <a:ln>
                    <a:noFill/>
                  </a:ln>
                  <a:solidFill>
                    <a:schemeClr val="tx1"/>
                  </a:solidFill>
                  <a:effectLst/>
                  <a:uLnTx/>
                  <a:uFillTx/>
                  <a:latin typeface="Poppins"/>
                  <a:ea typeface="Inter"/>
                  <a:cs typeface="Poppins"/>
                </a:rPr>
                <a:t>Data collection</a:t>
              </a:r>
              <a:r>
                <a:rPr lang="en-US" sz="1500" b="0">
                  <a:solidFill>
                    <a:schemeClr val="tx1"/>
                  </a:solidFill>
                  <a:latin typeface="Poppins"/>
                  <a:ea typeface="Inter"/>
                  <a:cs typeface="Poppins"/>
                </a:rPr>
                <a:t> was</a:t>
              </a:r>
              <a:r>
                <a:rPr kumimoji="0" lang="en-US" sz="1500" b="0" i="0" u="none" strike="noStrike" kern="1200" cap="none" spc="0" normalizeH="0" baseline="0" noProof="0">
                  <a:ln>
                    <a:noFill/>
                  </a:ln>
                  <a:solidFill>
                    <a:schemeClr val="tx1"/>
                  </a:solidFill>
                  <a:effectLst/>
                  <a:uLnTx/>
                  <a:uFillTx/>
                  <a:latin typeface="Poppins"/>
                  <a:ea typeface="Inter"/>
                  <a:cs typeface="Poppins"/>
                </a:rPr>
                <a:t> conducted by </a:t>
              </a:r>
              <a:r>
                <a:rPr kumimoji="0" lang="en-US" sz="1500" b="0" i="0" u="none" strike="noStrike" kern="1200" cap="none" spc="0" normalizeH="0" baseline="0" noProof="0" err="1">
                  <a:ln>
                    <a:noFill/>
                  </a:ln>
                  <a:solidFill>
                    <a:schemeClr val="tx1"/>
                  </a:solidFill>
                  <a:effectLst/>
                  <a:uLnTx/>
                  <a:uFillTx/>
                  <a:latin typeface="Poppins"/>
                  <a:ea typeface="Inter"/>
                  <a:cs typeface="Poppins"/>
                </a:rPr>
                <a:t>NOIPolls</a:t>
              </a:r>
              <a:r>
                <a:rPr kumimoji="0" lang="en-US" sz="1500" b="0" i="0" u="none" strike="noStrike" kern="1200" cap="none" spc="0" normalizeH="0" baseline="0" noProof="0">
                  <a:ln>
                    <a:noFill/>
                  </a:ln>
                  <a:solidFill>
                    <a:schemeClr val="tx1"/>
                  </a:solidFill>
                  <a:effectLst/>
                  <a:uLnTx/>
                  <a:uFillTx/>
                  <a:latin typeface="Poppins"/>
                  <a:ea typeface="Inter"/>
                  <a:cs typeface="Poppins"/>
                </a:rPr>
                <a:t>.</a:t>
              </a:r>
              <a:endParaRPr lang="en-US" sz="1500" b="0" i="0" u="none" strike="noStrike" kern="1200" cap="none" spc="0" normalizeH="0" baseline="0" noProof="0">
                <a:ln>
                  <a:noFill/>
                </a:ln>
                <a:solidFill>
                  <a:schemeClr val="tx1"/>
                </a:solidFill>
                <a:effectLst/>
                <a:uLnTx/>
                <a:uFillTx/>
                <a:latin typeface="Poppins"/>
                <a:ea typeface="Inter"/>
                <a:cs typeface="Poppins"/>
              </a:endParaRPr>
            </a:p>
            <a:p>
              <a:pPr marL="342900" indent="-342900">
                <a:lnSpc>
                  <a:spcPts val="1900"/>
                </a:lnSpc>
                <a:spcBef>
                  <a:spcPts val="600"/>
                </a:spcBef>
                <a:buClr>
                  <a:srgbClr val="00A1DF"/>
                </a:buClr>
                <a:buFont typeface="Arial" panose="020B0604020202020204" pitchFamily="34" charset="0"/>
                <a:buChar char="•"/>
              </a:pPr>
              <a:r>
                <a:rPr lang="en-US" sz="1500" b="0">
                  <a:solidFill>
                    <a:schemeClr val="tx1"/>
                  </a:solidFill>
                  <a:latin typeface="Poppins"/>
                  <a:ea typeface="Inter" panose="02000503000000020004" pitchFamily="2" charset="0"/>
                  <a:cs typeface="Poppins"/>
                </a:rPr>
                <a:t>No ethical approval was obtained; The Ministry of Health provided an authorization letter for the assessment.</a:t>
              </a:r>
              <a:endParaRPr lang="en-US" sz="1500" b="0" noProof="0">
                <a:solidFill>
                  <a:schemeClr val="tx1"/>
                </a:solidFill>
                <a:latin typeface="Poppins"/>
                <a:ea typeface="Inter" panose="02000503000000020004" pitchFamily="2" charset="0"/>
                <a:cs typeface="Poppins"/>
              </a:endParaRPr>
            </a:p>
            <a:p>
              <a:pPr lvl="0">
                <a:lnSpc>
                  <a:spcPts val="1900"/>
                </a:lnSpc>
                <a:spcBef>
                  <a:spcPts val="600"/>
                </a:spcBef>
                <a:buClr>
                  <a:srgbClr val="00A1DF"/>
                </a:buClr>
              </a:pPr>
              <a:endPar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endParaRPr>
            </a:p>
            <a:p>
              <a:pPr marR="0" lvl="0" algn="l" defTabSz="914400" rtl="0" eaLnBrk="1" fontAlgn="auto" latinLnBrk="0" hangingPunct="1">
                <a:lnSpc>
                  <a:spcPts val="1900"/>
                </a:lnSpc>
                <a:spcBef>
                  <a:spcPts val="0"/>
                </a:spcBef>
                <a:spcAft>
                  <a:spcPts val="0"/>
                </a:spcAft>
                <a:buClr>
                  <a:srgbClr val="00A1DF"/>
                </a:buClr>
                <a:buSzTx/>
                <a:tabLst/>
                <a:defRPr/>
              </a:pP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One round of survey </a:t>
              </a: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was completed in 2026. </a:t>
              </a: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3 quarterly rounds </a:t>
              </a: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are planned throughout 2026.</a:t>
              </a:r>
              <a:endPar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endParaRPr>
            </a:p>
          </p:txBody>
        </p:sp>
      </p:grpSp>
      <p:pic>
        <p:nvPicPr>
          <p:cNvPr id="5" name="Graphic 4">
            <a:extLst>
              <a:ext uri="{FF2B5EF4-FFF2-40B4-BE49-F238E27FC236}">
                <a16:creationId xmlns:a16="http://schemas.microsoft.com/office/drawing/2014/main" id="{075287EF-B59F-459E-B52D-9E6849FBB9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grpSp>
        <p:nvGrpSpPr>
          <p:cNvPr id="7" name="Group 6">
            <a:extLst>
              <a:ext uri="{FF2B5EF4-FFF2-40B4-BE49-F238E27FC236}">
                <a16:creationId xmlns:a16="http://schemas.microsoft.com/office/drawing/2014/main" id="{B160269E-3C4F-3FE2-EDBF-03F71E7DDCC8}"/>
              </a:ext>
            </a:extLst>
          </p:cNvPr>
          <p:cNvGrpSpPr/>
          <p:nvPr/>
        </p:nvGrpSpPr>
        <p:grpSpPr>
          <a:xfrm>
            <a:off x="-4033" y="-14836"/>
            <a:ext cx="12196033" cy="741216"/>
            <a:chOff x="-4033" y="-14836"/>
            <a:chExt cx="12196033" cy="741216"/>
          </a:xfrm>
        </p:grpSpPr>
        <p:sp>
          <p:nvSpPr>
            <p:cNvPr id="8" name="Rectangle 7">
              <a:extLst>
                <a:ext uri="{FF2B5EF4-FFF2-40B4-BE49-F238E27FC236}">
                  <a16:creationId xmlns:a16="http://schemas.microsoft.com/office/drawing/2014/main" id="{D702F6CC-C7EA-0998-80A8-87C813E8C540}"/>
                </a:ext>
              </a:extLst>
            </p:cNvPr>
            <p:cNvSpPr/>
            <p:nvPr/>
          </p:nvSpPr>
          <p:spPr>
            <a:xfrm>
              <a:off x="-4033" y="-14836"/>
              <a:ext cx="596219" cy="71066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1E56F20E-37BB-AABD-EF7B-DF39211F4EE9}"/>
                </a:ext>
              </a:extLst>
            </p:cNvPr>
            <p:cNvSpPr txBox="1">
              <a:spLocks/>
            </p:cNvSpPr>
            <p:nvPr/>
          </p:nvSpPr>
          <p:spPr>
            <a:xfrm>
              <a:off x="592186" y="15712"/>
              <a:ext cx="11599814" cy="710668"/>
            </a:xfrm>
            <a:prstGeom prst="rect">
              <a:avLst/>
            </a:prstGeom>
            <a:solidFill>
              <a:srgbClr val="ECF4F3">
                <a:alpha val="80000"/>
              </a:srgb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288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95457"/>
                  </a:solidFill>
                  <a:effectLst/>
                  <a:uLnTx/>
                  <a:uFillTx/>
                  <a:latin typeface="Poppins Bold" panose="00000800000000000000" pitchFamily="2" charset="0"/>
                  <a:ea typeface="Inter" panose="02000503000000020004" pitchFamily="2" charset="0"/>
                  <a:cs typeface="Poppins Bold" panose="00000800000000000000" pitchFamily="2" charset="0"/>
                </a:rPr>
                <a:t>Objectives and Approach</a:t>
              </a:r>
            </a:p>
          </p:txBody>
        </p:sp>
      </p:grpSp>
    </p:spTree>
    <p:extLst>
      <p:ext uri="{BB962C8B-B14F-4D97-AF65-F5344CB8AC3E}">
        <p14:creationId xmlns:p14="http://schemas.microsoft.com/office/powerpoint/2010/main" val="71527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4BB1-2F4F-8FF3-D02F-4E9E955950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9C6AA48-C0FF-8527-F914-00668624893A}"/>
              </a:ext>
            </a:extLst>
          </p:cNvPr>
          <p:cNvSpPr/>
          <p:nvPr/>
        </p:nvSpPr>
        <p:spPr>
          <a:xfrm>
            <a:off x="0" y="0"/>
            <a:ext cx="12192000" cy="6858000"/>
          </a:xfrm>
          <a:prstGeom prst="rect">
            <a:avLst/>
          </a:prstGeom>
          <a:solidFill>
            <a:srgbClr val="FFFFFF"/>
          </a:solidFill>
          <a:ln w="12700">
            <a:solidFill>
              <a:srgbClr val="FFFFFF"/>
            </a:solidFill>
            <a:prstDash val="solid"/>
          </a:ln>
        </p:spPr>
        <p:txBody>
          <a:bodyPr/>
          <a:lstStyle/>
          <a:p>
            <a:endParaRPr lang="en-US" sz="576" noProof="0"/>
          </a:p>
        </p:txBody>
      </p:sp>
      <p:sp>
        <p:nvSpPr>
          <p:cNvPr id="3" name="Shape 1">
            <a:extLst>
              <a:ext uri="{FF2B5EF4-FFF2-40B4-BE49-F238E27FC236}">
                <a16:creationId xmlns:a16="http://schemas.microsoft.com/office/drawing/2014/main" id="{3AD0599A-A9AC-5958-E6A8-D9295EDD7406}"/>
              </a:ext>
            </a:extLst>
          </p:cNvPr>
          <p:cNvSpPr/>
          <p:nvPr/>
        </p:nvSpPr>
        <p:spPr>
          <a:xfrm>
            <a:off x="0" y="0"/>
            <a:ext cx="12192000" cy="670560"/>
          </a:xfrm>
          <a:prstGeom prst="rect">
            <a:avLst/>
          </a:prstGeom>
          <a:solidFill>
            <a:srgbClr val="FFFFFF"/>
          </a:solidFill>
          <a:ln w="12700">
            <a:solidFill>
              <a:srgbClr val="FFFFFF"/>
            </a:solidFill>
            <a:prstDash val="solid"/>
          </a:ln>
        </p:spPr>
        <p:txBody>
          <a:bodyPr/>
          <a:lstStyle/>
          <a:p>
            <a:endParaRPr lang="en-US" sz="576" noProof="0"/>
          </a:p>
        </p:txBody>
      </p:sp>
      <p:pic>
        <p:nvPicPr>
          <p:cNvPr id="5" name="Graphic 4">
            <a:extLst>
              <a:ext uri="{FF2B5EF4-FFF2-40B4-BE49-F238E27FC236}">
                <a16:creationId xmlns:a16="http://schemas.microsoft.com/office/drawing/2014/main" id="{FF9C71F8-5172-D539-20E9-EBA0BA5D4D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grpSp>
        <p:nvGrpSpPr>
          <p:cNvPr id="7" name="Group 6">
            <a:extLst>
              <a:ext uri="{FF2B5EF4-FFF2-40B4-BE49-F238E27FC236}">
                <a16:creationId xmlns:a16="http://schemas.microsoft.com/office/drawing/2014/main" id="{40BCBB2D-FC4E-5C4B-602E-97387A78C6A3}"/>
              </a:ext>
            </a:extLst>
          </p:cNvPr>
          <p:cNvGrpSpPr/>
          <p:nvPr/>
        </p:nvGrpSpPr>
        <p:grpSpPr>
          <a:xfrm>
            <a:off x="-4033" y="-14836"/>
            <a:ext cx="12196033" cy="741216"/>
            <a:chOff x="-4033" y="-14836"/>
            <a:chExt cx="12196033" cy="741216"/>
          </a:xfrm>
        </p:grpSpPr>
        <p:sp>
          <p:nvSpPr>
            <p:cNvPr id="8" name="Rectangle 7">
              <a:extLst>
                <a:ext uri="{FF2B5EF4-FFF2-40B4-BE49-F238E27FC236}">
                  <a16:creationId xmlns:a16="http://schemas.microsoft.com/office/drawing/2014/main" id="{3EEF63B8-122B-E7FE-0DF7-0BCA97A03F5A}"/>
                </a:ext>
              </a:extLst>
            </p:cNvPr>
            <p:cNvSpPr/>
            <p:nvPr/>
          </p:nvSpPr>
          <p:spPr>
            <a:xfrm>
              <a:off x="-4033" y="-14836"/>
              <a:ext cx="596219" cy="71066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08B2D80A-5B1C-D37F-204A-84CF9C35A87C}"/>
                </a:ext>
              </a:extLst>
            </p:cNvPr>
            <p:cNvSpPr txBox="1">
              <a:spLocks/>
            </p:cNvSpPr>
            <p:nvPr/>
          </p:nvSpPr>
          <p:spPr>
            <a:xfrm>
              <a:off x="592186" y="15712"/>
              <a:ext cx="11599814" cy="710668"/>
            </a:xfrm>
            <a:prstGeom prst="rect">
              <a:avLst/>
            </a:prstGeom>
            <a:solidFill>
              <a:srgbClr val="ECF4F3">
                <a:alpha val="80000"/>
              </a:srgb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288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95457"/>
                  </a:solidFill>
                  <a:effectLst/>
                  <a:uLnTx/>
                  <a:uFillTx/>
                  <a:latin typeface="Poppins Bold" panose="00000800000000000000" pitchFamily="2" charset="0"/>
                  <a:ea typeface="Inter" panose="02000503000000020004" pitchFamily="2" charset="0"/>
                  <a:cs typeface="Poppins Bold" panose="00000800000000000000" pitchFamily="2" charset="0"/>
                </a:rPr>
                <a:t>Methodology</a:t>
              </a:r>
            </a:p>
          </p:txBody>
        </p:sp>
      </p:grpSp>
      <p:pic>
        <p:nvPicPr>
          <p:cNvPr id="31" name="Picture 30">
            <a:extLst>
              <a:ext uri="{FF2B5EF4-FFF2-40B4-BE49-F238E27FC236}">
                <a16:creationId xmlns:a16="http://schemas.microsoft.com/office/drawing/2014/main" id="{420CD9A3-3E8D-5EB1-B180-61554CD0C051}"/>
              </a:ext>
            </a:extLst>
          </p:cNvPr>
          <p:cNvPicPr>
            <a:picLocks noChangeAspect="1"/>
          </p:cNvPicPr>
          <p:nvPr/>
        </p:nvPicPr>
        <p:blipFill>
          <a:blip r:embed="rId5"/>
          <a:srcRect l="10028" r="13010"/>
          <a:stretch>
            <a:fillRect/>
          </a:stretch>
        </p:blipFill>
        <p:spPr>
          <a:xfrm>
            <a:off x="7979917" y="1268310"/>
            <a:ext cx="4106033" cy="4250767"/>
          </a:xfrm>
          <a:prstGeom prst="rect">
            <a:avLst/>
          </a:prstGeom>
        </p:spPr>
      </p:pic>
      <p:grpSp>
        <p:nvGrpSpPr>
          <p:cNvPr id="33" name="Group 32">
            <a:extLst>
              <a:ext uri="{FF2B5EF4-FFF2-40B4-BE49-F238E27FC236}">
                <a16:creationId xmlns:a16="http://schemas.microsoft.com/office/drawing/2014/main" id="{86EB371A-6017-EB8D-C638-200922D6929E}"/>
              </a:ext>
            </a:extLst>
          </p:cNvPr>
          <p:cNvGrpSpPr/>
          <p:nvPr/>
        </p:nvGrpSpPr>
        <p:grpSpPr>
          <a:xfrm>
            <a:off x="285494" y="878019"/>
            <a:ext cx="7427321" cy="5745159"/>
            <a:chOff x="285494" y="878019"/>
            <a:chExt cx="7427321" cy="5745159"/>
          </a:xfrm>
        </p:grpSpPr>
        <p:grpSp>
          <p:nvGrpSpPr>
            <p:cNvPr id="13" name="Group 12">
              <a:extLst>
                <a:ext uri="{FF2B5EF4-FFF2-40B4-BE49-F238E27FC236}">
                  <a16:creationId xmlns:a16="http://schemas.microsoft.com/office/drawing/2014/main" id="{23A11D77-457B-3F8E-6112-7782075E8EF5}"/>
                </a:ext>
              </a:extLst>
            </p:cNvPr>
            <p:cNvGrpSpPr/>
            <p:nvPr/>
          </p:nvGrpSpPr>
          <p:grpSpPr>
            <a:xfrm>
              <a:off x="285494" y="878019"/>
              <a:ext cx="7411370" cy="5419907"/>
              <a:chOff x="285493" y="1085481"/>
              <a:chExt cx="11621015" cy="5211736"/>
            </a:xfrm>
          </p:grpSpPr>
          <p:sp>
            <p:nvSpPr>
              <p:cNvPr id="17" name="Rectangle 16">
                <a:extLst>
                  <a:ext uri="{FF2B5EF4-FFF2-40B4-BE49-F238E27FC236}">
                    <a16:creationId xmlns:a16="http://schemas.microsoft.com/office/drawing/2014/main" id="{36FA2DDA-F2A8-F54D-DB1C-B07FB125A8DB}"/>
                  </a:ext>
                </a:extLst>
              </p:cNvPr>
              <p:cNvSpPr/>
              <p:nvPr/>
            </p:nvSpPr>
            <p:spPr>
              <a:xfrm>
                <a:off x="285493" y="1085481"/>
                <a:ext cx="11621015" cy="5194001"/>
              </a:xfrm>
              <a:prstGeom prst="rect">
                <a:avLst/>
              </a:prstGeom>
              <a:solidFill>
                <a:srgbClr val="F2F2F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ext Placeholder 2">
                <a:extLst>
                  <a:ext uri="{FF2B5EF4-FFF2-40B4-BE49-F238E27FC236}">
                    <a16:creationId xmlns:a16="http://schemas.microsoft.com/office/drawing/2014/main" id="{1D29DB00-3CD0-6697-9A2E-9D789F1D2F6A}"/>
                  </a:ext>
                </a:extLst>
              </p:cNvPr>
              <p:cNvSpPr txBox="1">
                <a:spLocks/>
              </p:cNvSpPr>
              <p:nvPr/>
            </p:nvSpPr>
            <p:spPr>
              <a:xfrm>
                <a:off x="523220" y="1220120"/>
                <a:ext cx="11183804" cy="5077097"/>
              </a:xfrm>
              <a:prstGeom prst="rect">
                <a:avLst/>
              </a:prstGeom>
            </p:spPr>
            <p:txBody>
              <a:bodyPr vert="horz" lIns="0" tIns="0" rIns="0" bIns="0" numCol="1" spcCol="180000" rtlCol="0" anchor="t">
                <a:normAutofit/>
              </a:bodyPr>
              <a:lstStyle>
                <a:lvl1pPr marL="0" indent="0" algn="l" defTabSz="914400" rtl="0" eaLnBrk="1" latinLnBrk="0" hangingPunct="1">
                  <a:lnSpc>
                    <a:spcPct val="110000"/>
                  </a:lnSpc>
                  <a:spcBef>
                    <a:spcPts val="0"/>
                  </a:spcBef>
                  <a:spcAft>
                    <a:spcPts val="0"/>
                  </a:spcAft>
                  <a:buClr>
                    <a:schemeClr val="bg2"/>
                  </a:buClr>
                  <a:buFont typeface="Arial" panose="020B0604020202020204" pitchFamily="34" charset="0"/>
                  <a:buNone/>
                  <a:defRPr sz="2000" b="1" kern="1200">
                    <a:solidFill>
                      <a:schemeClr val="tx2">
                        <a:lumMod val="50000"/>
                      </a:schemeClr>
                    </a:solidFill>
                    <a:latin typeface="Arial" panose="020B0604020202020204" pitchFamily="34" charset="0"/>
                    <a:ea typeface="+mn-ea"/>
                    <a:cs typeface="Arial" panose="020B0604020202020204" pitchFamily="34" charset="0"/>
                  </a:defRPr>
                </a:lvl1pPr>
                <a:lvl2pPr marL="3444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800" kern="1200">
                    <a:solidFill>
                      <a:schemeClr val="tx2">
                        <a:lumMod val="50000"/>
                      </a:schemeClr>
                    </a:solidFill>
                    <a:latin typeface="Arial" panose="020B0604020202020204" pitchFamily="34" charset="0"/>
                    <a:ea typeface="+mn-ea"/>
                    <a:cs typeface="Arial" panose="020B0604020202020204" pitchFamily="34" charset="0"/>
                  </a:defRPr>
                </a:lvl2pPr>
                <a:lvl3pPr marL="8016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ts val="1900"/>
                  </a:lnSpc>
                  <a:spcBef>
                    <a:spcPts val="0"/>
                  </a:spcBef>
                  <a:spcAft>
                    <a:spcPts val="600"/>
                  </a:spcAft>
                  <a:buClr>
                    <a:srgbClr val="00A1DF"/>
                  </a:buClr>
                  <a:buSzTx/>
                  <a:buFont typeface="Arial" panose="020B0604020202020204" pitchFamily="34" charset="0"/>
                  <a:buNone/>
                  <a:tabLst/>
                  <a:defRPr/>
                </a:pPr>
                <a:r>
                  <a:rPr kumimoji="0" lang="en-US" sz="150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rPr>
                  <a:t>Questionnaire :</a:t>
                </a:r>
              </a:p>
              <a:p>
                <a:pPr marL="342900" indent="-342900">
                  <a:lnSpc>
                    <a:spcPts val="1900"/>
                  </a:lnSpc>
                  <a:spcAft>
                    <a:spcPts val="600"/>
                  </a:spcAft>
                  <a:buClr>
                    <a:srgbClr val="00A1DF"/>
                  </a:buClr>
                  <a:buFont typeface="Arial" panose="020B0604020202020204" pitchFamily="34" charset="0"/>
                  <a:buChar char="•"/>
                </a:pPr>
                <a:r>
                  <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a:cs typeface="Poppins" panose="00000500000000000000" pitchFamily="2" charset="0"/>
                  </a:rPr>
                  <a:t>Focuses primarily on </a:t>
                </a:r>
                <a:r>
                  <a:rPr kumimoji="0" lang="en-US" sz="1500" i="0" u="none" strike="noStrike" kern="1200" cap="none" spc="0" normalizeH="0" baseline="0" noProof="0">
                    <a:ln>
                      <a:noFill/>
                    </a:ln>
                    <a:solidFill>
                      <a:schemeClr val="tx1"/>
                    </a:solidFill>
                    <a:effectLst/>
                    <a:uLnTx/>
                    <a:uFillTx/>
                    <a:latin typeface="Poppins" panose="00000500000000000000" pitchFamily="2" charset="0"/>
                    <a:ea typeface="Inter"/>
                    <a:cs typeface="Poppins" panose="00000500000000000000" pitchFamily="2" charset="0"/>
                  </a:rPr>
                  <a:t>PHC service readiness</a:t>
                </a:r>
                <a:r>
                  <a:rPr lang="en-US" sz="1500" b="0" noProof="0">
                    <a:solidFill>
                      <a:schemeClr val="tx1"/>
                    </a:solidFill>
                    <a:latin typeface="Poppins" panose="00000500000000000000" pitchFamily="2" charset="0"/>
                    <a:ea typeface="Inter"/>
                    <a:cs typeface="Poppins" panose="00000500000000000000" pitchFamily="2" charset="0"/>
                  </a:rPr>
                  <a:t>:</a:t>
                </a:r>
                <a:r>
                  <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a:cs typeface="Poppins" panose="00000500000000000000" pitchFamily="2" charset="0"/>
                  </a:rPr>
                  <a:t> availability of critical infrastructure, medical supplies, trained staff, and services provided; but also covers facility governance, community engagement, and recent </a:t>
                </a:r>
                <a:r>
                  <a:rPr lang="en-US" sz="1500" b="0" noProof="0">
                    <a:solidFill>
                      <a:schemeClr val="tx1"/>
                    </a:solidFill>
                    <a:latin typeface="Poppins" panose="00000500000000000000" pitchFamily="2" charset="0"/>
                    <a:ea typeface="Inter"/>
                    <a:cs typeface="Poppins" panose="00000500000000000000" pitchFamily="2" charset="0"/>
                  </a:rPr>
                  <a:t>external</a:t>
                </a:r>
                <a:r>
                  <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a:cs typeface="Poppins" panose="00000500000000000000" pitchFamily="2" charset="0"/>
                  </a:rPr>
                  <a:t> “shocks” affecting service delivery.</a:t>
                </a:r>
                <a:endParaRPr lang="en-US" sz="1500" b="0" i="0" u="none" strike="noStrike" kern="1200" cap="none" spc="0" normalizeH="0" baseline="0" noProof="0">
                  <a:ln>
                    <a:noFill/>
                  </a:ln>
                  <a:solidFill>
                    <a:schemeClr val="tx1"/>
                  </a:solidFill>
                  <a:effectLst/>
                  <a:uLnTx/>
                  <a:uFillTx/>
                  <a:latin typeface="Poppins" panose="00000500000000000000" pitchFamily="2" charset="0"/>
                  <a:ea typeface="Inter"/>
                  <a:cs typeface="Poppins" panose="00000500000000000000" pitchFamily="2" charset="0"/>
                </a:endParaRPr>
              </a:p>
              <a:p>
                <a:pPr marL="342900" lvl="0" indent="-342900">
                  <a:lnSpc>
                    <a:spcPts val="1900"/>
                  </a:lnSpc>
                  <a:spcAft>
                    <a:spcPts val="600"/>
                  </a:spcAft>
                  <a:buClr>
                    <a:srgbClr val="00A1DF"/>
                  </a:buClr>
                  <a:buFont typeface="Arial" panose="020B0604020202020204" pitchFamily="34" charset="0"/>
                  <a:buChar char="•"/>
                </a:pPr>
                <a:r>
                  <a:rPr lang="en-US" sz="1500" b="0" noProof="0">
                    <a:latin typeface="Poppins" panose="00000500000000000000" pitchFamily="2" charset="0"/>
                    <a:cs typeface="Poppins" panose="00000500000000000000" pitchFamily="2" charset="0"/>
                  </a:rPr>
                  <a:t>The tool was </a:t>
                </a:r>
                <a:r>
                  <a:rPr lang="en-US" sz="1500" noProof="0">
                    <a:latin typeface="Poppins" panose="00000500000000000000" pitchFamily="2" charset="0"/>
                    <a:cs typeface="Poppins" panose="00000500000000000000" pitchFamily="2" charset="0"/>
                  </a:rPr>
                  <a:t>adapted to the local context </a:t>
                </a:r>
                <a:r>
                  <a:rPr lang="en-US" sz="1500" b="0" noProof="0">
                    <a:latin typeface="Poppins" panose="00000500000000000000" pitchFamily="2" charset="0"/>
                    <a:cs typeface="Poppins" panose="00000500000000000000" pitchFamily="2" charset="0"/>
                  </a:rPr>
                  <a:t>by the Ministry of Health and the World Bank/GFF.</a:t>
                </a:r>
              </a:p>
              <a:p>
                <a:pPr lvl="0">
                  <a:lnSpc>
                    <a:spcPts val="1900"/>
                  </a:lnSpc>
                  <a:spcAft>
                    <a:spcPts val="600"/>
                  </a:spcAft>
                  <a:buClr>
                    <a:srgbClr val="00A1DF"/>
                  </a:buClr>
                  <a:defRPr/>
                </a:pPr>
                <a:endPar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endParaRPr>
              </a:p>
              <a:p>
                <a:pPr lvl="0">
                  <a:lnSpc>
                    <a:spcPts val="1900"/>
                  </a:lnSpc>
                  <a:spcAft>
                    <a:spcPts val="600"/>
                  </a:spcAft>
                  <a:buClr>
                    <a:srgbClr val="00A1DF"/>
                  </a:buClr>
                  <a:defRPr/>
                </a:pP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Sampling :</a:t>
                </a:r>
              </a:p>
              <a:p>
                <a:pPr marL="342900" lvl="0" indent="-342900">
                  <a:lnSpc>
                    <a:spcPts val="1900"/>
                  </a:lnSpc>
                  <a:spcAft>
                    <a:spcPts val="600"/>
                  </a:spcAft>
                  <a:buClr>
                    <a:srgbClr val="00A1DF"/>
                  </a:buClr>
                  <a:buFont typeface="Arial" panose="020B0604020202020204" pitchFamily="34" charset="0"/>
                  <a:buChar char="•"/>
                  <a:defRPr/>
                </a:pP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Nationally and regionally representative panel sample of </a:t>
                </a: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365 public PHC facilities </a:t>
                </a: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 including Community Heath Centers (CHC), Community Heath Posts (CHP), District Hospitals (DH), and Maternal and Child Healthcare Posts (MCHP).</a:t>
                </a:r>
              </a:p>
              <a:p>
                <a:pPr marL="342900" lvl="0" indent="-342900">
                  <a:lnSpc>
                    <a:spcPts val="1900"/>
                  </a:lnSpc>
                  <a:spcAft>
                    <a:spcPts val="600"/>
                  </a:spcAft>
                  <a:buClr>
                    <a:srgbClr val="00A1DF"/>
                  </a:buClr>
                  <a:buFont typeface="Arial" panose="020B0604020202020204" pitchFamily="34" charset="0"/>
                  <a:buChar char="•"/>
                  <a:defRPr/>
                </a:pP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Sample stratified by </a:t>
                </a: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facility type and region.</a:t>
                </a:r>
                <a:endPar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endParaRPr>
              </a:p>
              <a:p>
                <a:pPr marL="342900" lvl="0" indent="-342900">
                  <a:lnSpc>
                    <a:spcPts val="1900"/>
                  </a:lnSpc>
                  <a:spcAft>
                    <a:spcPts val="600"/>
                  </a:spcAft>
                  <a:buClr>
                    <a:srgbClr val="00A1DF"/>
                  </a:buClr>
                  <a:buFont typeface="Arial" panose="020B0604020202020204" pitchFamily="34" charset="0"/>
                  <a:buChar char="•"/>
                  <a:defRPr/>
                </a:pPr>
                <a:r>
                  <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rPr>
                  <a:t>Surveyed individual: phone interviews with </a:t>
                </a:r>
                <a:r>
                  <a:rPr lang="en-US" sz="1500" noProof="0">
                    <a:solidFill>
                      <a:schemeClr val="tx1"/>
                    </a:solidFill>
                    <a:latin typeface="Poppins" panose="00000500000000000000" pitchFamily="2" charset="0"/>
                    <a:ea typeface="Inter" panose="02000503000000020004" pitchFamily="2" charset="0"/>
                    <a:cs typeface="Poppins" panose="00000500000000000000" pitchFamily="2" charset="0"/>
                  </a:rPr>
                  <a:t>health facility manager.</a:t>
                </a:r>
                <a:endParaRPr lang="en-US" sz="1500" b="0" noProof="0">
                  <a:solidFill>
                    <a:schemeClr val="tx1"/>
                  </a:solidFill>
                  <a:latin typeface="Poppins" panose="00000500000000000000" pitchFamily="2" charset="0"/>
                  <a:ea typeface="Inter" panose="02000503000000020004" pitchFamily="2" charset="0"/>
                  <a:cs typeface="Poppins" panose="00000500000000000000" pitchFamily="2" charset="0"/>
                </a:endParaRPr>
              </a:p>
              <a:p>
                <a:pPr marL="342900" lvl="0" indent="-342900">
                  <a:lnSpc>
                    <a:spcPts val="1900"/>
                  </a:lnSpc>
                  <a:spcAft>
                    <a:spcPts val="600"/>
                  </a:spcAft>
                  <a:buClr>
                    <a:srgbClr val="00A1DF"/>
                  </a:buClr>
                  <a:buFont typeface="Arial" panose="020B0604020202020204" pitchFamily="34" charset="0"/>
                  <a:buChar char="•"/>
                </a:pPr>
                <a:endParaRPr lang="en-US" sz="1500" b="0" noProof="0">
                  <a:latin typeface="Poppins" panose="00000500000000000000" pitchFamily="2" charset="0"/>
                  <a:cs typeface="Poppins" panose="00000500000000000000" pitchFamily="2" charset="0"/>
                </a:endParaRPr>
              </a:p>
              <a:p>
                <a:pPr lvl="0">
                  <a:lnSpc>
                    <a:spcPts val="1900"/>
                  </a:lnSpc>
                  <a:spcAft>
                    <a:spcPts val="600"/>
                  </a:spcAft>
                  <a:buClr>
                    <a:srgbClr val="00A1DF"/>
                  </a:buClr>
                </a:pPr>
                <a:r>
                  <a:rPr kumimoji="0" lang="en-US" sz="1500" b="0" i="0" u="none" strike="noStrike" kern="1200" cap="none" spc="0" normalizeH="0" baseline="0" noProof="0">
                    <a:ln>
                      <a:noFill/>
                    </a:ln>
                    <a:solidFill>
                      <a:schemeClr val="tx1"/>
                    </a:solidFill>
                    <a:effectLst/>
                    <a:uLnTx/>
                    <a:uFillTx/>
                    <a:latin typeface="Poppins" panose="00000500000000000000" pitchFamily="2" charset="0"/>
                    <a:ea typeface="Inter" panose="02000503000000020004" pitchFamily="2" charset="0"/>
                    <a:cs typeface="Poppins" panose="00000500000000000000" pitchFamily="2" charset="0"/>
                  </a:rPr>
                  <a:t> </a:t>
                </a:r>
              </a:p>
              <a:p>
                <a:pPr lvl="0">
                  <a:lnSpc>
                    <a:spcPts val="1900"/>
                  </a:lnSpc>
                  <a:spcAft>
                    <a:spcPts val="600"/>
                  </a:spcAft>
                  <a:buClr>
                    <a:srgbClr val="00A1DF"/>
                  </a:buClr>
                </a:pPr>
                <a:endParaRPr lang="en-US" sz="1500" b="1" noProof="0">
                  <a:solidFill>
                    <a:schemeClr val="tx1"/>
                  </a:solidFill>
                  <a:latin typeface="Poppins" panose="00000500000000000000" pitchFamily="2" charset="0"/>
                  <a:ea typeface="Inter" panose="02000503000000020004" pitchFamily="2" charset="0"/>
                  <a:cs typeface="Poppins" panose="00000500000000000000" pitchFamily="2" charset="0"/>
                </a:endParaRPr>
              </a:p>
            </p:txBody>
          </p:sp>
        </p:grpSp>
        <p:grpSp>
          <p:nvGrpSpPr>
            <p:cNvPr id="32" name="Group 31">
              <a:extLst>
                <a:ext uri="{FF2B5EF4-FFF2-40B4-BE49-F238E27FC236}">
                  <a16:creationId xmlns:a16="http://schemas.microsoft.com/office/drawing/2014/main" id="{DE79FDC2-D467-2ABD-04D5-E3AAB8BF730B}"/>
                </a:ext>
              </a:extLst>
            </p:cNvPr>
            <p:cNvGrpSpPr/>
            <p:nvPr/>
          </p:nvGrpSpPr>
          <p:grpSpPr>
            <a:xfrm>
              <a:off x="297689" y="5386564"/>
              <a:ext cx="7415126" cy="1236614"/>
              <a:chOff x="297689" y="5386564"/>
              <a:chExt cx="7415126" cy="1236614"/>
            </a:xfrm>
          </p:grpSpPr>
          <p:grpSp>
            <p:nvGrpSpPr>
              <p:cNvPr id="27" name="Group 26">
                <a:extLst>
                  <a:ext uri="{FF2B5EF4-FFF2-40B4-BE49-F238E27FC236}">
                    <a16:creationId xmlns:a16="http://schemas.microsoft.com/office/drawing/2014/main" id="{28E36E6A-BF1F-32B7-846F-8F605091DCCA}"/>
                  </a:ext>
                </a:extLst>
              </p:cNvPr>
              <p:cNvGrpSpPr/>
              <p:nvPr/>
            </p:nvGrpSpPr>
            <p:grpSpPr>
              <a:xfrm>
                <a:off x="297689" y="5457825"/>
                <a:ext cx="7411370" cy="1154498"/>
                <a:chOff x="-634610" y="8338118"/>
                <a:chExt cx="7757305" cy="1419726"/>
              </a:xfrm>
            </p:grpSpPr>
            <p:sp>
              <p:nvSpPr>
                <p:cNvPr id="20" name="Rectangle 19">
                  <a:extLst>
                    <a:ext uri="{FF2B5EF4-FFF2-40B4-BE49-F238E27FC236}">
                      <a16:creationId xmlns:a16="http://schemas.microsoft.com/office/drawing/2014/main" id="{0473642E-CBB2-2CB2-48B9-7D86515E3CAC}"/>
                    </a:ext>
                  </a:extLst>
                </p:cNvPr>
                <p:cNvSpPr/>
                <p:nvPr/>
              </p:nvSpPr>
              <p:spPr>
                <a:xfrm>
                  <a:off x="-634610" y="8338118"/>
                  <a:ext cx="7757305" cy="1419726"/>
                </a:xfrm>
                <a:prstGeom prst="rect">
                  <a:avLst/>
                </a:prstGeom>
                <a:solidFill>
                  <a:srgbClr val="1F9A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10000"/>
                    </a:lnSpc>
                    <a:spcBef>
                      <a:spcPts val="0"/>
                    </a:spcBef>
                    <a:spcAft>
                      <a:spcPts val="600"/>
                    </a:spcAft>
                    <a:buClr>
                      <a:srgbClr val="00A1DF"/>
                    </a:buClr>
                    <a:buSzTx/>
                    <a:buFontTx/>
                    <a:buNone/>
                    <a:tabLst/>
                    <a:defRPr/>
                  </a:pPr>
                  <a:endParaRPr kumimoji="0" lang="en-US" sz="1600" b="0" i="0" u="none" strike="noStrike" kern="1200" cap="none" spc="0" normalizeH="0" baseline="0" noProof="0">
                    <a:ln>
                      <a:noFill/>
                    </a:ln>
                    <a:solidFill>
                      <a:prstClr val="white"/>
                    </a:solidFill>
                    <a:effectLst/>
                    <a:uLnTx/>
                    <a:uFillTx/>
                    <a:latin typeface="Poppins" panose="00000500000000000000" pitchFamily="2" charset="0"/>
                    <a:ea typeface="Inter" panose="02000503000000020004" pitchFamily="2" charset="0"/>
                    <a:cs typeface="Poppins" panose="00000500000000000000" pitchFamily="2" charset="0"/>
                  </a:endParaRPr>
                </a:p>
              </p:txBody>
            </p:sp>
            <p:grpSp>
              <p:nvGrpSpPr>
                <p:cNvPr id="21" name="Group 20">
                  <a:extLst>
                    <a:ext uri="{FF2B5EF4-FFF2-40B4-BE49-F238E27FC236}">
                      <a16:creationId xmlns:a16="http://schemas.microsoft.com/office/drawing/2014/main" id="{7E78F03D-6050-9A7D-3390-A267BC5E9301}"/>
                    </a:ext>
                  </a:extLst>
                </p:cNvPr>
                <p:cNvGrpSpPr/>
                <p:nvPr/>
              </p:nvGrpSpPr>
              <p:grpSpPr>
                <a:xfrm>
                  <a:off x="-544715" y="8338132"/>
                  <a:ext cx="5633904" cy="1306794"/>
                  <a:chOff x="1429306" y="5028635"/>
                  <a:chExt cx="4766370" cy="915810"/>
                </a:xfrm>
              </p:grpSpPr>
              <p:pic>
                <p:nvPicPr>
                  <p:cNvPr id="22" name="Graphic 21" descr="Daily calendar with solid fill">
                    <a:extLst>
                      <a:ext uri="{FF2B5EF4-FFF2-40B4-BE49-F238E27FC236}">
                        <a16:creationId xmlns:a16="http://schemas.microsoft.com/office/drawing/2014/main" id="{725F8F65-673A-0E2E-4713-677484B486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9306" y="5028635"/>
                    <a:ext cx="1002439" cy="915810"/>
                  </a:xfrm>
                  <a:prstGeom prst="rect">
                    <a:avLst/>
                  </a:prstGeom>
                </p:spPr>
              </p:pic>
              <p:sp>
                <p:nvSpPr>
                  <p:cNvPr id="23" name="TextBox 22">
                    <a:extLst>
                      <a:ext uri="{FF2B5EF4-FFF2-40B4-BE49-F238E27FC236}">
                        <a16:creationId xmlns:a16="http://schemas.microsoft.com/office/drawing/2014/main" id="{870B046E-4907-8DD3-E8AF-8CFFC894869E}"/>
                      </a:ext>
                    </a:extLst>
                  </p:cNvPr>
                  <p:cNvSpPr txBox="1"/>
                  <p:nvPr/>
                </p:nvSpPr>
                <p:spPr>
                  <a:xfrm>
                    <a:off x="2346513" y="5212373"/>
                    <a:ext cx="3849163" cy="554580"/>
                  </a:xfrm>
                  <a:prstGeom prst="rect">
                    <a:avLst/>
                  </a:prstGeom>
                  <a:solidFill>
                    <a:srgbClr val="1F9A9C"/>
                  </a:solidFill>
                </p:spPr>
                <p:txBody>
                  <a:bodyPr wrap="square" rtlCol="0">
                    <a:sp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Poppins" panose="00000500000000000000" pitchFamily="2" charset="0"/>
                        <a:ea typeface="Roboto" panose="02000000000000000000" pitchFamily="2" charset="0"/>
                        <a:cs typeface="Poppins" panose="00000500000000000000" pitchFamily="2" charset="0"/>
                      </a:rPr>
                      <a:t>Round 1</a:t>
                    </a:r>
                  </a:p>
                  <a:p>
                    <a:pPr marL="0" marR="0" lvl="0" indent="0" algn="l" defTabSz="914400" rtl="0" eaLnBrk="1" fontAlgn="auto" latinLnBrk="0" hangingPunct="1">
                      <a:lnSpc>
                        <a:spcPts val="2200"/>
                      </a:lnSpc>
                      <a:spcBef>
                        <a:spcPts val="0"/>
                      </a:spcBef>
                      <a:spcAft>
                        <a:spcPts val="0"/>
                      </a:spcAft>
                      <a:buClrTx/>
                      <a:buSzTx/>
                      <a:buFontTx/>
                      <a:buNone/>
                      <a:tabLst/>
                      <a:defRPr/>
                    </a:pPr>
                    <a:r>
                      <a:rPr kumimoji="0" lang="en-US" sz="1200" i="0" u="none" strike="noStrike" kern="1200" cap="none" spc="0" normalizeH="0" baseline="0" noProof="0">
                        <a:ln>
                          <a:noFill/>
                        </a:ln>
                        <a:solidFill>
                          <a:prstClr val="white"/>
                        </a:solidFill>
                        <a:effectLst/>
                        <a:uLnTx/>
                        <a:uFillTx/>
                        <a:latin typeface="Poppins" panose="00000500000000000000" pitchFamily="2" charset="0"/>
                        <a:ea typeface="Roboto" panose="02000000000000000000" pitchFamily="2" charset="0"/>
                        <a:cs typeface="Poppins" panose="00000500000000000000" pitchFamily="2" charset="0"/>
                      </a:rPr>
                      <a:t>03 Dec 2025-02 Feb 2026</a:t>
                    </a:r>
                    <a:endParaRPr kumimoji="0" lang="en-US" sz="1200" b="0" i="0" u="none" strike="noStrike" kern="1200" cap="none" spc="0" normalizeH="0" baseline="0" noProof="0">
                      <a:ln>
                        <a:noFill/>
                      </a:ln>
                      <a:solidFill>
                        <a:prstClr val="white"/>
                      </a:solidFill>
                      <a:effectLst/>
                      <a:uLnTx/>
                      <a:uFillTx/>
                      <a:latin typeface="Poppins" panose="00000500000000000000" pitchFamily="2" charset="0"/>
                      <a:ea typeface="Roboto" panose="02000000000000000000" pitchFamily="2" charset="0"/>
                      <a:cs typeface="Poppins" panose="00000500000000000000" pitchFamily="2" charset="0"/>
                    </a:endParaRPr>
                  </a:p>
                </p:txBody>
              </p:sp>
            </p:grpSp>
          </p:grpSp>
          <p:pic>
            <p:nvPicPr>
              <p:cNvPr id="28" name="Graphic 27" descr="Telephone with solid fill">
                <a:extLst>
                  <a:ext uri="{FF2B5EF4-FFF2-40B4-BE49-F238E27FC236}">
                    <a16:creationId xmlns:a16="http://schemas.microsoft.com/office/drawing/2014/main" id="{6805F098-BC41-86DA-BB3D-C2252DFC103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29466" y="5386564"/>
                <a:ext cx="1236614" cy="1236614"/>
              </a:xfrm>
              <a:prstGeom prst="rect">
                <a:avLst/>
              </a:prstGeom>
            </p:spPr>
          </p:pic>
          <p:sp>
            <p:nvSpPr>
              <p:cNvPr id="30" name="TextBox 29">
                <a:extLst>
                  <a:ext uri="{FF2B5EF4-FFF2-40B4-BE49-F238E27FC236}">
                    <a16:creationId xmlns:a16="http://schemas.microsoft.com/office/drawing/2014/main" id="{64246D56-CC8E-0757-96AE-1D2C0E0F8952}"/>
                  </a:ext>
                </a:extLst>
              </p:cNvPr>
              <p:cNvSpPr txBox="1"/>
              <p:nvPr/>
            </p:nvSpPr>
            <p:spPr>
              <a:xfrm>
                <a:off x="5335375" y="5678532"/>
                <a:ext cx="2377440" cy="643509"/>
              </a:xfrm>
              <a:prstGeom prst="rect">
                <a:avLst/>
              </a:prstGeom>
              <a:solidFill>
                <a:srgbClr val="1F9A9C"/>
              </a:solidFill>
            </p:spPr>
            <p:txBody>
              <a:bodyPr wrap="square" lIns="91440" tIns="45720" rIns="91440" bIns="45720" rtlCol="0" anchor="t">
                <a:spAutoFit/>
              </a:bodyPr>
              <a:lstStyle/>
              <a:p>
                <a:pPr marL="0" marR="0" lvl="0" indent="0" algn="l" defTabSz="914400" rtl="0" eaLnBrk="1" fontAlgn="auto" latinLnBrk="0" hangingPunct="1">
                  <a:lnSpc>
                    <a:spcPts val="2200"/>
                  </a:lnSpc>
                  <a:spcBef>
                    <a:spcPts val="0"/>
                  </a:spcBef>
                  <a:spcAft>
                    <a:spcPts val="0"/>
                  </a:spcAft>
                  <a:buClrTx/>
                  <a:buSzTx/>
                  <a:buFontTx/>
                  <a:buNone/>
                  <a:tabLst/>
                  <a:defRPr/>
                </a:pPr>
                <a:r>
                  <a:rPr lang="en-US" sz="1600" b="1">
                    <a:solidFill>
                      <a:prstClr val="white"/>
                    </a:solidFill>
                    <a:latin typeface="Poppins"/>
                    <a:ea typeface="Roboto"/>
                    <a:cs typeface="Poppins"/>
                  </a:rPr>
                  <a:t>43-48</a:t>
                </a:r>
                <a:r>
                  <a:rPr kumimoji="0" lang="en-US" sz="1600" b="1" i="0" u="none" strike="noStrike" kern="1200" cap="none" spc="0" normalizeH="0" baseline="0" noProof="0">
                    <a:ln>
                      <a:noFill/>
                    </a:ln>
                    <a:solidFill>
                      <a:prstClr val="white"/>
                    </a:solidFill>
                    <a:effectLst/>
                    <a:uLnTx/>
                    <a:uFillTx/>
                    <a:latin typeface="Poppins"/>
                    <a:ea typeface="Roboto"/>
                    <a:cs typeface="Poppins"/>
                  </a:rPr>
                  <a:t> min</a:t>
                </a:r>
              </a:p>
              <a:p>
                <a:pPr marL="0" marR="0" lvl="0" indent="0" algn="l" defTabSz="914400" rtl="0" eaLnBrk="1" fontAlgn="auto" latinLnBrk="0" hangingPunct="1">
                  <a:lnSpc>
                    <a:spcPts val="2200"/>
                  </a:lnSpc>
                  <a:spcBef>
                    <a:spcPts val="0"/>
                  </a:spcBef>
                  <a:spcAft>
                    <a:spcPts val="0"/>
                  </a:spcAft>
                  <a:buClrTx/>
                  <a:buSzTx/>
                  <a:buFontTx/>
                  <a:buNone/>
                  <a:tabLst/>
                  <a:defRPr/>
                </a:pPr>
                <a:r>
                  <a:rPr lang="en-US" sz="1200" b="0" noProof="0">
                    <a:solidFill>
                      <a:prstClr val="white"/>
                    </a:solidFill>
                    <a:latin typeface="Poppins" panose="00000500000000000000" pitchFamily="2" charset="0"/>
                    <a:ea typeface="Roboto" panose="02000000000000000000" pitchFamily="2" charset="0"/>
                    <a:cs typeface="Poppins" panose="00000500000000000000" pitchFamily="2" charset="0"/>
                  </a:rPr>
                  <a:t>Average call duration</a:t>
                </a:r>
                <a:endParaRPr kumimoji="0" lang="en-US" sz="1200" b="0" i="0" u="none" strike="noStrike" kern="1200" cap="none" spc="0" normalizeH="0" baseline="0" noProof="0">
                  <a:ln>
                    <a:noFill/>
                  </a:ln>
                  <a:solidFill>
                    <a:prstClr val="white"/>
                  </a:solidFill>
                  <a:effectLst/>
                  <a:uLnTx/>
                  <a:uFillTx/>
                  <a:latin typeface="Poppins" panose="00000500000000000000" pitchFamily="2" charset="0"/>
                  <a:ea typeface="Roboto" panose="02000000000000000000" pitchFamily="2" charset="0"/>
                  <a:cs typeface="Poppins" panose="00000500000000000000" pitchFamily="2" charset="0"/>
                </a:endParaRPr>
              </a:p>
            </p:txBody>
          </p:sp>
        </p:grpSp>
      </p:grpSp>
      <p:sp>
        <p:nvSpPr>
          <p:cNvPr id="34" name="TextBox 33">
            <a:extLst>
              <a:ext uri="{FF2B5EF4-FFF2-40B4-BE49-F238E27FC236}">
                <a16:creationId xmlns:a16="http://schemas.microsoft.com/office/drawing/2014/main" id="{5D2AAE47-8E8D-EB42-4461-8B3E80CC70FE}"/>
              </a:ext>
            </a:extLst>
          </p:cNvPr>
          <p:cNvSpPr txBox="1"/>
          <p:nvPr/>
        </p:nvSpPr>
        <p:spPr>
          <a:xfrm>
            <a:off x="8496695" y="920436"/>
            <a:ext cx="3157870" cy="369332"/>
          </a:xfrm>
          <a:prstGeom prst="rect">
            <a:avLst/>
          </a:prstGeom>
          <a:solidFill>
            <a:srgbClr val="FFFFFF"/>
          </a:solid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800" b="1" i="0" u="none" strike="noStrike" kern="1200" cap="none" spc="0" normalizeH="0" baseline="0" noProof="0">
                <a:ln>
                  <a:noFill/>
                </a:ln>
                <a:solidFill>
                  <a:srgbClr val="08716C"/>
                </a:solidFill>
                <a:effectLst/>
                <a:uLnTx/>
                <a:uFillTx/>
                <a:latin typeface="Poppins" panose="00000500000000000000" pitchFamily="2" charset="0"/>
                <a:ea typeface="+mn-ea"/>
                <a:cs typeface="Poppins" panose="00000500000000000000" pitchFamily="2" charset="0"/>
              </a:rPr>
              <a:t>Survey Sample</a:t>
            </a:r>
          </a:p>
        </p:txBody>
      </p:sp>
      <p:sp>
        <p:nvSpPr>
          <p:cNvPr id="35" name="TextBox 34">
            <a:extLst>
              <a:ext uri="{FF2B5EF4-FFF2-40B4-BE49-F238E27FC236}">
                <a16:creationId xmlns:a16="http://schemas.microsoft.com/office/drawing/2014/main" id="{67A19B09-6E57-EBE9-DA83-34AE5616ACB6}"/>
              </a:ext>
            </a:extLst>
          </p:cNvPr>
          <p:cNvSpPr txBox="1"/>
          <p:nvPr/>
        </p:nvSpPr>
        <p:spPr>
          <a:xfrm>
            <a:off x="9710799" y="5637482"/>
            <a:ext cx="2214417"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Note : </a:t>
            </a:r>
            <a:r>
              <a:rPr kumimoji="0" lang="en-US" sz="800" b="1"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N</a:t>
            </a:r>
            <a:r>
              <a:rPr kumimoji="0" lang="en-US" sz="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rPr>
              <a:t> corresponds to the total number of surveyed facilities in each administrative region. </a:t>
            </a:r>
            <a:r>
              <a:rPr lang="en-US" sz="800" b="1" noProof="0">
                <a:solidFill>
                  <a:prstClr val="black"/>
                </a:solidFill>
                <a:latin typeface="Roboto" panose="02000000000000000000" pitchFamily="2" charset="0"/>
                <a:ea typeface="Roboto" panose="02000000000000000000" pitchFamily="2" charset="0"/>
              </a:rPr>
              <a:t>365 facilities </a:t>
            </a:r>
            <a:r>
              <a:rPr lang="en-US" sz="800" noProof="0">
                <a:solidFill>
                  <a:prstClr val="black"/>
                </a:solidFill>
                <a:latin typeface="Roboto" panose="02000000000000000000" pitchFamily="2" charset="0"/>
                <a:ea typeface="Roboto" panose="02000000000000000000" pitchFamily="2" charset="0"/>
              </a:rPr>
              <a:t>surveyed in round 1.</a:t>
            </a:r>
            <a:endParaRPr kumimoji="0" lang="en-US" sz="8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Roboto" panose="02000000000000000000" pitchFamily="2" charset="0"/>
              <a:ea typeface="Roboto" panose="02000000000000000000" pitchFamily="2" charset="0"/>
              <a:cs typeface="+mn-cs"/>
            </a:endParaRPr>
          </a:p>
        </p:txBody>
      </p:sp>
      <p:graphicFrame>
        <p:nvGraphicFramePr>
          <p:cNvPr id="36" name="Table 35">
            <a:extLst>
              <a:ext uri="{FF2B5EF4-FFF2-40B4-BE49-F238E27FC236}">
                <a16:creationId xmlns:a16="http://schemas.microsoft.com/office/drawing/2014/main" id="{FA86BA0D-6AAA-67FC-D0E7-BE2C463C4835}"/>
              </a:ext>
            </a:extLst>
          </p:cNvPr>
          <p:cNvGraphicFramePr>
            <a:graphicFrameLocks noGrp="1"/>
          </p:cNvGraphicFramePr>
          <p:nvPr>
            <p:extLst>
              <p:ext uri="{D42A27DB-BD31-4B8C-83A1-F6EECF244321}">
                <p14:modId xmlns:p14="http://schemas.microsoft.com/office/powerpoint/2010/main" val="2040425653"/>
              </p:ext>
            </p:extLst>
          </p:nvPr>
        </p:nvGraphicFramePr>
        <p:xfrm>
          <a:off x="8061028" y="5166360"/>
          <a:ext cx="1489037" cy="1143000"/>
        </p:xfrm>
        <a:graphic>
          <a:graphicData uri="http://schemas.openxmlformats.org/drawingml/2006/table">
            <a:tbl>
              <a:tblPr firstRow="1" bandRow="1">
                <a:tableStyleId>{BDBED569-4797-4DF1-A0F4-6AAB3CD982D8}</a:tableStyleId>
              </a:tblPr>
              <a:tblGrid>
                <a:gridCol w="589280">
                  <a:extLst>
                    <a:ext uri="{9D8B030D-6E8A-4147-A177-3AD203B41FA5}">
                      <a16:colId xmlns:a16="http://schemas.microsoft.com/office/drawing/2014/main" val="3511636806"/>
                    </a:ext>
                  </a:extLst>
                </a:gridCol>
                <a:gridCol w="899757">
                  <a:extLst>
                    <a:ext uri="{9D8B030D-6E8A-4147-A177-3AD203B41FA5}">
                      <a16:colId xmlns:a16="http://schemas.microsoft.com/office/drawing/2014/main" val="3085066003"/>
                    </a:ext>
                  </a:extLst>
                </a:gridCol>
              </a:tblGrid>
              <a:tr h="0">
                <a:tc gridSpan="2">
                  <a:txBody>
                    <a:bodyPr/>
                    <a:lstStyle/>
                    <a:p>
                      <a:r>
                        <a:rPr lang="en-US" sz="900" noProof="0">
                          <a:solidFill>
                            <a:schemeClr val="bg1"/>
                          </a:solidFill>
                          <a:latin typeface="Roboto" panose="02000000000000000000" pitchFamily="2" charset="0"/>
                          <a:ea typeface="Roboto" panose="02000000000000000000" pitchFamily="2" charset="0"/>
                        </a:rPr>
                        <a:t>Distribution (Round 1)</a:t>
                      </a:r>
                    </a:p>
                  </a:txBody>
                  <a:tcPr>
                    <a:lnB w="12700" cap="flat" cmpd="sng" algn="ctr">
                      <a:solidFill>
                        <a:srgbClr val="065B57"/>
                      </a:solidFill>
                      <a:prstDash val="solid"/>
                      <a:round/>
                      <a:headEnd type="none" w="med" len="med"/>
                      <a:tailEnd type="none" w="med" len="med"/>
                    </a:lnB>
                    <a:solidFill>
                      <a:srgbClr val="065B57"/>
                    </a:solidFill>
                  </a:tcPr>
                </a:tc>
                <a:tc hMerge="1">
                  <a:txBody>
                    <a:bodyPr/>
                    <a:lstStyle/>
                    <a:p>
                      <a:endParaRPr/>
                    </a:p>
                  </a:txBody>
                  <a:tcPr/>
                </a:tc>
                <a:extLst>
                  <a:ext uri="{0D108BD9-81ED-4DB2-BD59-A6C34878D82A}">
                    <a16:rowId xmlns:a16="http://schemas.microsoft.com/office/drawing/2014/main" val="812704253"/>
                  </a:ext>
                </a:extLst>
              </a:tr>
              <a:tr h="0">
                <a:tc>
                  <a:txBody>
                    <a:bodyPr/>
                    <a:lstStyle/>
                    <a:p>
                      <a:r>
                        <a:rPr lang="en-US" sz="900" b="1" noProof="0">
                          <a:latin typeface="Roboto" panose="02000000000000000000" pitchFamily="2" charset="0"/>
                          <a:ea typeface="Roboto" panose="02000000000000000000" pitchFamily="2" charset="0"/>
                        </a:rPr>
                        <a:t>DH</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tc>
                  <a:txBody>
                    <a:bodyPr/>
                    <a:lstStyle/>
                    <a:p>
                      <a:r>
                        <a:rPr lang="en-US" sz="900" noProof="0">
                          <a:latin typeface="Roboto" panose="02000000000000000000" pitchFamily="2" charset="0"/>
                          <a:ea typeface="Roboto" panose="02000000000000000000" pitchFamily="2" charset="0"/>
                        </a:rPr>
                        <a:t>7 (2%)</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extLst>
                  <a:ext uri="{0D108BD9-81ED-4DB2-BD59-A6C34878D82A}">
                    <a16:rowId xmlns:a16="http://schemas.microsoft.com/office/drawing/2014/main" val="135271595"/>
                  </a:ext>
                </a:extLst>
              </a:tr>
              <a:tr h="0">
                <a:tc>
                  <a:txBody>
                    <a:bodyPr/>
                    <a:lstStyle/>
                    <a:p>
                      <a:r>
                        <a:rPr lang="en-US" sz="900" b="1" noProof="0">
                          <a:latin typeface="Roboto" panose="02000000000000000000" pitchFamily="2" charset="0"/>
                          <a:ea typeface="Roboto" panose="02000000000000000000" pitchFamily="2" charset="0"/>
                        </a:rPr>
                        <a:t>CHC</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tc>
                  <a:txBody>
                    <a:bodyPr/>
                    <a:lstStyle/>
                    <a:p>
                      <a:r>
                        <a:rPr lang="en-US" sz="900" noProof="0">
                          <a:latin typeface="Roboto" panose="02000000000000000000" pitchFamily="2" charset="0"/>
                          <a:ea typeface="Roboto" panose="02000000000000000000" pitchFamily="2" charset="0"/>
                        </a:rPr>
                        <a:t>95 (26%)</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extLst>
                  <a:ext uri="{0D108BD9-81ED-4DB2-BD59-A6C34878D82A}">
                    <a16:rowId xmlns:a16="http://schemas.microsoft.com/office/drawing/2014/main" val="3403386252"/>
                  </a:ext>
                </a:extLst>
              </a:tr>
              <a:tr h="0">
                <a:tc>
                  <a:txBody>
                    <a:bodyPr/>
                    <a:lstStyle/>
                    <a:p>
                      <a:r>
                        <a:rPr lang="en-US" sz="900" b="1" noProof="0">
                          <a:latin typeface="Roboto" panose="02000000000000000000" pitchFamily="2" charset="0"/>
                          <a:ea typeface="Roboto" panose="02000000000000000000" pitchFamily="2" charset="0"/>
                        </a:rPr>
                        <a:t>CHP</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tc>
                  <a:txBody>
                    <a:bodyPr/>
                    <a:lstStyle/>
                    <a:p>
                      <a:r>
                        <a:rPr lang="en-US" sz="900" noProof="0">
                          <a:latin typeface="Roboto" panose="02000000000000000000" pitchFamily="2" charset="0"/>
                          <a:ea typeface="Roboto" panose="02000000000000000000" pitchFamily="2" charset="0"/>
                        </a:rPr>
                        <a:t>127 (35%)</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2700" cap="flat" cmpd="sng" algn="ctr">
                      <a:solidFill>
                        <a:srgbClr val="065B57"/>
                      </a:solidFill>
                      <a:prstDash val="solid"/>
                      <a:round/>
                      <a:headEnd type="none" w="med" len="med"/>
                      <a:tailEnd type="none" w="med" len="med"/>
                    </a:lnB>
                    <a:solidFill>
                      <a:schemeClr val="bg1"/>
                    </a:solidFill>
                  </a:tcPr>
                </a:tc>
                <a:extLst>
                  <a:ext uri="{0D108BD9-81ED-4DB2-BD59-A6C34878D82A}">
                    <a16:rowId xmlns:a16="http://schemas.microsoft.com/office/drawing/2014/main" val="2610391263"/>
                  </a:ext>
                </a:extLst>
              </a:tr>
              <a:tr h="0">
                <a:tc>
                  <a:txBody>
                    <a:bodyPr/>
                    <a:lstStyle/>
                    <a:p>
                      <a:r>
                        <a:rPr lang="en-US" sz="900" b="1" noProof="0">
                          <a:latin typeface="Roboto" panose="02000000000000000000" pitchFamily="2" charset="0"/>
                          <a:ea typeface="Roboto" panose="02000000000000000000" pitchFamily="2" charset="0"/>
                        </a:rPr>
                        <a:t>MCHP</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9050" cap="flat" cmpd="sng" algn="ctr">
                      <a:solidFill>
                        <a:srgbClr val="065B57"/>
                      </a:solidFill>
                      <a:prstDash val="solid"/>
                      <a:round/>
                      <a:headEnd type="none" w="med" len="med"/>
                      <a:tailEnd type="none" w="med" len="med"/>
                    </a:lnB>
                    <a:solidFill>
                      <a:schemeClr val="bg1"/>
                    </a:solidFill>
                  </a:tcPr>
                </a:tc>
                <a:tc>
                  <a:txBody>
                    <a:bodyPr/>
                    <a:lstStyle/>
                    <a:p>
                      <a:r>
                        <a:rPr lang="en-US" sz="900" noProof="0">
                          <a:latin typeface="Roboto" panose="02000000000000000000" pitchFamily="2" charset="0"/>
                          <a:ea typeface="Roboto" panose="02000000000000000000" pitchFamily="2" charset="0"/>
                        </a:rPr>
                        <a:t>134 (36%)</a:t>
                      </a:r>
                    </a:p>
                  </a:txBody>
                  <a:tcPr>
                    <a:lnL w="12700" cap="flat" cmpd="sng" algn="ctr">
                      <a:solidFill>
                        <a:srgbClr val="065B57"/>
                      </a:solidFill>
                      <a:prstDash val="solid"/>
                      <a:round/>
                      <a:headEnd type="none" w="med" len="med"/>
                      <a:tailEnd type="none" w="med" len="med"/>
                    </a:lnL>
                    <a:lnR w="12700" cap="flat" cmpd="sng" algn="ctr">
                      <a:solidFill>
                        <a:srgbClr val="065B57"/>
                      </a:solidFill>
                      <a:prstDash val="solid"/>
                      <a:round/>
                      <a:headEnd type="none" w="med" len="med"/>
                      <a:tailEnd type="none" w="med" len="med"/>
                    </a:lnR>
                    <a:lnT w="12700" cap="flat" cmpd="sng" algn="ctr">
                      <a:solidFill>
                        <a:srgbClr val="065B57"/>
                      </a:solidFill>
                      <a:prstDash val="solid"/>
                      <a:round/>
                      <a:headEnd type="none" w="med" len="med"/>
                      <a:tailEnd type="none" w="med" len="med"/>
                    </a:lnT>
                    <a:lnB w="19050" cap="flat" cmpd="sng" algn="ctr">
                      <a:solidFill>
                        <a:srgbClr val="065B57"/>
                      </a:solidFill>
                      <a:prstDash val="solid"/>
                      <a:round/>
                      <a:headEnd type="none" w="med" len="med"/>
                      <a:tailEnd type="none" w="med" len="med"/>
                    </a:lnB>
                    <a:solidFill>
                      <a:schemeClr val="bg1"/>
                    </a:solidFill>
                  </a:tcPr>
                </a:tc>
                <a:extLst>
                  <a:ext uri="{0D108BD9-81ED-4DB2-BD59-A6C34878D82A}">
                    <a16:rowId xmlns:a16="http://schemas.microsoft.com/office/drawing/2014/main" val="1956301850"/>
                  </a:ext>
                </a:extLst>
              </a:tr>
            </a:tbl>
          </a:graphicData>
        </a:graphic>
      </p:graphicFrame>
    </p:spTree>
    <p:extLst>
      <p:ext uri="{BB962C8B-B14F-4D97-AF65-F5344CB8AC3E}">
        <p14:creationId xmlns:p14="http://schemas.microsoft.com/office/powerpoint/2010/main" val="422328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E8FAA-ACCF-CFFB-D4CA-43B51ECCE2E0}"/>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184F0B72-4CAE-A9DD-3931-A9D3D16F0D28}"/>
              </a:ext>
            </a:extLst>
          </p:cNvPr>
          <p:cNvSpPr/>
          <p:nvPr/>
        </p:nvSpPr>
        <p:spPr>
          <a:xfrm>
            <a:off x="-4033" y="-30738"/>
            <a:ext cx="596219" cy="710668"/>
          </a:xfrm>
          <a:prstGeom prst="rect">
            <a:avLst/>
          </a:prstGeom>
          <a:solidFill>
            <a:srgbClr val="065B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Title 1">
            <a:extLst>
              <a:ext uri="{FF2B5EF4-FFF2-40B4-BE49-F238E27FC236}">
                <a16:creationId xmlns:a16="http://schemas.microsoft.com/office/drawing/2014/main" id="{FEDA69E4-F14C-81BC-D238-791633C84C19}"/>
              </a:ext>
            </a:extLst>
          </p:cNvPr>
          <p:cNvSpPr txBox="1">
            <a:spLocks/>
          </p:cNvSpPr>
          <p:nvPr/>
        </p:nvSpPr>
        <p:spPr>
          <a:xfrm>
            <a:off x="592186" y="15712"/>
            <a:ext cx="11599814" cy="710668"/>
          </a:xfrm>
          <a:prstGeom prst="rect">
            <a:avLst/>
          </a:prstGeom>
          <a:solidFill>
            <a:srgbClr val="ECF4F3">
              <a:alpha val="80000"/>
            </a:srgb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288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65B57"/>
                </a:solidFill>
                <a:effectLst/>
                <a:uLnTx/>
                <a:uFillTx/>
                <a:latin typeface="Poppins Bold" panose="00000800000000000000" pitchFamily="2" charset="0"/>
                <a:ea typeface="Inter" panose="02000503000000020004" pitchFamily="2" charset="0"/>
                <a:cs typeface="Poppins Bold" panose="00000800000000000000" pitchFamily="2" charset="0"/>
              </a:rPr>
              <a:t>Survey structure: Adaptative content</a:t>
            </a:r>
            <a:endParaRPr kumimoji="0" lang="en-US" sz="3200" b="0" i="0" u="none" strike="noStrike" kern="1200" cap="none" spc="0" normalizeH="0" baseline="0" noProof="0">
              <a:ln>
                <a:noFill/>
              </a:ln>
              <a:solidFill>
                <a:prstClr val="black"/>
              </a:solidFill>
              <a:effectLst/>
              <a:uLnTx/>
              <a:uFillTx/>
              <a:latin typeface="Poppins Bold" panose="00000800000000000000" pitchFamily="2" charset="0"/>
              <a:ea typeface="Inter" panose="02000503000000020004" pitchFamily="2" charset="0"/>
              <a:cs typeface="Poppins Bold" panose="00000800000000000000" pitchFamily="2" charset="0"/>
            </a:endParaRPr>
          </a:p>
        </p:txBody>
      </p:sp>
      <p:graphicFrame>
        <p:nvGraphicFramePr>
          <p:cNvPr id="3" name="Table 2">
            <a:extLst>
              <a:ext uri="{FF2B5EF4-FFF2-40B4-BE49-F238E27FC236}">
                <a16:creationId xmlns:a16="http://schemas.microsoft.com/office/drawing/2014/main" id="{062528B7-666D-86A1-621D-9B394FDA12CF}"/>
              </a:ext>
            </a:extLst>
          </p:cNvPr>
          <p:cNvGraphicFramePr>
            <a:graphicFrameLocks noGrp="1"/>
          </p:cNvGraphicFramePr>
          <p:nvPr>
            <p:extLst>
              <p:ext uri="{D42A27DB-BD31-4B8C-83A1-F6EECF244321}">
                <p14:modId xmlns:p14="http://schemas.microsoft.com/office/powerpoint/2010/main" val="1161770867"/>
              </p:ext>
            </p:extLst>
          </p:nvPr>
        </p:nvGraphicFramePr>
        <p:xfrm>
          <a:off x="494102" y="1220503"/>
          <a:ext cx="7558649" cy="4656418"/>
        </p:xfrm>
        <a:graphic>
          <a:graphicData uri="http://schemas.openxmlformats.org/drawingml/2006/table">
            <a:tbl>
              <a:tblPr firstRow="1" bandRow="1">
                <a:effectLst>
                  <a:outerShdw blurRad="50800" dist="38100" dir="5400000" algn="t" rotWithShape="0">
                    <a:prstClr val="black">
                      <a:alpha val="40000"/>
                    </a:prstClr>
                  </a:outerShdw>
                </a:effectLst>
                <a:tableStyleId>{5FD0F851-EC5A-4D38-B0AD-8093EC10F338}</a:tableStyleId>
              </a:tblPr>
              <a:tblGrid>
                <a:gridCol w="2793365">
                  <a:extLst>
                    <a:ext uri="{9D8B030D-6E8A-4147-A177-3AD203B41FA5}">
                      <a16:colId xmlns:a16="http://schemas.microsoft.com/office/drawing/2014/main" val="183270207"/>
                    </a:ext>
                  </a:extLst>
                </a:gridCol>
                <a:gridCol w="1261593">
                  <a:extLst>
                    <a:ext uri="{9D8B030D-6E8A-4147-A177-3AD203B41FA5}">
                      <a16:colId xmlns:a16="http://schemas.microsoft.com/office/drawing/2014/main" val="3065825740"/>
                    </a:ext>
                  </a:extLst>
                </a:gridCol>
                <a:gridCol w="1261593">
                  <a:extLst>
                    <a:ext uri="{9D8B030D-6E8A-4147-A177-3AD203B41FA5}">
                      <a16:colId xmlns:a16="http://schemas.microsoft.com/office/drawing/2014/main" val="461206463"/>
                    </a:ext>
                  </a:extLst>
                </a:gridCol>
                <a:gridCol w="1261593">
                  <a:extLst>
                    <a:ext uri="{9D8B030D-6E8A-4147-A177-3AD203B41FA5}">
                      <a16:colId xmlns:a16="http://schemas.microsoft.com/office/drawing/2014/main" val="369688917"/>
                    </a:ext>
                  </a:extLst>
                </a:gridCol>
                <a:gridCol w="980505">
                  <a:extLst>
                    <a:ext uri="{9D8B030D-6E8A-4147-A177-3AD203B41FA5}">
                      <a16:colId xmlns:a16="http://schemas.microsoft.com/office/drawing/2014/main" val="3597460247"/>
                    </a:ext>
                  </a:extLst>
                </a:gridCol>
              </a:tblGrid>
              <a:tr h="380950">
                <a:tc>
                  <a:txBody>
                    <a:bodyPr/>
                    <a:lstStyle/>
                    <a:p>
                      <a:r>
                        <a:rPr lang="en-US" sz="1600" noProof="0">
                          <a:solidFill>
                            <a:schemeClr val="bg1"/>
                          </a:solidFill>
                          <a:latin typeface="Gill Sans MT" panose="020B0502020104020203" pitchFamily="34" charset="0"/>
                          <a:ea typeface="Cambria" panose="02040503050406030204" pitchFamily="18" charset="0"/>
                          <a:cs typeface="DejaVu Sans" panose="020B0603030804020204" pitchFamily="34" charset="0"/>
                        </a:rPr>
                        <a:t>Survey Module</a:t>
                      </a:r>
                    </a:p>
                  </a:txBody>
                  <a:tcPr>
                    <a:solidFill>
                      <a:srgbClr val="065B57"/>
                    </a:solidFill>
                  </a:tcPr>
                </a:tc>
                <a:tc>
                  <a:txBody>
                    <a:bodyPr/>
                    <a:lstStyle/>
                    <a:p>
                      <a:r>
                        <a:rPr lang="en-US" sz="1600" noProof="0">
                          <a:solidFill>
                            <a:schemeClr val="bg1"/>
                          </a:solidFill>
                          <a:latin typeface="Gill Sans MT" panose="020B0502020104020203" pitchFamily="34" charset="0"/>
                          <a:ea typeface="Cambria" panose="02040503050406030204" pitchFamily="18" charset="0"/>
                          <a:cs typeface="DejaVu Sans" panose="020B0603030804020204" pitchFamily="34" charset="0"/>
                        </a:rPr>
                        <a:t>Round 1</a:t>
                      </a:r>
                    </a:p>
                  </a:txBody>
                  <a:tcPr>
                    <a:solidFill>
                      <a:srgbClr val="065B57"/>
                    </a:solidFill>
                  </a:tcPr>
                </a:tc>
                <a:tc>
                  <a:txBody>
                    <a:bodyPr/>
                    <a:lstStyle/>
                    <a:p>
                      <a:r>
                        <a:rPr lang="en-US" sz="1600" noProof="0">
                          <a:solidFill>
                            <a:schemeClr val="bg1"/>
                          </a:solidFill>
                          <a:latin typeface="Gill Sans MT" panose="020B0502020104020203" pitchFamily="34" charset="0"/>
                          <a:ea typeface="Cambria" panose="02040503050406030204" pitchFamily="18" charset="0"/>
                          <a:cs typeface="DejaVu Sans" panose="020B0603030804020204" pitchFamily="34" charset="0"/>
                        </a:rPr>
                        <a:t>Round 2</a:t>
                      </a:r>
                    </a:p>
                  </a:txBody>
                  <a:tcPr>
                    <a:solidFill>
                      <a:srgbClr val="065B57"/>
                    </a:solidFill>
                  </a:tcPr>
                </a:tc>
                <a:tc>
                  <a:txBody>
                    <a:bodyPr/>
                    <a:lstStyle/>
                    <a:p>
                      <a:r>
                        <a:rPr lang="en-US" sz="1600" noProof="0">
                          <a:solidFill>
                            <a:schemeClr val="bg1"/>
                          </a:solidFill>
                          <a:latin typeface="Gill Sans MT" panose="020B0502020104020203" pitchFamily="34" charset="0"/>
                          <a:ea typeface="Cambria" panose="02040503050406030204" pitchFamily="18" charset="0"/>
                          <a:cs typeface="DejaVu Sans" panose="020B0603030804020204" pitchFamily="34" charset="0"/>
                        </a:rPr>
                        <a:t>Round 3</a:t>
                      </a:r>
                    </a:p>
                  </a:txBody>
                  <a:tcPr>
                    <a:solidFill>
                      <a:srgbClr val="065B57"/>
                    </a:solidFill>
                  </a:tcPr>
                </a:tc>
                <a:tc>
                  <a:txBody>
                    <a:bodyPr/>
                    <a:lstStyle/>
                    <a:p>
                      <a:r>
                        <a:rPr lang="en-US" sz="1600" noProof="0">
                          <a:solidFill>
                            <a:schemeClr val="bg1"/>
                          </a:solidFill>
                          <a:latin typeface="Gill Sans MT" panose="020B0502020104020203" pitchFamily="34" charset="0"/>
                          <a:ea typeface="Cambria" panose="02040503050406030204" pitchFamily="18" charset="0"/>
                          <a:cs typeface="DejaVu Sans" panose="020B0603030804020204" pitchFamily="34" charset="0"/>
                        </a:rPr>
                        <a:t>Round 4</a:t>
                      </a:r>
                    </a:p>
                  </a:txBody>
                  <a:tcPr>
                    <a:solidFill>
                      <a:srgbClr val="065B57"/>
                    </a:solidFill>
                  </a:tcPr>
                </a:tc>
                <a:extLst>
                  <a:ext uri="{0D108BD9-81ED-4DB2-BD59-A6C34878D82A}">
                    <a16:rowId xmlns:a16="http://schemas.microsoft.com/office/drawing/2014/main" val="3408071493"/>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Health Facility Characteristics</a:t>
                      </a:r>
                    </a:p>
                  </a:txBody>
                  <a:tcPr>
                    <a:solidFill>
                      <a:srgbClr val="FFFFFF"/>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solidFill>
                      <a:srgbClr val="FFFFFF"/>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solidFill>
                      <a:srgbClr val="FFFFFF"/>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solidFill>
                      <a:srgbClr val="FFFFFF"/>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solidFill>
                      <a:srgbClr val="FFFFFF"/>
                    </a:solidFill>
                  </a:tcPr>
                </a:tc>
                <a:extLst>
                  <a:ext uri="{0D108BD9-81ED-4DB2-BD59-A6C34878D82A}">
                    <a16:rowId xmlns:a16="http://schemas.microsoft.com/office/drawing/2014/main" val="17218374"/>
                  </a:ext>
                </a:extLst>
              </a:tr>
              <a:tr h="346318">
                <a:tc gridSpan="5">
                  <a:txBody>
                    <a:bodyPr/>
                    <a:lstStyle/>
                    <a:p>
                      <a:pPr algn="ctr"/>
                      <a:r>
                        <a:rPr lang="en-US" sz="1400" b="1" noProof="0">
                          <a:solidFill>
                            <a:schemeClr val="tx1"/>
                          </a:solidFill>
                          <a:latin typeface="Gill Sans MT" panose="020B0502020104020203" pitchFamily="34" charset="0"/>
                          <a:ea typeface="Cambria" panose="02040503050406030204" pitchFamily="18" charset="0"/>
                          <a:cs typeface="DejaVu Sans" panose="020B0603030804020204" pitchFamily="34" charset="0"/>
                        </a:rPr>
                        <a:t>ADAPTATIVE CONTENT*</a:t>
                      </a:r>
                    </a:p>
                  </a:txBody>
                  <a:tcPr>
                    <a:lnB w="28575" cap="flat" cmpd="sng" algn="ctr">
                      <a:solidFill>
                        <a:schemeClr val="bg1"/>
                      </a:solidFill>
                      <a:prstDash val="solid"/>
                      <a:round/>
                      <a:headEnd type="none" w="med" len="med"/>
                      <a:tailEnd type="none" w="med" len="med"/>
                    </a:lnB>
                    <a:solidFill>
                      <a:srgbClr val="1F9A9C">
                        <a:alpha val="50196"/>
                      </a:srgbClr>
                    </a:solidFill>
                  </a:tcPr>
                </a:tc>
                <a:tc hMerge="1">
                  <a:txBody>
                    <a:bodyPr/>
                    <a:lstStyle/>
                    <a:p>
                      <a:endParaRPr lang="fr-BE" sz="1500" noProof="0">
                        <a:latin typeface="Roboto" panose="02000000000000000000" pitchFamily="2" charset="0"/>
                        <a:ea typeface="Roboto" panose="02000000000000000000" pitchFamily="2" charset="0"/>
                      </a:endParaRPr>
                    </a:p>
                  </a:txBody>
                  <a:tcPr>
                    <a:lnB w="28575" cap="flat" cmpd="sng" algn="ctr">
                      <a:solidFill>
                        <a:schemeClr val="bg1"/>
                      </a:solidFill>
                      <a:prstDash val="solid"/>
                      <a:round/>
                      <a:headEnd type="none" w="med" len="med"/>
                      <a:tailEnd type="none" w="med" len="med"/>
                    </a:lnB>
                    <a:pattFill prst="dkUpDiag">
                      <a:fgClr>
                        <a:srgbClr val="80CCCA"/>
                      </a:fgClr>
                      <a:bgClr>
                        <a:schemeClr val="bg1"/>
                      </a:bgClr>
                    </a:pattFill>
                  </a:tcPr>
                </a:tc>
                <a:tc hMerge="1">
                  <a:txBody>
                    <a:bodyPr/>
                    <a:lstStyle/>
                    <a:p>
                      <a:endParaRPr lang="fr-BE" sz="1400" noProof="0">
                        <a:latin typeface="Roboto" panose="02000000000000000000" pitchFamily="2" charset="0"/>
                        <a:ea typeface="Roboto" panose="02000000000000000000" pitchFamily="2" charset="0"/>
                      </a:endParaRPr>
                    </a:p>
                  </a:txBody>
                  <a:tcPr/>
                </a:tc>
                <a:tc hMerge="1">
                  <a:txBody>
                    <a:bodyPr/>
                    <a:lstStyle/>
                    <a:p>
                      <a:endParaRPr lang="fr-BE" sz="1400" noProof="0">
                        <a:latin typeface="Roboto" panose="02000000000000000000" pitchFamily="2" charset="0"/>
                        <a:ea typeface="Roboto" panose="02000000000000000000" pitchFamily="2" charset="0"/>
                      </a:endParaRPr>
                    </a:p>
                  </a:txBody>
                  <a:tcPr/>
                </a:tc>
                <a:tc hMerge="1">
                  <a:txBody>
                    <a:bodyPr/>
                    <a:lstStyle/>
                    <a:p>
                      <a:endParaRPr lang="fr-BE" sz="1400" noProof="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2399115"/>
                  </a:ext>
                </a:extLst>
              </a:tr>
              <a:tr h="510039">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Recent Service Delivery Challenges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extLst>
                  <a:ext uri="{0D108BD9-81ED-4DB2-BD59-A6C34878D82A}">
                    <a16:rowId xmlns:a16="http://schemas.microsoft.com/office/drawing/2014/main" val="1835958801"/>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Medical Supplies and Equipment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r>
                        <a:rPr kumimoji="0" lang="en-US" sz="1500" b="0" i="0" u="none" strike="noStrike" kern="1200" cap="none" spc="0" normalizeH="0" baseline="0" noProof="0">
                          <a:ln>
                            <a:noFill/>
                          </a:ln>
                          <a:solidFill>
                            <a:prstClr val="black"/>
                          </a:solidFill>
                          <a:effectLst/>
                          <a:uLnTx/>
                          <a:uFillTx/>
                          <a:latin typeface="Gill Sans MT" panose="020B0502020104020203" pitchFamily="34" charset="0"/>
                          <a:ea typeface="Cambria" panose="02040503050406030204" pitchFamily="18" charset="0"/>
                          <a:cs typeface="DejaVu Sans" panose="020B0603030804020204" pitchFamily="34" charset="0"/>
                        </a:rPr>
                        <a:t>✅</a:t>
                      </a:r>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ED5D3"/>
                    </a:solidFill>
                  </a:tcPr>
                </a:tc>
                <a:extLst>
                  <a:ext uri="{0D108BD9-81ED-4DB2-BD59-A6C34878D82A}">
                    <a16:rowId xmlns:a16="http://schemas.microsoft.com/office/drawing/2014/main" val="249909021"/>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Service Availability</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224597017"/>
                  </a:ext>
                </a:extLst>
              </a:tr>
              <a:tr h="36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latin typeface="Gill Sans MT" panose="020B0502020104020203" pitchFamily="34" charset="0"/>
                          <a:ea typeface="Cambria" panose="02040503050406030204" pitchFamily="18" charset="0"/>
                          <a:cs typeface="DejaVu Sans" panose="020B0603030804020204" pitchFamily="34" charset="0"/>
                        </a:rPr>
                        <a:t>Financing</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491907430"/>
                  </a:ext>
                </a:extLst>
              </a:tr>
              <a:tr h="3636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a:latin typeface="Gill Sans MT" panose="020B0502020104020203" pitchFamily="34" charset="0"/>
                          <a:ea typeface="Cambria" panose="02040503050406030204" pitchFamily="18" charset="0"/>
                          <a:cs typeface="DejaVu Sans" panose="020B0603030804020204" pitchFamily="34" charset="0"/>
                        </a:rPr>
                        <a:t>Community Engagement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1226705739"/>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Infrastructure</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1176455292"/>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Quality Improvement Processes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703421910"/>
                  </a:ext>
                </a:extLst>
              </a:tr>
              <a:tr h="510039">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Human Resources</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1053800651"/>
                  </a:ext>
                </a:extLst>
              </a:tr>
              <a:tr h="363634">
                <a:tc>
                  <a:txBody>
                    <a:bodyPr/>
                    <a:lstStyle/>
                    <a:p>
                      <a:r>
                        <a:rPr lang="en-US" sz="1400" noProof="0">
                          <a:latin typeface="Gill Sans MT" panose="020B0502020104020203" pitchFamily="34" charset="0"/>
                          <a:ea typeface="Cambria" panose="02040503050406030204" pitchFamily="18" charset="0"/>
                          <a:cs typeface="DejaVu Sans" panose="020B0603030804020204" pitchFamily="34" charset="0"/>
                        </a:rPr>
                        <a:t>Leadership &amp; Coordination</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endParaRPr lang="en-US" sz="1500" noProof="0">
                        <a:latin typeface="Gill Sans MT" panose="020B0502020104020203" pitchFamily="34" charset="0"/>
                        <a:ea typeface="Cambria" panose="02040503050406030204" pitchFamily="18" charset="0"/>
                        <a:cs typeface="DejaVu Sans" panose="020B0603030804020204" pitchFamily="34"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tc>
                  <a:txBody>
                    <a:bodyPr/>
                    <a:lstStyle/>
                    <a:p>
                      <a:r>
                        <a:rPr lang="en-US" sz="1500" noProof="0">
                          <a:latin typeface="Gill Sans MT" panose="020B0502020104020203" pitchFamily="34" charset="0"/>
                          <a:ea typeface="Cambria" panose="02040503050406030204" pitchFamily="18" charset="0"/>
                          <a:cs typeface="DejaVu Sans" panose="020B0603030804020204" pitchFamily="34"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CF4F3"/>
                    </a:solidFill>
                  </a:tcPr>
                </a:tc>
                <a:extLst>
                  <a:ext uri="{0D108BD9-81ED-4DB2-BD59-A6C34878D82A}">
                    <a16:rowId xmlns:a16="http://schemas.microsoft.com/office/drawing/2014/main" val="1806169384"/>
                  </a:ext>
                </a:extLst>
              </a:tr>
            </a:tbl>
          </a:graphicData>
        </a:graphic>
      </p:graphicFrame>
      <p:sp>
        <p:nvSpPr>
          <p:cNvPr id="14" name="Rectangle 13">
            <a:extLst>
              <a:ext uri="{FF2B5EF4-FFF2-40B4-BE49-F238E27FC236}">
                <a16:creationId xmlns:a16="http://schemas.microsoft.com/office/drawing/2014/main" id="{2825FB5D-71DC-CAB2-9455-BA1AD676A6FA}"/>
              </a:ext>
            </a:extLst>
          </p:cNvPr>
          <p:cNvSpPr/>
          <p:nvPr/>
        </p:nvSpPr>
        <p:spPr>
          <a:xfrm>
            <a:off x="8334375" y="1015464"/>
            <a:ext cx="3676650" cy="5325679"/>
          </a:xfrm>
          <a:prstGeom prst="rect">
            <a:avLst/>
          </a:prstGeom>
          <a:solidFill>
            <a:srgbClr val="095457"/>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6CB13D11-8BEE-C101-B8C9-4926EB46E3A4}"/>
              </a:ext>
            </a:extLst>
          </p:cNvPr>
          <p:cNvSpPr txBox="1"/>
          <p:nvPr/>
        </p:nvSpPr>
        <p:spPr>
          <a:xfrm>
            <a:off x="8642930" y="1164250"/>
            <a:ext cx="3215695" cy="4807085"/>
          </a:xfrm>
          <a:prstGeom prst="rect">
            <a:avLst/>
          </a:prstGeom>
          <a:noFill/>
        </p:spPr>
        <p:txBody>
          <a:bodyPr wrap="square" rtlCol="0">
            <a:spAutoFit/>
          </a:bodyPr>
          <a:lstStyle/>
          <a:p>
            <a:pPr marL="0" marR="0" lvl="0" indent="0" algn="l" defTabSz="914400" rtl="0" eaLnBrk="1" fontAlgn="auto" latinLnBrk="0" hangingPunct="1">
              <a:lnSpc>
                <a:spcPct val="110000"/>
              </a:lnSpc>
              <a:spcBef>
                <a:spcPts val="0"/>
              </a:spcBef>
              <a:spcAft>
                <a:spcPts val="600"/>
              </a:spcAft>
              <a:buClr>
                <a:srgbClr val="00A1DF"/>
              </a:buClr>
              <a:buSzTx/>
              <a:buFontTx/>
              <a:buNone/>
              <a:tabLst/>
              <a:defRPr/>
            </a:pPr>
            <a:r>
              <a:rPr kumimoji="0" lang="en-US" sz="1500" b="0"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To ensure comprehensive data collection without excessively lengthening calls, some modules - those covering service readiness aspects that are unlikely to change significantly over time - are </a:t>
            </a:r>
            <a:r>
              <a:rPr kumimoji="0" lang="en-US" sz="1500" b="1"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administered only once per year. </a:t>
            </a:r>
            <a:r>
              <a:rPr kumimoji="0" lang="en-US" sz="1500" b="0"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Other high-variability domains are </a:t>
            </a:r>
            <a:r>
              <a:rPr kumimoji="0" lang="en-US" sz="1500" b="1"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repeated in every survey round.</a:t>
            </a:r>
          </a:p>
          <a:p>
            <a:pPr marL="0" marR="0" lvl="0" indent="0" algn="l" defTabSz="914400" rtl="0" eaLnBrk="1" fontAlgn="auto" latinLnBrk="0" hangingPunct="1">
              <a:lnSpc>
                <a:spcPct val="110000"/>
              </a:lnSpc>
              <a:spcBef>
                <a:spcPts val="0"/>
              </a:spcBef>
              <a:spcAft>
                <a:spcPts val="600"/>
              </a:spcAft>
              <a:buClr>
                <a:srgbClr val="00A1DF"/>
              </a:buClr>
              <a:buSzTx/>
              <a:buFontTx/>
              <a:buNone/>
              <a:tabLst/>
              <a:defRPr/>
            </a:pPr>
            <a:endParaRPr kumimoji="0" lang="en-US" sz="1500" b="1"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endParaRPr>
          </a:p>
          <a:p>
            <a:pPr marL="0" marR="0" lvl="0" indent="0" algn="l" defTabSz="914400" rtl="0" eaLnBrk="1" fontAlgn="auto" latinLnBrk="0" hangingPunct="1">
              <a:lnSpc>
                <a:spcPct val="110000"/>
              </a:lnSpc>
              <a:spcBef>
                <a:spcPts val="0"/>
              </a:spcBef>
              <a:spcAft>
                <a:spcPts val="600"/>
              </a:spcAft>
              <a:buClr>
                <a:srgbClr val="00A1DF"/>
              </a:buClr>
              <a:buSzTx/>
              <a:buFontTx/>
              <a:buNone/>
              <a:tabLst/>
              <a:defRPr/>
            </a:pPr>
            <a:r>
              <a:rPr kumimoji="0" lang="en-US" sz="1500" b="1"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*Adaptive content: </a:t>
            </a:r>
            <a:r>
              <a:rPr kumimoji="0" lang="en-US" sz="1500" b="0"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Additional locally-relevant questions identified based on previous round’s responses, or addressing newly emerging priority topics.</a:t>
            </a:r>
          </a:p>
        </p:txBody>
      </p:sp>
    </p:spTree>
    <p:extLst>
      <p:ext uri="{BB962C8B-B14F-4D97-AF65-F5344CB8AC3E}">
        <p14:creationId xmlns:p14="http://schemas.microsoft.com/office/powerpoint/2010/main" val="2994226904"/>
      </p:ext>
    </p:extLst>
  </p:cSld>
  <p:clrMapOvr>
    <a:masterClrMapping/>
  </p:clrMapOvr>
  <mc:AlternateContent xmlns:mc="http://schemas.openxmlformats.org/markup-compatibility/2006" xmlns:p14="http://schemas.microsoft.com/office/powerpoint/2010/main">
    <mc:Choice Requires="p14">
      <p:transition spd="slow" p14:dur="2000" advTm="5523"/>
    </mc:Choice>
    <mc:Fallback xmlns="">
      <p:transition spd="slow" advTm="552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1400-D480-0EAC-38BA-81E189BA9A02}"/>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47F135F6-4808-7F37-EB64-0B25E6878097}"/>
              </a:ext>
            </a:extLst>
          </p:cNvPr>
          <p:cNvSpPr/>
          <p:nvPr/>
        </p:nvSpPr>
        <p:spPr>
          <a:xfrm>
            <a:off x="-4033" y="-30739"/>
            <a:ext cx="8837932" cy="686798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Box 6">
            <a:extLst>
              <a:ext uri="{FF2B5EF4-FFF2-40B4-BE49-F238E27FC236}">
                <a16:creationId xmlns:a16="http://schemas.microsoft.com/office/drawing/2014/main" id="{63F27FF4-590A-FF6F-5969-7A388810E088}"/>
              </a:ext>
            </a:extLst>
          </p:cNvPr>
          <p:cNvSpPr txBox="1"/>
          <p:nvPr/>
        </p:nvSpPr>
        <p:spPr>
          <a:xfrm>
            <a:off x="1552074" y="2565720"/>
            <a:ext cx="4164914" cy="1938992"/>
          </a:xfrm>
          <a:prstGeom prst="rect">
            <a:avLst/>
          </a:prstGeom>
          <a:noFill/>
        </p:spPr>
        <p:txBody>
          <a:bodyPr wrap="square" lIns="91440" tIns="45720" rIns="91440" bIns="45720" rtlCol="0" anchor="t">
            <a:spAutoFit/>
          </a:bodyPr>
          <a:lstStyle/>
          <a:p>
            <a:pPr algn="ctr"/>
            <a:r>
              <a:rPr lang="en-US" sz="4000" b="1">
                <a:solidFill>
                  <a:schemeClr val="bg1"/>
                </a:solidFill>
                <a:latin typeface="Poppins SemiBold" panose="00000700000000000000" pitchFamily="2" charset="0"/>
                <a:ea typeface="Inter" panose="02000503000000020004" pitchFamily="2" charset="0"/>
                <a:cs typeface="Poppins SemiBold" panose="00000700000000000000" pitchFamily="2" charset="0"/>
              </a:rPr>
              <a:t>2</a:t>
            </a:r>
            <a:r>
              <a:rPr lang="en-US" sz="4000" b="1" noProof="0">
                <a:solidFill>
                  <a:schemeClr val="bg1"/>
                </a:solidFill>
                <a:latin typeface="Poppins SemiBold" panose="00000700000000000000" pitchFamily="2" charset="0"/>
                <a:ea typeface="Inter" panose="02000503000000020004" pitchFamily="2" charset="0"/>
                <a:cs typeface="Poppins SemiBold" panose="00000700000000000000" pitchFamily="2" charset="0"/>
              </a:rPr>
              <a:t>. Primary Health Care Assessment</a:t>
            </a:r>
          </a:p>
        </p:txBody>
      </p:sp>
      <p:pic>
        <p:nvPicPr>
          <p:cNvPr id="8" name="Graphic 7">
            <a:extLst>
              <a:ext uri="{FF2B5EF4-FFF2-40B4-BE49-F238E27FC236}">
                <a16:creationId xmlns:a16="http://schemas.microsoft.com/office/drawing/2014/main" id="{E4FA9546-DDDC-CA39-1F6E-2830E8B665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105" y="122616"/>
            <a:ext cx="1044989" cy="443513"/>
          </a:xfrm>
          <a:prstGeom prst="rect">
            <a:avLst/>
          </a:prstGeom>
        </p:spPr>
      </p:pic>
      <p:pic>
        <p:nvPicPr>
          <p:cNvPr id="9" name="Picture 8" descr="A group of white logos&#10;&#10;AI-generated content may be incorrect.">
            <a:extLst>
              <a:ext uri="{FF2B5EF4-FFF2-40B4-BE49-F238E27FC236}">
                <a16:creationId xmlns:a16="http://schemas.microsoft.com/office/drawing/2014/main" id="{E3467F53-5684-7783-2FAF-D62F4CDF061E}"/>
              </a:ext>
            </a:extLst>
          </p:cNvPr>
          <p:cNvPicPr>
            <a:picLocks noChangeAspect="1"/>
          </p:cNvPicPr>
          <p:nvPr/>
        </p:nvPicPr>
        <p:blipFill>
          <a:blip r:embed="rId5">
            <a:extLst>
              <a:ext uri="{28A0092B-C50C-407E-A947-70E740481C1C}">
                <a14:useLocalDpi xmlns:a14="http://schemas.microsoft.com/office/drawing/2010/main" val="0"/>
              </a:ext>
            </a:extLst>
          </a:blip>
          <a:srcRect l="16446" t="38069" r="56052" b="44092"/>
          <a:stretch>
            <a:fillRect/>
          </a:stretch>
        </p:blipFill>
        <p:spPr>
          <a:xfrm>
            <a:off x="1386094" y="122616"/>
            <a:ext cx="1013926" cy="508220"/>
          </a:xfrm>
          <a:prstGeom prst="rect">
            <a:avLst/>
          </a:prstGeom>
        </p:spPr>
      </p:pic>
      <p:sp>
        <p:nvSpPr>
          <p:cNvPr id="16" name="Rectangle 15">
            <a:extLst>
              <a:ext uri="{FF2B5EF4-FFF2-40B4-BE49-F238E27FC236}">
                <a16:creationId xmlns:a16="http://schemas.microsoft.com/office/drawing/2014/main" id="{540654F4-AEBB-5DFD-AECA-B480CCFE5723}"/>
              </a:ext>
            </a:extLst>
          </p:cNvPr>
          <p:cNvSpPr/>
          <p:nvPr/>
        </p:nvSpPr>
        <p:spPr>
          <a:xfrm>
            <a:off x="1072040" y="1251284"/>
            <a:ext cx="6434229" cy="5149515"/>
          </a:xfrm>
          <a:prstGeom prst="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5A02AEA3-AD74-3F74-D8F6-B2EF2BA1F36B}"/>
              </a:ext>
            </a:extLst>
          </p:cNvPr>
          <p:cNvSpPr/>
          <p:nvPr/>
        </p:nvSpPr>
        <p:spPr>
          <a:xfrm>
            <a:off x="719219" y="2268895"/>
            <a:ext cx="688474" cy="3025000"/>
          </a:xfrm>
          <a:prstGeom prst="rect">
            <a:avLst/>
          </a:prstGeom>
          <a:solidFill>
            <a:srgbClr val="BED5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3" name="Picture 2">
            <a:extLst>
              <a:ext uri="{FF2B5EF4-FFF2-40B4-BE49-F238E27FC236}">
                <a16:creationId xmlns:a16="http://schemas.microsoft.com/office/drawing/2014/main" id="{297EA4C0-FEF5-30D8-453D-B3309B81579E}"/>
              </a:ext>
            </a:extLst>
          </p:cNvPr>
          <p:cNvPicPr>
            <a:picLocks noChangeAspect="1"/>
          </p:cNvPicPr>
          <p:nvPr/>
        </p:nvPicPr>
        <p:blipFill>
          <a:blip r:embed="rId6">
            <a:extLst>
              <a:ext uri="{28A0092B-C50C-407E-A947-70E740481C1C}">
                <a14:useLocalDpi xmlns:a14="http://schemas.microsoft.com/office/drawing/2010/main" val="0"/>
              </a:ext>
            </a:extLst>
          </a:blip>
          <a:srcRect l="10126" r="28248"/>
          <a:stretch>
            <a:fillRect/>
          </a:stretch>
        </p:blipFill>
        <p:spPr>
          <a:xfrm>
            <a:off x="5843523" y="-30740"/>
            <a:ext cx="6375772" cy="6867988"/>
          </a:xfrm>
          <a:prstGeom prst="rect">
            <a:avLst/>
          </a:prstGeom>
        </p:spPr>
      </p:pic>
    </p:spTree>
    <p:extLst>
      <p:ext uri="{BB962C8B-B14F-4D97-AF65-F5344CB8AC3E}">
        <p14:creationId xmlns:p14="http://schemas.microsoft.com/office/powerpoint/2010/main" val="408736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E7AC1-0E82-5D93-3F9D-507131ADC91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4361595-AF25-3EF0-39AC-A578941F653D}"/>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A87C6E0A-8DD2-FE5B-2D79-E5101736EDF0}"/>
              </a:ext>
            </a:extLst>
          </p:cNvPr>
          <p:cNvSpPr txBox="1"/>
          <p:nvPr/>
        </p:nvSpPr>
        <p:spPr>
          <a:xfrm>
            <a:off x="1241380" y="2880679"/>
            <a:ext cx="1885950" cy="230832"/>
          </a:xfrm>
          <a:prstGeom prst="rect">
            <a:avLst/>
          </a:prstGeom>
          <a:noFill/>
        </p:spPr>
        <p:txBody>
          <a:bodyPr wrap="square" rtlCol="0">
            <a:spAutoFit/>
          </a:bodyPr>
          <a:lstStyle/>
          <a:p>
            <a:r>
              <a:rPr lang="en-US" sz="900" b="1" noProof="0">
                <a:solidFill>
                  <a:schemeClr val="bg1">
                    <a:lumMod val="65000"/>
                  </a:schemeClr>
                </a:solidFill>
                <a:latin typeface="Segoe UI" panose="020B0502040204020203" pitchFamily="34" charset="0"/>
                <a:cs typeface="Segoe UI" panose="020B0502040204020203" pitchFamily="34" charset="0"/>
              </a:rPr>
              <a:t> - Upcoming Round 4 - </a:t>
            </a:r>
          </a:p>
        </p:txBody>
      </p:sp>
      <p:sp>
        <p:nvSpPr>
          <p:cNvPr id="3" name="TextBox 2">
            <a:extLst>
              <a:ext uri="{FF2B5EF4-FFF2-40B4-BE49-F238E27FC236}">
                <a16:creationId xmlns:a16="http://schemas.microsoft.com/office/drawing/2014/main" id="{7B8EA98F-A274-8F97-418A-27E4403EA2D9}"/>
              </a:ext>
            </a:extLst>
          </p:cNvPr>
          <p:cNvSpPr txBox="1"/>
          <p:nvPr/>
        </p:nvSpPr>
        <p:spPr>
          <a:xfrm>
            <a:off x="442161" y="6259506"/>
            <a:ext cx="11329745" cy="292388"/>
          </a:xfrm>
          <a:prstGeom prst="rect">
            <a:avLst/>
          </a:prstGeom>
          <a:noFill/>
        </p:spPr>
        <p:txBody>
          <a:bodyPr wrap="square">
            <a:spAutoFit/>
          </a:bodyPr>
          <a:lstStyle/>
          <a:p>
            <a:r>
              <a:rPr lang="en-US" sz="650" b="1" noProof="0">
                <a:latin typeface="Poppins" panose="00000500000000000000" pitchFamily="2" charset="0"/>
                <a:cs typeface="Poppins" panose="00000500000000000000" pitchFamily="2" charset="0"/>
              </a:rPr>
              <a:t>Note: </a:t>
            </a:r>
            <a:r>
              <a:rPr lang="en-US" sz="650" noProof="0">
                <a:latin typeface="Poppins" panose="00000500000000000000" pitchFamily="2" charset="0"/>
                <a:cs typeface="Poppins" panose="00000500000000000000" pitchFamily="2" charset="0"/>
              </a:rPr>
              <a:t>The color coding is reversed for the “recent challenges” indicator: green ≤10%, yellow 11–39%, and red ≥40%</a:t>
            </a:r>
            <a:r>
              <a:rPr lang="en-US" sz="650" b="1" noProof="0">
                <a:latin typeface="Poppins" panose="00000500000000000000" pitchFamily="2" charset="0"/>
                <a:cs typeface="Poppins" panose="00000500000000000000" pitchFamily="2" charset="0"/>
              </a:rPr>
              <a:t> **List of tracer essential health services: </a:t>
            </a:r>
            <a:r>
              <a:rPr lang="en-US" sz="650" noProof="0">
                <a:latin typeface="Poppins" panose="00000500000000000000" pitchFamily="2" charset="0"/>
                <a:cs typeface="Poppins" panose="00000500000000000000" pitchFamily="2" charset="0"/>
              </a:rPr>
              <a:t>The complete list of 24 tracer services included in the survey and presented in this report. </a:t>
            </a:r>
          </a:p>
          <a:p>
            <a:r>
              <a:rPr lang="en-US" sz="650" b="1" noProof="0">
                <a:latin typeface="Poppins" panose="00000500000000000000" pitchFamily="2" charset="0"/>
                <a:cs typeface="Poppins" panose="00000500000000000000" pitchFamily="2" charset="0"/>
              </a:rPr>
              <a:t>***List of tracer medical supplies: </a:t>
            </a:r>
            <a:r>
              <a:rPr lang="en-US" sz="650" noProof="0">
                <a:latin typeface="Poppins" panose="00000500000000000000" pitchFamily="2" charset="0"/>
                <a:cs typeface="Poppins" panose="00000500000000000000" pitchFamily="2" charset="0"/>
              </a:rPr>
              <a:t>The complete list of </a:t>
            </a:r>
            <a:r>
              <a:rPr lang="en-US" sz="650">
                <a:latin typeface="Poppins" panose="00000500000000000000" pitchFamily="2" charset="0"/>
                <a:cs typeface="Poppins" panose="00000500000000000000" pitchFamily="2" charset="0"/>
              </a:rPr>
              <a:t>48 </a:t>
            </a:r>
            <a:r>
              <a:rPr lang="en-US" sz="650" noProof="0">
                <a:latin typeface="Poppins" panose="00000500000000000000" pitchFamily="2" charset="0"/>
                <a:cs typeface="Poppins" panose="00000500000000000000" pitchFamily="2" charset="0"/>
              </a:rPr>
              <a:t>tracer medical supplies included in the survey and presented in this report. Details on the specific items and index calculation methodology are provided in the Methodological Annex.</a:t>
            </a:r>
          </a:p>
        </p:txBody>
      </p:sp>
      <p:sp>
        <p:nvSpPr>
          <p:cNvPr id="17" name="TextBox 16">
            <a:extLst>
              <a:ext uri="{FF2B5EF4-FFF2-40B4-BE49-F238E27FC236}">
                <a16:creationId xmlns:a16="http://schemas.microsoft.com/office/drawing/2014/main" id="{C3CF1CE2-9FF0-A2C0-17B5-1CF46C2A1782}"/>
              </a:ext>
            </a:extLst>
          </p:cNvPr>
          <p:cNvSpPr txBox="1"/>
          <p:nvPr/>
        </p:nvSpPr>
        <p:spPr>
          <a:xfrm>
            <a:off x="9002805" y="1923745"/>
            <a:ext cx="1885950" cy="230832"/>
          </a:xfrm>
          <a:prstGeom prst="rect">
            <a:avLst/>
          </a:prstGeom>
          <a:noFill/>
        </p:spPr>
        <p:txBody>
          <a:bodyPr wrap="square" rtlCol="0">
            <a:spAutoFit/>
          </a:bodyPr>
          <a:lstStyle/>
          <a:p>
            <a:r>
              <a:rPr lang="en-US" sz="900" b="1" noProof="0">
                <a:solidFill>
                  <a:schemeClr val="bg1">
                    <a:lumMod val="65000"/>
                  </a:schemeClr>
                </a:solidFill>
                <a:latin typeface="Segoe UI" panose="020B0502040204020203" pitchFamily="34" charset="0"/>
                <a:cs typeface="Segoe UI" panose="020B0502040204020203" pitchFamily="34" charset="0"/>
              </a:rPr>
              <a:t> - Upcoming Round </a:t>
            </a:r>
            <a:r>
              <a:rPr lang="en-US" sz="900" b="1">
                <a:solidFill>
                  <a:schemeClr val="bg1">
                    <a:lumMod val="65000"/>
                  </a:schemeClr>
                </a:solidFill>
                <a:latin typeface="Segoe UI" panose="020B0502040204020203" pitchFamily="34" charset="0"/>
                <a:cs typeface="Segoe UI" panose="020B0502040204020203" pitchFamily="34" charset="0"/>
              </a:rPr>
              <a:t>2</a:t>
            </a:r>
            <a:r>
              <a:rPr lang="en-US" sz="900" b="1" noProof="0">
                <a:solidFill>
                  <a:schemeClr val="bg1">
                    <a:lumMod val="65000"/>
                  </a:schemeClr>
                </a:solidFill>
                <a:latin typeface="Segoe UI" panose="020B0502040204020203" pitchFamily="34" charset="0"/>
                <a:cs typeface="Segoe UI" panose="020B0502040204020203" pitchFamily="34" charset="0"/>
              </a:rPr>
              <a:t> - </a:t>
            </a:r>
          </a:p>
        </p:txBody>
      </p:sp>
      <p:sp>
        <p:nvSpPr>
          <p:cNvPr id="18" name="TextBox 17">
            <a:extLst>
              <a:ext uri="{FF2B5EF4-FFF2-40B4-BE49-F238E27FC236}">
                <a16:creationId xmlns:a16="http://schemas.microsoft.com/office/drawing/2014/main" id="{2B889166-3DAE-C2D1-1759-A67B930C1A61}"/>
              </a:ext>
            </a:extLst>
          </p:cNvPr>
          <p:cNvSpPr txBox="1"/>
          <p:nvPr/>
        </p:nvSpPr>
        <p:spPr>
          <a:xfrm>
            <a:off x="9002805" y="2920997"/>
            <a:ext cx="1885950" cy="230832"/>
          </a:xfrm>
          <a:prstGeom prst="rect">
            <a:avLst/>
          </a:prstGeom>
          <a:noFill/>
        </p:spPr>
        <p:txBody>
          <a:bodyPr wrap="square" rtlCol="0">
            <a:spAutoFit/>
          </a:bodyPr>
          <a:lstStyle/>
          <a:p>
            <a:r>
              <a:rPr lang="en-US" sz="900" b="1" noProof="0">
                <a:solidFill>
                  <a:schemeClr val="bg1">
                    <a:lumMod val="65000"/>
                  </a:schemeClr>
                </a:solidFill>
                <a:latin typeface="Segoe UI" panose="020B0502040204020203" pitchFamily="34" charset="0"/>
                <a:cs typeface="Segoe UI" panose="020B0502040204020203" pitchFamily="34" charset="0"/>
              </a:rPr>
              <a:t> - Upcoming Round </a:t>
            </a:r>
            <a:r>
              <a:rPr lang="en-US" sz="900" b="1">
                <a:solidFill>
                  <a:schemeClr val="bg1">
                    <a:lumMod val="65000"/>
                  </a:schemeClr>
                </a:solidFill>
                <a:latin typeface="Segoe UI" panose="020B0502040204020203" pitchFamily="34" charset="0"/>
                <a:cs typeface="Segoe UI" panose="020B0502040204020203" pitchFamily="34" charset="0"/>
              </a:rPr>
              <a:t>3</a:t>
            </a:r>
            <a:r>
              <a:rPr lang="en-US" sz="900" b="1" noProof="0">
                <a:solidFill>
                  <a:schemeClr val="bg1">
                    <a:lumMod val="65000"/>
                  </a:schemeClr>
                </a:solidFill>
                <a:latin typeface="Segoe UI" panose="020B0502040204020203" pitchFamily="34" charset="0"/>
                <a:cs typeface="Segoe UI" panose="020B0502040204020203" pitchFamily="34" charset="0"/>
              </a:rPr>
              <a:t> - </a:t>
            </a:r>
          </a:p>
        </p:txBody>
      </p:sp>
      <p:sp>
        <p:nvSpPr>
          <p:cNvPr id="22" name="TextBox 21">
            <a:extLst>
              <a:ext uri="{FF2B5EF4-FFF2-40B4-BE49-F238E27FC236}">
                <a16:creationId xmlns:a16="http://schemas.microsoft.com/office/drawing/2014/main" id="{095A62FC-CA81-12B3-8F3F-F3B887B60072}"/>
              </a:ext>
            </a:extLst>
          </p:cNvPr>
          <p:cNvSpPr txBox="1"/>
          <p:nvPr/>
        </p:nvSpPr>
        <p:spPr>
          <a:xfrm>
            <a:off x="9002805" y="4344492"/>
            <a:ext cx="1885950" cy="230832"/>
          </a:xfrm>
          <a:prstGeom prst="rect">
            <a:avLst/>
          </a:prstGeom>
          <a:noFill/>
        </p:spPr>
        <p:txBody>
          <a:bodyPr wrap="square" rtlCol="0">
            <a:spAutoFit/>
          </a:bodyPr>
          <a:lstStyle/>
          <a:p>
            <a:r>
              <a:rPr lang="en-US" sz="900" b="1" noProof="0">
                <a:solidFill>
                  <a:schemeClr val="bg1">
                    <a:lumMod val="65000"/>
                  </a:schemeClr>
                </a:solidFill>
                <a:latin typeface="Segoe UI" panose="020B0502040204020203" pitchFamily="34" charset="0"/>
                <a:cs typeface="Segoe UI" panose="020B0502040204020203" pitchFamily="34" charset="0"/>
              </a:rPr>
              <a:t> - Upcoming Round 4 - </a:t>
            </a:r>
          </a:p>
        </p:txBody>
      </p:sp>
      <p:pic>
        <p:nvPicPr>
          <p:cNvPr id="7" name="Picture 6">
            <a:extLst>
              <a:ext uri="{FF2B5EF4-FFF2-40B4-BE49-F238E27FC236}">
                <a16:creationId xmlns:a16="http://schemas.microsoft.com/office/drawing/2014/main" id="{EC202CA3-92E1-0C5E-B349-8C5DBF41EE49}"/>
              </a:ext>
            </a:extLst>
          </p:cNvPr>
          <p:cNvPicPr>
            <a:picLocks noChangeAspect="1"/>
          </p:cNvPicPr>
          <p:nvPr/>
        </p:nvPicPr>
        <p:blipFill>
          <a:blip r:embed="rId4"/>
          <a:srcRect l="93039" t="19085" r="1667" b="69238"/>
          <a:stretch>
            <a:fillRect/>
          </a:stretch>
        </p:blipFill>
        <p:spPr>
          <a:xfrm>
            <a:off x="8357347" y="4967139"/>
            <a:ext cx="645458" cy="800848"/>
          </a:xfrm>
          <a:prstGeom prst="rect">
            <a:avLst/>
          </a:prstGeom>
        </p:spPr>
      </p:pic>
    </p:spTree>
    <p:extLst>
      <p:ext uri="{BB962C8B-B14F-4D97-AF65-F5344CB8AC3E}">
        <p14:creationId xmlns:p14="http://schemas.microsoft.com/office/powerpoint/2010/main" val="181260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93A2763-5036-2269-89E0-B562FA738EB5}"/>
              </a:ext>
            </a:extLst>
          </p:cNvPr>
          <p:cNvPicPr>
            <a:picLocks noChangeAspect="1"/>
          </p:cNvPicPr>
          <p:nvPr/>
        </p:nvPicPr>
        <p:blipFill>
          <a:blip r:embed="rId3"/>
          <a:stretch>
            <a:fillRect/>
          </a:stretch>
        </p:blipFill>
        <p:spPr>
          <a:xfrm>
            <a:off x="0" y="0"/>
            <a:ext cx="12192000" cy="6858000"/>
          </a:xfrm>
          <a:prstGeom prst="rect">
            <a:avLst/>
          </a:prstGeom>
        </p:spPr>
      </p:pic>
      <p:sp>
        <p:nvSpPr>
          <p:cNvPr id="13" name="TextBox 12">
            <a:extLst>
              <a:ext uri="{FF2B5EF4-FFF2-40B4-BE49-F238E27FC236}">
                <a16:creationId xmlns:a16="http://schemas.microsoft.com/office/drawing/2014/main" id="{BB2A9C9B-C386-3994-148B-9B4428651DCC}"/>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15" name="TextBox 14">
            <a:extLst>
              <a:ext uri="{FF2B5EF4-FFF2-40B4-BE49-F238E27FC236}">
                <a16:creationId xmlns:a16="http://schemas.microsoft.com/office/drawing/2014/main" id="{58149597-11E4-E104-7F2C-CF125F3C5937}"/>
              </a:ext>
            </a:extLst>
          </p:cNvPr>
          <p:cNvSpPr txBox="1"/>
          <p:nvPr/>
        </p:nvSpPr>
        <p:spPr>
          <a:xfrm>
            <a:off x="561788" y="1482842"/>
            <a:ext cx="4530166" cy="4662687"/>
          </a:xfrm>
          <a:prstGeom prst="rect">
            <a:avLst/>
          </a:prstGeom>
          <a:noFill/>
        </p:spPr>
        <p:txBody>
          <a:bodyPr wrap="square" lIns="91440" tIns="45720" rIns="91440" bIns="45720" anchor="t">
            <a:spAutoFit/>
          </a:bodyPr>
          <a:lstStyle/>
          <a:p>
            <a:pPr marL="285750" indent="-285750">
              <a:lnSpc>
                <a:spcPts val="1700"/>
              </a:lnSpc>
              <a:buFont typeface="Arial" panose="020B0604020202020204" pitchFamily="34" charset="0"/>
              <a:buChar char="•"/>
            </a:pPr>
            <a:r>
              <a:rPr lang="en-US" sz="1300" b="1" noProof="0">
                <a:latin typeface="Poppins" panose="00000500000000000000" pitchFamily="2" charset="0"/>
                <a:ea typeface="DejaVu Sans" panose="020B0603030804020204" pitchFamily="34" charset="0"/>
                <a:cs typeface="Poppins" panose="00000500000000000000" pitchFamily="2" charset="0"/>
              </a:rPr>
              <a:t>81% of health facilities reported unusual or increased challenges </a:t>
            </a:r>
            <a:r>
              <a:rPr lang="en-US" sz="1300" noProof="0">
                <a:latin typeface="Poppins" panose="00000500000000000000" pitchFamily="2" charset="0"/>
                <a:ea typeface="DejaVu Sans" panose="020B0603030804020204" pitchFamily="34" charset="0"/>
                <a:cs typeface="Poppins" panose="00000500000000000000" pitchFamily="2" charset="0"/>
              </a:rPr>
              <a:t>with service delivery in the three months preceding the survey. </a:t>
            </a:r>
          </a:p>
          <a:p>
            <a:pPr>
              <a:lnSpc>
                <a:spcPts val="1700"/>
              </a:lnSpc>
            </a:pPr>
            <a:endParaRPr lang="en-US" sz="1300" noProof="0">
              <a:latin typeface="Poppins" panose="00000500000000000000" pitchFamily="2" charset="0"/>
              <a:ea typeface="DejaVu Sans" panose="020B0603030804020204" pitchFamily="34" charset="0"/>
              <a:cs typeface="Poppins" panose="00000500000000000000" pitchFamily="2" charset="0"/>
            </a:endParaRPr>
          </a:p>
          <a:p>
            <a:pPr marL="285750" indent="-285750">
              <a:lnSpc>
                <a:spcPts val="1700"/>
              </a:lnSpc>
              <a:buFont typeface="Arial" panose="020B0604020202020204" pitchFamily="34" charset="0"/>
              <a:buChar char="•"/>
            </a:pPr>
            <a:r>
              <a:rPr lang="en-US" sz="1300" noProof="0">
                <a:latin typeface="Poppins" panose="00000500000000000000" pitchFamily="2" charset="0"/>
                <a:ea typeface="DejaVu Sans" panose="020B0603030804020204" pitchFamily="34" charset="0"/>
                <a:cs typeface="Poppins" panose="00000500000000000000" pitchFamily="2" charset="0"/>
              </a:rPr>
              <a:t>The most frequently reported challenges relate to</a:t>
            </a:r>
            <a:r>
              <a:rPr lang="en-US" sz="1300" b="1" noProof="0">
                <a:latin typeface="Poppins" panose="00000500000000000000" pitchFamily="2" charset="0"/>
                <a:ea typeface="DejaVu Sans" panose="020B0603030804020204" pitchFamily="34" charset="0"/>
                <a:cs typeface="Poppins" panose="00000500000000000000" pitchFamily="2" charset="0"/>
              </a:rPr>
              <a:t> infrastructure </a:t>
            </a:r>
            <a:r>
              <a:rPr lang="en-US" sz="1300" noProof="0">
                <a:latin typeface="Poppins" panose="00000500000000000000" pitchFamily="2" charset="0"/>
                <a:ea typeface="DejaVu Sans" panose="020B0603030804020204" pitchFamily="34" charset="0"/>
                <a:cs typeface="Poppins" panose="00000500000000000000" pitchFamily="2" charset="0"/>
              </a:rPr>
              <a:t>(reported by about half of facilities), as well as financing and patient transportation.</a:t>
            </a:r>
          </a:p>
          <a:p>
            <a:pPr marL="285750" indent="-285750">
              <a:lnSpc>
                <a:spcPts val="1700"/>
              </a:lnSpc>
              <a:buFont typeface="Arial" panose="020B0604020202020204" pitchFamily="34" charset="0"/>
              <a:buChar char="•"/>
            </a:pPr>
            <a:endParaRPr lang="en-US" sz="1300">
              <a:latin typeface="Poppins" panose="00000500000000000000" pitchFamily="2" charset="0"/>
              <a:ea typeface="DejaVu Sans" panose="020B0603030804020204" pitchFamily="34" charset="0"/>
              <a:cs typeface="Poppins" panose="00000500000000000000" pitchFamily="2" charset="0"/>
            </a:endParaRPr>
          </a:p>
          <a:p>
            <a:pPr marL="285750" indent="-285750">
              <a:lnSpc>
                <a:spcPts val="1700"/>
              </a:lnSpc>
              <a:buFont typeface="Arial" panose="020B0604020202020204" pitchFamily="34" charset="0"/>
              <a:buChar char="•"/>
            </a:pPr>
            <a:r>
              <a:rPr lang="en-US" sz="1300" noProof="0">
                <a:latin typeface="Poppins" panose="00000500000000000000" pitchFamily="2" charset="0"/>
                <a:ea typeface="DejaVu Sans" panose="020B0603030804020204" pitchFamily="34" charset="0"/>
                <a:cs typeface="Poppins" panose="00000500000000000000" pitchFamily="2" charset="0"/>
              </a:rPr>
              <a:t>Facility managers emphasized </a:t>
            </a:r>
            <a:r>
              <a:rPr lang="en-US" sz="1300" b="1" noProof="0">
                <a:latin typeface="Poppins" panose="00000500000000000000" pitchFamily="2" charset="0"/>
                <a:ea typeface="DejaVu Sans" panose="020B0603030804020204" pitchFamily="34" charset="0"/>
                <a:cs typeface="Poppins" panose="00000500000000000000" pitchFamily="2" charset="0"/>
              </a:rPr>
              <a:t>transport constraints, weak infrastructure </a:t>
            </a:r>
            <a:r>
              <a:rPr lang="en-US" sz="1300" noProof="0">
                <a:latin typeface="Poppins" panose="00000500000000000000" pitchFamily="2" charset="0"/>
                <a:ea typeface="DejaVu Sans" panose="020B0603030804020204" pitchFamily="34" charset="0"/>
                <a:cs typeface="Poppins" panose="00000500000000000000" pitchFamily="2" charset="0"/>
              </a:rPr>
              <a:t>(lack of electricity, water, and adequate buildings), and staff shortages as major barriers, disrupting</a:t>
            </a:r>
            <a:r>
              <a:rPr lang="en-US" sz="1300">
                <a:latin typeface="Poppins" panose="00000500000000000000" pitchFamily="2" charset="0"/>
                <a:ea typeface="DejaVu Sans" panose="020B0603030804020204" pitchFamily="34" charset="0"/>
                <a:cs typeface="Poppins" panose="00000500000000000000" pitchFamily="2" charset="0"/>
              </a:rPr>
              <a:t> </a:t>
            </a:r>
            <a:r>
              <a:rPr lang="en-US" sz="1300" noProof="0">
                <a:latin typeface="Poppins" panose="00000500000000000000" pitchFamily="2" charset="0"/>
                <a:ea typeface="DejaVu Sans" panose="020B0603030804020204" pitchFamily="34" charset="0"/>
                <a:cs typeface="Poppins" panose="00000500000000000000" pitchFamily="2" charset="0"/>
              </a:rPr>
              <a:t>service delivery and limiting outreach, referrals, and productivity. These issues, combined with </a:t>
            </a:r>
            <a:r>
              <a:rPr lang="en-US" sz="1300" b="1" noProof="0">
                <a:latin typeface="Poppins" panose="00000500000000000000" pitchFamily="2" charset="0"/>
                <a:ea typeface="DejaVu Sans" panose="020B0603030804020204" pitchFamily="34" charset="0"/>
                <a:cs typeface="Poppins" panose="00000500000000000000" pitchFamily="2" charset="0"/>
              </a:rPr>
              <a:t>financial constraints and insufficient medical supplies</a:t>
            </a:r>
            <a:r>
              <a:rPr lang="en-US" sz="1300" noProof="0">
                <a:latin typeface="Poppins" panose="00000500000000000000" pitchFamily="2" charset="0"/>
                <a:ea typeface="DejaVu Sans" panose="020B0603030804020204" pitchFamily="34" charset="0"/>
                <a:cs typeface="Poppins" panose="00000500000000000000" pitchFamily="2" charset="0"/>
              </a:rPr>
              <a:t> (forcing patients to buy drugs externally), reduce service availability and quality while also discouraging patients from accessing care.</a:t>
            </a:r>
          </a:p>
          <a:p>
            <a:pPr>
              <a:lnSpc>
                <a:spcPts val="1700"/>
              </a:lnSpc>
            </a:pPr>
            <a:endParaRPr lang="en-US" sz="1300" noProof="0">
              <a:latin typeface="Poppins" panose="00000500000000000000" pitchFamily="2" charset="0"/>
              <a:ea typeface="DejaVu Sans" panose="020B0603030804020204" pitchFamily="34" charset="0"/>
              <a:cs typeface="Poppins" panose="00000500000000000000" pitchFamily="2" charset="0"/>
            </a:endParaRPr>
          </a:p>
        </p:txBody>
      </p:sp>
      <p:sp>
        <p:nvSpPr>
          <p:cNvPr id="23" name="TextBox 22">
            <a:extLst>
              <a:ext uri="{FF2B5EF4-FFF2-40B4-BE49-F238E27FC236}">
                <a16:creationId xmlns:a16="http://schemas.microsoft.com/office/drawing/2014/main" id="{C72294EA-5F9C-EA95-0907-4B31FF3D6196}"/>
              </a:ext>
            </a:extLst>
          </p:cNvPr>
          <p:cNvSpPr txBox="1"/>
          <p:nvPr/>
        </p:nvSpPr>
        <p:spPr>
          <a:xfrm>
            <a:off x="5904724" y="6280076"/>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service delivery challenges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959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D791ACF-BDD8-5031-679C-33897482CDAC}"/>
              </a:ext>
            </a:extLst>
          </p:cNvPr>
          <p:cNvPicPr>
            <a:picLocks noChangeAspect="1"/>
          </p:cNvPicPr>
          <p:nvPr/>
        </p:nvPicPr>
        <p:blipFill>
          <a:blip r:embed="rId3"/>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700D0EC4-073A-724F-E60E-83B1E90A8953}"/>
              </a:ext>
            </a:extLst>
          </p:cNvPr>
          <p:cNvSpPr txBox="1"/>
          <p:nvPr/>
        </p:nvSpPr>
        <p:spPr>
          <a:xfrm>
            <a:off x="438418" y="1486794"/>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BA789CFC-56C0-C629-9769-9801E608CC7E}"/>
              </a:ext>
            </a:extLst>
          </p:cNvPr>
          <p:cNvSpPr txBox="1"/>
          <p:nvPr/>
        </p:nvSpPr>
        <p:spPr>
          <a:xfrm>
            <a:off x="604735" y="1546340"/>
            <a:ext cx="4465407" cy="4666277"/>
          </a:xfrm>
          <a:prstGeom prst="rect">
            <a:avLst/>
          </a:prstGeom>
          <a:noFill/>
        </p:spPr>
        <p:txBody>
          <a:bodyPr wrap="square" lIns="91440" tIns="45720" rIns="91440" bIns="45720" anchor="t">
            <a:spAutoFit/>
          </a:bodyPr>
          <a:lstStyle/>
          <a:p>
            <a:pPr marL="285750" indent="-285750">
              <a:lnSpc>
                <a:spcPts val="1700"/>
              </a:lnSpc>
              <a:buFont typeface="Arial" panose="020B0604020202020204" pitchFamily="34" charset="0"/>
              <a:buChar char="•"/>
            </a:pPr>
            <a:r>
              <a:rPr lang="en-US" sz="1400" noProof="0">
                <a:latin typeface="Poppins" panose="00000500000000000000" pitchFamily="2" charset="0"/>
                <a:cs typeface="Poppins" panose="00000500000000000000" pitchFamily="2" charset="0"/>
              </a:rPr>
              <a:t>Health facilities reported providing on average </a:t>
            </a:r>
            <a:r>
              <a:rPr lang="en-US" sz="1400" b="1" noProof="0">
                <a:latin typeface="Poppins" panose="00000500000000000000" pitchFamily="2" charset="0"/>
                <a:cs typeface="Poppins" panose="00000500000000000000" pitchFamily="2" charset="0"/>
              </a:rPr>
              <a:t>82% of key services</a:t>
            </a:r>
            <a:r>
              <a:rPr lang="en-US" sz="1400" noProof="0">
                <a:latin typeface="Poppins" panose="00000500000000000000" pitchFamily="2" charset="0"/>
                <a:cs typeface="Poppins" panose="00000500000000000000" pitchFamily="2" charset="0"/>
              </a:rPr>
              <a:t>, but only</a:t>
            </a:r>
            <a:r>
              <a:rPr lang="en-US" sz="1400" b="1" noProof="0">
                <a:latin typeface="Poppins" panose="00000500000000000000" pitchFamily="2" charset="0"/>
                <a:cs typeface="Poppins" panose="00000500000000000000" pitchFamily="2" charset="0"/>
              </a:rPr>
              <a:t> 4% offered the full package of all essential services.</a:t>
            </a:r>
            <a:endParaRPr lang="en-US" sz="1400" b="1" noProof="0">
              <a:latin typeface="Poppins" panose="00000500000000000000" pitchFamily="2" charset="0"/>
              <a:ea typeface="Calibri"/>
              <a:cs typeface="Poppins" panose="00000500000000000000" pitchFamily="2" charset="0"/>
            </a:endParaRPr>
          </a:p>
          <a:p>
            <a:pPr marL="285750" indent="-285750">
              <a:lnSpc>
                <a:spcPts val="1700"/>
              </a:lnSpc>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lnSpc>
                <a:spcPts val="1700"/>
              </a:lnSpc>
              <a:buFont typeface="Arial" panose="020B0604020202020204" pitchFamily="34" charset="0"/>
              <a:buChar char="•"/>
            </a:pPr>
            <a:r>
              <a:rPr lang="en-US" sz="1400" noProof="0">
                <a:latin typeface="Poppins" panose="00000500000000000000" pitchFamily="2" charset="0"/>
                <a:cs typeface="Poppins" panose="00000500000000000000" pitchFamily="2" charset="0"/>
              </a:rPr>
              <a:t>Basic maternal, newborn, and child health services were reported as widely available. </a:t>
            </a:r>
            <a:r>
              <a:rPr lang="en-US" sz="1400" b="1" noProof="0">
                <a:latin typeface="Poppins" panose="00000500000000000000" pitchFamily="2" charset="0"/>
                <a:cs typeface="Poppins" panose="00000500000000000000" pitchFamily="2" charset="0"/>
              </a:rPr>
              <a:t>Child nutrition services were more limited, </a:t>
            </a:r>
            <a:r>
              <a:rPr lang="en-US" sz="1400" noProof="0">
                <a:latin typeface="Poppins" panose="00000500000000000000" pitchFamily="2" charset="0"/>
                <a:cs typeface="Poppins" panose="00000500000000000000" pitchFamily="2" charset="0"/>
              </a:rPr>
              <a:t>particularly the treatment of children with moderate (MAM) or severe acute malnutrition (SAM).</a:t>
            </a:r>
            <a:r>
              <a:rPr lang="en-US" sz="1400" b="1" noProof="0">
                <a:latin typeface="Poppins" panose="00000500000000000000" pitchFamily="2" charset="0"/>
                <a:cs typeface="Poppins" panose="00000500000000000000" pitchFamily="2" charset="0"/>
              </a:rPr>
              <a:t> </a:t>
            </a:r>
          </a:p>
          <a:p>
            <a:pPr marL="285750" indent="-285750">
              <a:lnSpc>
                <a:spcPts val="1700"/>
              </a:lnSpc>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lnSpc>
                <a:spcPts val="1700"/>
              </a:lnSpc>
              <a:buFont typeface="Arial" panose="020B0604020202020204" pitchFamily="34" charset="0"/>
              <a:buChar char="•"/>
            </a:pPr>
            <a:r>
              <a:rPr lang="en-US" sz="1400" b="1" noProof="0">
                <a:latin typeface="Poppins" panose="00000500000000000000" pitchFamily="2" charset="0"/>
                <a:cs typeface="Poppins" panose="00000500000000000000" pitchFamily="2" charset="0"/>
              </a:rPr>
              <a:t>Mental health services, basic surgical care, and cervical cancer screening</a:t>
            </a:r>
            <a:r>
              <a:rPr lang="en-US" sz="1400" noProof="0">
                <a:latin typeface="Poppins" panose="00000500000000000000" pitchFamily="2" charset="0"/>
                <a:cs typeface="Poppins" panose="00000500000000000000" pitchFamily="2" charset="0"/>
              </a:rPr>
              <a:t> </a:t>
            </a:r>
            <a:r>
              <a:rPr lang="en-US" sz="1400" b="1" noProof="0">
                <a:latin typeface="Poppins" panose="00000500000000000000" pitchFamily="2" charset="0"/>
                <a:cs typeface="Poppins" panose="00000500000000000000" pitchFamily="2" charset="0"/>
              </a:rPr>
              <a:t>were rarely offered </a:t>
            </a:r>
            <a:r>
              <a:rPr lang="en-US" sz="1400" noProof="0">
                <a:latin typeface="Poppins" panose="00000500000000000000" pitchFamily="2" charset="0"/>
                <a:cs typeface="Poppins" panose="00000500000000000000" pitchFamily="2" charset="0"/>
              </a:rPr>
              <a:t>– with fewer than one-third of facilities reporting availability of these services.</a:t>
            </a:r>
          </a:p>
          <a:p>
            <a:pPr marL="285750" indent="-285750">
              <a:lnSpc>
                <a:spcPts val="1700"/>
              </a:lnSpc>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lnSpc>
                <a:spcPts val="1700"/>
              </a:lnSpc>
              <a:buFont typeface="Arial" panose="020B0604020202020204" pitchFamily="34" charset="0"/>
              <a:buChar char="•"/>
            </a:pPr>
            <a:r>
              <a:rPr lang="en-US" sz="1400" noProof="0">
                <a:latin typeface="Poppins" panose="00000500000000000000" pitchFamily="2" charset="0"/>
                <a:cs typeface="Poppins" panose="00000500000000000000" pitchFamily="2" charset="0"/>
              </a:rPr>
              <a:t>Availability of basic RMNCAH-N services was higher overall in district hospitals and lower in MCHP facilities. </a:t>
            </a:r>
          </a:p>
        </p:txBody>
      </p:sp>
      <p:sp>
        <p:nvSpPr>
          <p:cNvPr id="10" name="TextBox 9">
            <a:extLst>
              <a:ext uri="{FF2B5EF4-FFF2-40B4-BE49-F238E27FC236}">
                <a16:creationId xmlns:a16="http://schemas.microsoft.com/office/drawing/2014/main" id="{0EC9335A-D643-3F9B-B7B5-4D3B2596DCA6}"/>
              </a:ext>
            </a:extLst>
          </p:cNvPr>
          <p:cNvSpPr txBox="1"/>
          <p:nvPr/>
        </p:nvSpPr>
        <p:spPr>
          <a:xfrm>
            <a:off x="5904724" y="6333863"/>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health services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1949702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912F68-6D29-8BBA-7D26-5AC7A6E399C4}"/>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216D96F7-8962-6BB8-5560-CB9BB3DDCE5D}"/>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8578B9A4-5341-3F87-2540-51305EBC3CE9}"/>
              </a:ext>
            </a:extLst>
          </p:cNvPr>
          <p:cNvSpPr txBox="1"/>
          <p:nvPr/>
        </p:nvSpPr>
        <p:spPr>
          <a:xfrm>
            <a:off x="577734" y="1601491"/>
            <a:ext cx="4454454" cy="2268185"/>
          </a:xfrm>
          <a:prstGeom prst="rect">
            <a:avLst/>
          </a:prstGeom>
          <a:noFill/>
        </p:spPr>
        <p:txBody>
          <a:bodyPr wrap="square" lIns="91440" tIns="45720" rIns="91440" bIns="45720" anchor="t">
            <a:spAutoFit/>
          </a:bodyPr>
          <a:lstStyle/>
          <a:p>
            <a:pPr marL="285750" indent="-285750">
              <a:lnSpc>
                <a:spcPts val="1700"/>
              </a:lnSpc>
              <a:buFont typeface="Arial" panose="020B0604020202020204" pitchFamily="34" charset="0"/>
              <a:buChar char="•"/>
            </a:pPr>
            <a:r>
              <a:rPr lang="en-US" sz="1400" noProof="0">
                <a:latin typeface="Poppins" panose="00000500000000000000" pitchFamily="2" charset="0"/>
                <a:cs typeface="Poppins" panose="00000500000000000000" pitchFamily="2" charset="0"/>
              </a:rPr>
              <a:t>Nearly all health facilities reported providing </a:t>
            </a:r>
            <a:r>
              <a:rPr lang="en-US" sz="1400" b="1" noProof="0">
                <a:latin typeface="Poppins" panose="00000500000000000000" pitchFamily="2" charset="0"/>
                <a:cs typeface="Poppins" panose="00000500000000000000" pitchFamily="2" charset="0"/>
              </a:rPr>
              <a:t>non-emergency outpatient services for at least 8 hours per day, 5 days a week</a:t>
            </a:r>
            <a:r>
              <a:rPr lang="en-US" sz="1400" noProof="0">
                <a:latin typeface="Poppins" panose="00000500000000000000" pitchFamily="2" charset="0"/>
                <a:cs typeface="Poppins" panose="00000500000000000000" pitchFamily="2" charset="0"/>
              </a:rPr>
              <a:t>.</a:t>
            </a:r>
          </a:p>
          <a:p>
            <a:pPr marL="285750" indent="-285750">
              <a:lnSpc>
                <a:spcPts val="1700"/>
              </a:lnSpc>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lnSpc>
                <a:spcPts val="1700"/>
              </a:lnSpc>
              <a:buFont typeface="Arial" panose="020B0604020202020204" pitchFamily="34" charset="0"/>
              <a:buChar char="•"/>
            </a:pPr>
            <a:r>
              <a:rPr lang="en-US" sz="1400" noProof="0">
                <a:latin typeface="Poppins" panose="00000500000000000000" pitchFamily="2" charset="0"/>
                <a:cs typeface="Poppins" panose="00000500000000000000" pitchFamily="2" charset="0"/>
              </a:rPr>
              <a:t>Among facilities offering delivery services, </a:t>
            </a:r>
            <a:r>
              <a:rPr lang="en-US" sz="1400" b="1" noProof="0">
                <a:latin typeface="Poppins" panose="00000500000000000000" pitchFamily="2" charset="0"/>
                <a:cs typeface="Poppins" panose="00000500000000000000" pitchFamily="2" charset="0"/>
              </a:rPr>
              <a:t>a large majority (88%) reported being open 24/7 with a healthcare worker continuously available, </a:t>
            </a:r>
            <a:r>
              <a:rPr lang="en-US" sz="1400" noProof="0">
                <a:latin typeface="Poppins" panose="00000500000000000000" pitchFamily="2" charset="0"/>
                <a:cs typeface="Poppins" panose="00000500000000000000" pitchFamily="2" charset="0"/>
              </a:rPr>
              <a:t>reflecting strong availability of critical services.</a:t>
            </a:r>
          </a:p>
          <a:p>
            <a:pPr marL="285750" indent="-285750">
              <a:lnSpc>
                <a:spcPts val="1700"/>
              </a:lnSpc>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B9C8E3F7-D2CE-29F2-80DD-C5A6A6C995C5}"/>
              </a:ext>
            </a:extLst>
          </p:cNvPr>
          <p:cNvSpPr txBox="1"/>
          <p:nvPr/>
        </p:nvSpPr>
        <p:spPr>
          <a:xfrm>
            <a:off x="5934635" y="6215530"/>
            <a:ext cx="5558118" cy="276999"/>
          </a:xfrm>
          <a:prstGeom prst="rect">
            <a:avLst/>
          </a:prstGeom>
          <a:noFill/>
        </p:spPr>
        <p:txBody>
          <a:bodyPr wrap="square" rtlCol="0">
            <a:spAutoFit/>
          </a:bodyPr>
          <a:lstStyle/>
          <a:p>
            <a:r>
              <a:rPr lang="en-US" sz="600" b="1" noProof="0">
                <a:solidFill>
                  <a:schemeClr val="tx1">
                    <a:lumMod val="75000"/>
                    <a:lumOff val="25000"/>
                  </a:schemeClr>
                </a:solidFill>
                <a:latin typeface="Poppins" panose="00000500000000000000" pitchFamily="2" charset="0"/>
                <a:ea typeface="Roboto" panose="02000000000000000000" pitchFamily="2" charset="0"/>
                <a:cs typeface="Poppins" panose="00000500000000000000" pitchFamily="2" charset="0"/>
              </a:rPr>
              <a:t>Note: </a:t>
            </a:r>
            <a:r>
              <a:rPr lang="en-US" sz="600" noProof="0">
                <a:solidFill>
                  <a:schemeClr val="tx1">
                    <a:lumMod val="75000"/>
                    <a:lumOff val="25000"/>
                  </a:schemeClr>
                </a:solidFill>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DH: District hospital; CHC: Community Health Center; CHP: Community Health Post; MCHP: Maternal and Child Healthcare Post. </a:t>
            </a:r>
          </a:p>
        </p:txBody>
      </p:sp>
    </p:spTree>
    <p:extLst>
      <p:ext uri="{BB962C8B-B14F-4D97-AF65-F5344CB8AC3E}">
        <p14:creationId xmlns:p14="http://schemas.microsoft.com/office/powerpoint/2010/main" val="282959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661CD3-41F6-5918-445B-AEB52B863DE9}"/>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A1F8901-E3C6-14B7-C121-DBBD7DE4BA6C}"/>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51BE158D-6C2D-A145-52C1-E393507D8DC9}"/>
              </a:ext>
            </a:extLst>
          </p:cNvPr>
          <p:cNvSpPr txBox="1"/>
          <p:nvPr/>
        </p:nvSpPr>
        <p:spPr>
          <a:xfrm>
            <a:off x="632325" y="1621960"/>
            <a:ext cx="4447675" cy="2893100"/>
          </a:xfrm>
          <a:prstGeom prst="rect">
            <a:avLst/>
          </a:prstGeom>
          <a:noFill/>
        </p:spPr>
        <p:txBody>
          <a:bodyPr wrap="square">
            <a:spAutoFit/>
          </a:bodyPr>
          <a:lstStyle/>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Outreach services were generally widely available </a:t>
            </a:r>
            <a:r>
              <a:rPr lang="en-US" sz="1400" noProof="0">
                <a:latin typeface="Poppins" panose="00000500000000000000" pitchFamily="2" charset="0"/>
                <a:cs typeface="Poppins" panose="00000500000000000000" pitchFamily="2" charset="0"/>
              </a:rPr>
              <a:t>across surveyed facilities.</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Nearly all facilities reported offering child immunization through both fixed and outreach strategies</a:t>
            </a:r>
            <a:r>
              <a:rPr lang="en-US" sz="1400" b="1">
                <a:latin typeface="Poppins" panose="00000500000000000000" pitchFamily="2" charset="0"/>
                <a:cs typeface="Poppins" panose="00000500000000000000" pitchFamily="2" charset="0"/>
              </a:rPr>
              <a:t>.</a:t>
            </a:r>
            <a:r>
              <a:rPr lang="en-US" sz="1400" noProof="0">
                <a:latin typeface="Poppins" panose="00000500000000000000" pitchFamily="2" charset="0"/>
                <a:cs typeface="Poppins" panose="00000500000000000000" pitchFamily="2" charset="0"/>
              </a:rPr>
              <a:t> </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A large majority (&gt;80%) also provided outreach growth monitoring, promotion, and curative care services for children.</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23912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9B77A3-1513-ACF6-C883-DC91027315D0}"/>
              </a:ext>
            </a:extLst>
          </p:cNvPr>
          <p:cNvPicPr>
            <a:picLocks noChangeAspect="1"/>
          </p:cNvPicPr>
          <p:nvPr/>
        </p:nvPicPr>
        <p:blipFill>
          <a:blip r:embed="rId3"/>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50DCB00C-B4EF-DA95-F809-4B59CBED6300}"/>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06602690-68FE-E23A-48DB-6B9EE2403DF4}"/>
              </a:ext>
            </a:extLst>
          </p:cNvPr>
          <p:cNvSpPr txBox="1"/>
          <p:nvPr/>
        </p:nvSpPr>
        <p:spPr>
          <a:xfrm>
            <a:off x="540762" y="5462195"/>
            <a:ext cx="4457956" cy="492443"/>
          </a:xfrm>
          <a:prstGeom prst="rect">
            <a:avLst/>
          </a:prstGeom>
          <a:noFill/>
        </p:spPr>
        <p:txBody>
          <a:bodyPr wrap="square">
            <a:spAutoFit/>
          </a:bodyPr>
          <a:lstStyle/>
          <a:p>
            <a:pPr>
              <a:spcAft>
                <a:spcPts val="600"/>
              </a:spcAft>
            </a:pPr>
            <a:r>
              <a:rPr lang="en-US" sz="1300" b="1" noProof="0">
                <a:solidFill>
                  <a:srgbClr val="08716C"/>
                </a:solidFill>
                <a:latin typeface="Poppins Light" panose="00000400000000000000" pitchFamily="2" charset="0"/>
                <a:cs typeface="Poppins Light" panose="00000400000000000000" pitchFamily="2" charset="0"/>
              </a:rPr>
              <a:t>[Additional infrastructure findings will become available in subsequent survey rounds]</a:t>
            </a:r>
          </a:p>
        </p:txBody>
      </p:sp>
      <p:sp>
        <p:nvSpPr>
          <p:cNvPr id="11" name="TextBox 10">
            <a:extLst>
              <a:ext uri="{FF2B5EF4-FFF2-40B4-BE49-F238E27FC236}">
                <a16:creationId xmlns:a16="http://schemas.microsoft.com/office/drawing/2014/main" id="{8E9023E9-55E6-7CA9-BE95-DACF90CA61D9}"/>
              </a:ext>
            </a:extLst>
          </p:cNvPr>
          <p:cNvSpPr txBox="1"/>
          <p:nvPr/>
        </p:nvSpPr>
        <p:spPr>
          <a:xfrm>
            <a:off x="609598" y="1634462"/>
            <a:ext cx="4457956" cy="39703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Major gaps in the availability of water and power were reported in facilities.</a:t>
            </a:r>
          </a:p>
          <a:p>
            <a:pPr marL="285750" indent="-285750">
              <a:buFont typeface="Arial" panose="020B0604020202020204" pitchFamily="34" charset="0"/>
              <a:buChar char="•"/>
            </a:pPr>
            <a:endParaRPr lang="en-US" sz="1400" b="1">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Only 65% of health facilities reported having at least one source of electricity</a:t>
            </a:r>
            <a:r>
              <a:rPr lang="en-US" sz="1400" b="1">
                <a:latin typeface="Poppins" panose="00000500000000000000" pitchFamily="2" charset="0"/>
                <a:cs typeface="Poppins" panose="00000500000000000000" pitchFamily="2" charset="0"/>
              </a:rPr>
              <a:t>, and only half had a water source.</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a:latin typeface="Poppins" panose="00000500000000000000" pitchFamily="2" charset="0"/>
                <a:cs typeface="Poppins" panose="00000500000000000000" pitchFamily="2" charset="0"/>
              </a:rPr>
              <a:t>District hospitals had relatively higher availability of these basic utilities – despite 21% reporting having no water source.</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a:latin typeface="Poppins" panose="00000500000000000000" pitchFamily="2" charset="0"/>
                <a:cs typeface="Poppins" panose="00000500000000000000" pitchFamily="2" charset="0"/>
              </a:rPr>
              <a:t>Lower-level facility types reported worse availability of power and electricity overall, with the MCHP facilities showing the poorest availability.</a:t>
            </a: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b="1">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endParaRPr lang="en-US" sz="1400" noProof="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B5CF348D-C6F9-E23E-FFFC-70A8F9DA06C3}"/>
              </a:ext>
            </a:extLst>
          </p:cNvPr>
          <p:cNvSpPr txBox="1"/>
          <p:nvPr/>
        </p:nvSpPr>
        <p:spPr>
          <a:xfrm>
            <a:off x="5904724" y="5873677"/>
            <a:ext cx="5583755" cy="276999"/>
          </a:xfrm>
          <a:prstGeom prst="rect">
            <a:avLst/>
          </a:prstGeom>
          <a:noFill/>
        </p:spPr>
        <p:txBody>
          <a:bodyPr wrap="square" rtlCol="0">
            <a:spAutoFit/>
          </a:bodyPr>
          <a:lstStyle/>
          <a:p>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828466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1FE028-08F4-C394-C143-410CCBED7C3F}"/>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2A75620-EF3D-2FF3-878B-DD01D2C8FD3D}"/>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15B3074F-3651-6810-21BC-08C27B1ED77B}"/>
              </a:ext>
            </a:extLst>
          </p:cNvPr>
          <p:cNvSpPr txBox="1"/>
          <p:nvPr/>
        </p:nvSpPr>
        <p:spPr>
          <a:xfrm>
            <a:off x="609598" y="1587586"/>
            <a:ext cx="4389120" cy="331629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Only 52% of health facilities reported having all routine utilities </a:t>
            </a:r>
            <a:r>
              <a:rPr lang="en-US" sz="1400" noProof="0">
                <a:latin typeface="Poppins" panose="00000500000000000000" pitchFamily="2" charset="0"/>
                <a:cs typeface="Poppins" panose="00000500000000000000" pitchFamily="2" charset="0"/>
              </a:rPr>
              <a:t>(telephone, internet, water, and electricity) available without interruption over the past seven days.</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While telephone service was continuously available in 72% of facilities, </a:t>
            </a:r>
            <a:r>
              <a:rPr lang="en-US" sz="1400" b="1" noProof="0">
                <a:latin typeface="Poppins" panose="00000500000000000000" pitchFamily="2" charset="0"/>
                <a:cs typeface="Poppins" panose="00000500000000000000" pitchFamily="2" charset="0"/>
              </a:rPr>
              <a:t>fewer than half reported uninterrupted internet, water, or electricity.</a:t>
            </a:r>
          </a:p>
          <a:p>
            <a:pPr marL="285750" indent="-285750">
              <a:buFont typeface="Arial" panose="020B0604020202020204" pitchFamily="34" charset="0"/>
              <a:buChar char="•"/>
            </a:pPr>
            <a:endParaRPr lang="en-US" sz="1400" b="1">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a:latin typeface="Poppins" panose="00000500000000000000" pitchFamily="2" charset="0"/>
                <a:cs typeface="Poppins" panose="00000500000000000000" pitchFamily="2" charset="0"/>
              </a:rPr>
              <a:t>Continual availability of routine utilities was higher overall in district hospitals and lower in MCHP facilities. </a:t>
            </a:r>
            <a:endParaRPr lang="en-US" sz="1350" noProof="0">
              <a:latin typeface="Poppins" panose="00000500000000000000" pitchFamily="2" charset="0"/>
              <a:cs typeface="Poppins" panose="00000500000000000000" pitchFamily="2" charset="0"/>
            </a:endParaRPr>
          </a:p>
          <a:p>
            <a:endParaRPr lang="en-US" sz="1350" noProof="0">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A59EAB9F-7CF5-5788-02AA-A74A25C1B283}"/>
              </a:ext>
            </a:extLst>
          </p:cNvPr>
          <p:cNvSpPr txBox="1"/>
          <p:nvPr/>
        </p:nvSpPr>
        <p:spPr>
          <a:xfrm>
            <a:off x="5968307" y="6175783"/>
            <a:ext cx="5464682"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routine utilities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
        <p:nvSpPr>
          <p:cNvPr id="8" name="TextBox 7">
            <a:extLst>
              <a:ext uri="{FF2B5EF4-FFF2-40B4-BE49-F238E27FC236}">
                <a16:creationId xmlns:a16="http://schemas.microsoft.com/office/drawing/2014/main" id="{5766E9E4-75A7-C439-17D4-58AFCB215130}"/>
              </a:ext>
            </a:extLst>
          </p:cNvPr>
          <p:cNvSpPr txBox="1"/>
          <p:nvPr/>
        </p:nvSpPr>
        <p:spPr>
          <a:xfrm>
            <a:off x="540762" y="5462195"/>
            <a:ext cx="4457956" cy="492443"/>
          </a:xfrm>
          <a:prstGeom prst="rect">
            <a:avLst/>
          </a:prstGeom>
          <a:noFill/>
        </p:spPr>
        <p:txBody>
          <a:bodyPr wrap="square">
            <a:spAutoFit/>
          </a:bodyPr>
          <a:lstStyle/>
          <a:p>
            <a:pPr>
              <a:spcAft>
                <a:spcPts val="600"/>
              </a:spcAft>
            </a:pPr>
            <a:r>
              <a:rPr lang="en-US" sz="1300" b="1" noProof="0">
                <a:solidFill>
                  <a:srgbClr val="08716C"/>
                </a:solidFill>
                <a:latin typeface="Poppins Light" panose="00000400000000000000" pitchFamily="2" charset="0"/>
                <a:cs typeface="Poppins Light" panose="00000400000000000000" pitchFamily="2" charset="0"/>
              </a:rPr>
              <a:t>[Additional infrastructure findings will become available in subsequent survey rounds]</a:t>
            </a:r>
          </a:p>
        </p:txBody>
      </p:sp>
    </p:spTree>
    <p:extLst>
      <p:ext uri="{BB962C8B-B14F-4D97-AF65-F5344CB8AC3E}">
        <p14:creationId xmlns:p14="http://schemas.microsoft.com/office/powerpoint/2010/main" val="2440358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87EEC81-2648-B6E4-7599-B41BD8ED7AF7}"/>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E4A55D5-0379-B346-4531-169C794A127A}"/>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60A7AAE0-C249-7535-9BD5-6A2CA93F6774}"/>
              </a:ext>
            </a:extLst>
          </p:cNvPr>
          <p:cNvSpPr txBox="1"/>
          <p:nvPr/>
        </p:nvSpPr>
        <p:spPr>
          <a:xfrm>
            <a:off x="609598" y="1593519"/>
            <a:ext cx="4389120" cy="403187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Health facilities reported having, on average, </a:t>
            </a:r>
            <a:r>
              <a:rPr lang="en-US" sz="1400" b="1">
                <a:latin typeface="Poppins" panose="00000500000000000000" pitchFamily="2" charset="0"/>
                <a:cs typeface="Poppins" panose="00000500000000000000" pitchFamily="2" charset="0"/>
              </a:rPr>
              <a:t>71</a:t>
            </a:r>
            <a:r>
              <a:rPr lang="en-US" sz="1400" b="1" noProof="0">
                <a:latin typeface="Poppins" panose="00000500000000000000" pitchFamily="2" charset="0"/>
                <a:cs typeface="Poppins" panose="00000500000000000000" pitchFamily="2" charset="0"/>
              </a:rPr>
              <a:t>%</a:t>
            </a:r>
            <a:r>
              <a:rPr lang="en-US" sz="1400" noProof="0">
                <a:latin typeface="Poppins" panose="00000500000000000000" pitchFamily="2" charset="0"/>
                <a:cs typeface="Poppins" panose="00000500000000000000" pitchFamily="2" charset="0"/>
              </a:rPr>
              <a:t> of the survey’s tracer medical supplies and equipment, yet </a:t>
            </a:r>
            <a:r>
              <a:rPr lang="en-US" sz="1400" b="1" noProof="0">
                <a:latin typeface="Poppins" panose="00000500000000000000" pitchFamily="2" charset="0"/>
                <a:cs typeface="Poppins" panose="00000500000000000000" pitchFamily="2" charset="0"/>
              </a:rPr>
              <a:t>almost none </a:t>
            </a:r>
            <a:r>
              <a:rPr lang="en-US" sz="1400" noProof="0">
                <a:latin typeface="Poppins" panose="00000500000000000000" pitchFamily="2" charset="0"/>
                <a:cs typeface="Poppins" panose="00000500000000000000" pitchFamily="2" charset="0"/>
              </a:rPr>
              <a:t>had the complete set of essential items.</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Vaccine and equipment availability</a:t>
            </a:r>
            <a:r>
              <a:rPr lang="en-US" sz="1400" noProof="0">
                <a:latin typeface="Poppins" panose="00000500000000000000" pitchFamily="2" charset="0"/>
                <a:cs typeface="Poppins" panose="00000500000000000000" pitchFamily="2" charset="0"/>
              </a:rPr>
              <a:t> </a:t>
            </a:r>
            <a:r>
              <a:rPr lang="en-US" sz="1400" b="1" noProof="0">
                <a:latin typeface="Poppins" panose="00000500000000000000" pitchFamily="2" charset="0"/>
                <a:cs typeface="Poppins" panose="00000500000000000000" pitchFamily="2" charset="0"/>
              </a:rPr>
              <a:t>was generally high </a:t>
            </a:r>
            <a:r>
              <a:rPr lang="en-US" sz="1400" noProof="0">
                <a:latin typeface="Poppins" panose="00000500000000000000" pitchFamily="2" charset="0"/>
                <a:cs typeface="Poppins" panose="00000500000000000000" pitchFamily="2" charset="0"/>
              </a:rPr>
              <a:t>across all facility types, while the availability of </a:t>
            </a:r>
            <a:r>
              <a:rPr lang="en-US" sz="1400" b="1" noProof="0">
                <a:latin typeface="Poppins" panose="00000500000000000000" pitchFamily="2" charset="0"/>
                <a:cs typeface="Poppins" panose="00000500000000000000" pitchFamily="2" charset="0"/>
              </a:rPr>
              <a:t>tracer medicines</a:t>
            </a:r>
            <a:r>
              <a:rPr lang="en-US" sz="1400" b="1">
                <a:latin typeface="Poppins" panose="00000500000000000000" pitchFamily="2" charset="0"/>
                <a:cs typeface="Poppins" panose="00000500000000000000" pitchFamily="2" charset="0"/>
              </a:rPr>
              <a:t> and PPE </a:t>
            </a:r>
            <a:r>
              <a:rPr lang="en-US" sz="1400" b="1" noProof="0">
                <a:latin typeface="Poppins" panose="00000500000000000000" pitchFamily="2" charset="0"/>
                <a:cs typeface="Poppins" panose="00000500000000000000" pitchFamily="2" charset="0"/>
              </a:rPr>
              <a:t>was moderate.</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Significant gaps were noted in the availability of tracer diagnostics in CHC, CHP, and MCHP facilities. </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a:latin typeface="Poppins" panose="00000500000000000000" pitchFamily="2" charset="0"/>
                <a:cs typeface="Poppins" panose="00000500000000000000" pitchFamily="2" charset="0"/>
              </a:rPr>
              <a:t>District hospitals reported high availability of all tracer medical supplies.</a:t>
            </a:r>
            <a:endParaRPr lang="en-US" sz="1400" noProof="0">
              <a:latin typeface="Poppins" panose="00000500000000000000" pitchFamily="2" charset="0"/>
              <a:cs typeface="Poppins" panose="00000500000000000000" pitchFamily="2" charset="0"/>
            </a:endParaRPr>
          </a:p>
          <a:p>
            <a:pPr>
              <a:spcAft>
                <a:spcPts val="600"/>
              </a:spcAft>
            </a:pPr>
            <a:endParaRPr lang="en-US" sz="1350" noProof="0">
              <a:latin typeface="Poppins" panose="00000500000000000000" pitchFamily="2" charset="0"/>
              <a:ea typeface="Roboto" panose="02000000000000000000" pitchFamily="2" charset="0"/>
              <a:cs typeface="Poppins" panose="00000500000000000000" pitchFamily="2" charset="0"/>
            </a:endParaRPr>
          </a:p>
          <a:p>
            <a:endParaRPr lang="en-US" sz="1350" noProof="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8C96CBFF-F304-0BE2-34CD-17D2B23E5663}"/>
              </a:ext>
            </a:extLst>
          </p:cNvPr>
          <p:cNvSpPr txBox="1"/>
          <p:nvPr/>
        </p:nvSpPr>
        <p:spPr>
          <a:xfrm>
            <a:off x="5884636" y="6180121"/>
            <a:ext cx="5643975" cy="461665"/>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full list of tracer medical supplies resented in the subsequent slides, excluding contraceptive commodities (see Methodology Annex for a full description of the methodology).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1785678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2E712B-0FF9-A11A-8602-33D3F9CB472E}"/>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66BBD0E-C9B3-6BC9-EC80-6850E1117C49}"/>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B5459262-12B4-A6CB-D065-335E4CF76838}"/>
              </a:ext>
            </a:extLst>
          </p:cNvPr>
          <p:cNvSpPr txBox="1"/>
          <p:nvPr/>
        </p:nvSpPr>
        <p:spPr>
          <a:xfrm>
            <a:off x="609598" y="1648110"/>
            <a:ext cx="4389120"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Facilities generally had essential vaccines in stock, with </a:t>
            </a:r>
            <a:r>
              <a:rPr lang="en-US" sz="1400" b="1" noProof="0">
                <a:latin typeface="Poppins" panose="00000500000000000000" pitchFamily="2" charset="0"/>
                <a:cs typeface="Poppins" panose="00000500000000000000" pitchFamily="2" charset="0"/>
              </a:rPr>
              <a:t>83% </a:t>
            </a:r>
            <a:r>
              <a:rPr lang="en-US" sz="1400" noProof="0">
                <a:latin typeface="Poppins" panose="00000500000000000000" pitchFamily="2" charset="0"/>
                <a:cs typeface="Poppins" panose="00000500000000000000" pitchFamily="2" charset="0"/>
              </a:rPr>
              <a:t>of facilities reporting </a:t>
            </a:r>
            <a:r>
              <a:rPr lang="en-US" sz="1400" b="1" noProof="0">
                <a:latin typeface="Poppins" panose="00000500000000000000" pitchFamily="2" charset="0"/>
                <a:cs typeface="Poppins" panose="00000500000000000000" pitchFamily="2" charset="0"/>
              </a:rPr>
              <a:t>that all tracer vaccines were available on site.</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Availability of tracer vaccines was high across all facility types.</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D0F1C5A6-03BF-21AF-A740-177226F1891F}"/>
              </a:ext>
            </a:extLst>
          </p:cNvPr>
          <p:cNvSpPr txBox="1"/>
          <p:nvPr/>
        </p:nvSpPr>
        <p:spPr>
          <a:xfrm>
            <a:off x="5904724" y="6262147"/>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vaccines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2580371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8BAEB4-957F-410C-F1F1-1324A03C29FA}"/>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86154620-69F4-E554-82D2-140B55378F32}"/>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FB1CF726-F330-D014-4442-76FE795E7B50}"/>
              </a:ext>
            </a:extLst>
          </p:cNvPr>
          <p:cNvSpPr txBox="1"/>
          <p:nvPr/>
        </p:nvSpPr>
        <p:spPr>
          <a:xfrm>
            <a:off x="609598" y="1648110"/>
            <a:ext cx="4389120" cy="246221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When asked about vaccine stockouts over the past three months, </a:t>
            </a:r>
            <a:r>
              <a:rPr lang="en-US" sz="1400" b="1" noProof="0">
                <a:latin typeface="Poppins" panose="00000500000000000000" pitchFamily="2" charset="0"/>
                <a:cs typeface="Poppins" panose="00000500000000000000" pitchFamily="2" charset="0"/>
              </a:rPr>
              <a:t>most facilities (</a:t>
            </a:r>
            <a:r>
              <a:rPr lang="en-US" sz="1400" b="1">
                <a:latin typeface="Poppins" panose="00000500000000000000" pitchFamily="2" charset="0"/>
                <a:cs typeface="Poppins" panose="00000500000000000000" pitchFamily="2" charset="0"/>
              </a:rPr>
              <a:t>80</a:t>
            </a:r>
            <a:r>
              <a:rPr lang="en-US" sz="1400" b="1" noProof="0">
                <a:latin typeface="Poppins" panose="00000500000000000000" pitchFamily="2" charset="0"/>
                <a:cs typeface="Poppins" panose="00000500000000000000" pitchFamily="2" charset="0"/>
              </a:rPr>
              <a:t>%) reported that stockouts were rare</a:t>
            </a:r>
            <a:r>
              <a:rPr lang="en-US" sz="1400" noProof="0">
                <a:latin typeface="Poppins" panose="00000500000000000000" pitchFamily="2" charset="0"/>
                <a:cs typeface="Poppins" panose="00000500000000000000" pitchFamily="2" charset="0"/>
              </a:rPr>
              <a:t>, while 17% reported occasional stockouts.</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The occurrence of </a:t>
            </a:r>
            <a:r>
              <a:rPr lang="en-US" sz="1400" b="1" noProof="0">
                <a:latin typeface="Poppins" panose="00000500000000000000" pitchFamily="2" charset="0"/>
                <a:cs typeface="Poppins" panose="00000500000000000000" pitchFamily="2" charset="0"/>
              </a:rPr>
              <a:t>occasional stockouts was relatively similar across facility types</a:t>
            </a:r>
            <a:r>
              <a:rPr lang="en-US" sz="1400" noProof="0">
                <a:latin typeface="Poppins" panose="00000500000000000000" pitchFamily="2" charset="0"/>
                <a:cs typeface="Poppins" panose="00000500000000000000" pitchFamily="2" charset="0"/>
              </a:rPr>
              <a:t>, albeit somewhat more frequent in district hospitals. </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114145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0DC5CA1-BF5B-AA4F-52D1-C71C388E90D8}"/>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A6F28BF0-D330-2668-2355-23EE110102F6}"/>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6D9F738B-69EB-33B9-E7C7-731A6C63EB31}"/>
              </a:ext>
            </a:extLst>
          </p:cNvPr>
          <p:cNvSpPr txBox="1"/>
          <p:nvPr/>
        </p:nvSpPr>
        <p:spPr>
          <a:xfrm>
            <a:off x="5904724" y="6251975"/>
            <a:ext cx="5583755" cy="276999"/>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
        <p:nvSpPr>
          <p:cNvPr id="9" name="TextBox 8">
            <a:extLst>
              <a:ext uri="{FF2B5EF4-FFF2-40B4-BE49-F238E27FC236}">
                <a16:creationId xmlns:a16="http://schemas.microsoft.com/office/drawing/2014/main" id="{F679CB4A-4A8F-1DFE-A68B-1A7057C66D32}"/>
              </a:ext>
            </a:extLst>
          </p:cNvPr>
          <p:cNvSpPr txBox="1"/>
          <p:nvPr/>
        </p:nvSpPr>
        <p:spPr>
          <a:xfrm>
            <a:off x="649939" y="1674673"/>
            <a:ext cx="4286623" cy="1384995"/>
          </a:xfrm>
          <a:prstGeom prst="rect">
            <a:avLst/>
          </a:prstGeom>
          <a:noFill/>
        </p:spPr>
        <p:txBody>
          <a:bodyPr wrap="square">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Among the </a:t>
            </a:r>
            <a:r>
              <a:rPr lang="en-US" sz="1400" b="1" noProof="0">
                <a:latin typeface="Poppins" panose="00000500000000000000" pitchFamily="2" charset="0"/>
                <a:cs typeface="Poppins" panose="00000500000000000000" pitchFamily="2" charset="0"/>
              </a:rPr>
              <a:t>61 facilities reporting missing at least one of the six tracer vaccines</a:t>
            </a:r>
            <a:r>
              <a:rPr lang="en-US" sz="1400" noProof="0">
                <a:latin typeface="Poppins" panose="00000500000000000000" pitchFamily="2" charset="0"/>
                <a:cs typeface="Poppins" panose="00000500000000000000" pitchFamily="2" charset="0"/>
              </a:rPr>
              <a:t>, the most cited reason was </a:t>
            </a:r>
            <a:r>
              <a:rPr lang="en-US" sz="1400" b="1" noProof="0">
                <a:latin typeface="Poppins" panose="00000500000000000000" pitchFamily="2" charset="0"/>
                <a:cs typeface="Poppins" panose="00000500000000000000" pitchFamily="2" charset="0"/>
              </a:rPr>
              <a:t>stocks running out or demand exceeding expectations (</a:t>
            </a:r>
            <a:r>
              <a:rPr lang="en-US" sz="1400" b="1">
                <a:latin typeface="Poppins" panose="00000500000000000000" pitchFamily="2" charset="0"/>
                <a:cs typeface="Poppins" panose="00000500000000000000" pitchFamily="2" charset="0"/>
              </a:rPr>
              <a:t>28</a:t>
            </a:r>
            <a:r>
              <a:rPr lang="en-US" sz="1400" b="1" noProof="0">
                <a:latin typeface="Poppins" panose="00000500000000000000" pitchFamily="2" charset="0"/>
                <a:cs typeface="Poppins" panose="00000500000000000000" pitchFamily="2" charset="0"/>
              </a:rPr>
              <a:t>%) </a:t>
            </a:r>
            <a:r>
              <a:rPr lang="en-US" sz="1400" noProof="0">
                <a:latin typeface="Poppins" panose="00000500000000000000" pitchFamily="2" charset="0"/>
                <a:cs typeface="Poppins" panose="00000500000000000000" pitchFamily="2" charset="0"/>
              </a:rPr>
              <a:t>– potentially pointing to challenges with planning and supply chain management.</a:t>
            </a:r>
          </a:p>
        </p:txBody>
      </p:sp>
    </p:spTree>
    <p:extLst>
      <p:ext uri="{BB962C8B-B14F-4D97-AF65-F5344CB8AC3E}">
        <p14:creationId xmlns:p14="http://schemas.microsoft.com/office/powerpoint/2010/main" val="1758738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26D47A-C1A4-FBAA-F4EA-397BDA56F0F5}"/>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8FE42C4-1139-BF83-345A-CEA078CE53E5}"/>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A6CA9EE5-8C57-33B6-7738-5F4338F07C6A}"/>
              </a:ext>
            </a:extLst>
          </p:cNvPr>
          <p:cNvSpPr txBox="1"/>
          <p:nvPr/>
        </p:nvSpPr>
        <p:spPr>
          <a:xfrm>
            <a:off x="609598" y="1532104"/>
            <a:ext cx="4389120" cy="466281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350" noProof="0">
                <a:latin typeface="Poppins" panose="00000500000000000000" pitchFamily="2" charset="0"/>
                <a:cs typeface="Poppins" panose="00000500000000000000" pitchFamily="2" charset="0"/>
              </a:rPr>
              <a:t>Health facilities reported having, on average, </a:t>
            </a:r>
            <a:r>
              <a:rPr lang="en-US" sz="1350" b="1" noProof="0">
                <a:latin typeface="Poppins" panose="00000500000000000000" pitchFamily="2" charset="0"/>
                <a:cs typeface="Poppins" panose="00000500000000000000" pitchFamily="2" charset="0"/>
              </a:rPr>
              <a:t>70%</a:t>
            </a:r>
            <a:r>
              <a:rPr lang="en-US" sz="1350" noProof="0">
                <a:latin typeface="Poppins" panose="00000500000000000000" pitchFamily="2" charset="0"/>
                <a:cs typeface="Poppins" panose="00000500000000000000" pitchFamily="2" charset="0"/>
              </a:rPr>
              <a:t> of the survey’s tracer essential medicines on site, yet </a:t>
            </a:r>
            <a:r>
              <a:rPr lang="en-US" sz="1350" b="1" noProof="0">
                <a:latin typeface="Poppins" panose="00000500000000000000" pitchFamily="2" charset="0"/>
                <a:cs typeface="Poppins" panose="00000500000000000000" pitchFamily="2" charset="0"/>
              </a:rPr>
              <a:t>only 2% </a:t>
            </a:r>
            <a:r>
              <a:rPr lang="en-US" sz="1350" noProof="0">
                <a:latin typeface="Poppins" panose="00000500000000000000" pitchFamily="2" charset="0"/>
                <a:cs typeface="Poppins" panose="00000500000000000000" pitchFamily="2" charset="0"/>
              </a:rPr>
              <a:t>of facilities had the full set of tracer medicines.</a:t>
            </a:r>
          </a:p>
          <a:p>
            <a:pPr marL="285750" indent="-285750">
              <a:buFont typeface="Arial" panose="020B0604020202020204" pitchFamily="34" charset="0"/>
              <a:buChar char="•"/>
            </a:pPr>
            <a:endParaRPr lang="en-US" sz="135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50" b="1" noProof="0">
                <a:latin typeface="Poppins" panose="00000500000000000000" pitchFamily="2" charset="0"/>
                <a:cs typeface="Poppins" panose="00000500000000000000" pitchFamily="2" charset="0"/>
              </a:rPr>
              <a:t>RMNCAH-N medicines</a:t>
            </a:r>
            <a:r>
              <a:rPr lang="en-US" sz="1350" noProof="0">
                <a:latin typeface="Poppins" panose="00000500000000000000" pitchFamily="2" charset="0"/>
                <a:cs typeface="Poppins" panose="00000500000000000000" pitchFamily="2" charset="0"/>
              </a:rPr>
              <a:t> </a:t>
            </a:r>
            <a:r>
              <a:rPr lang="en-US" sz="1350" b="1" noProof="0">
                <a:latin typeface="Poppins" panose="00000500000000000000" pitchFamily="2" charset="0"/>
                <a:cs typeface="Poppins" panose="00000500000000000000" pitchFamily="2" charset="0"/>
              </a:rPr>
              <a:t>were generally well stocked </a:t>
            </a:r>
            <a:r>
              <a:rPr lang="en-US" sz="1350" noProof="0">
                <a:latin typeface="Poppins" panose="00000500000000000000" pitchFamily="2" charset="0"/>
                <a:cs typeface="Poppins" panose="00000500000000000000" pitchFamily="2" charset="0"/>
              </a:rPr>
              <a:t>– with contraceptive methods, ORS, oxytocin, magnesium sulfate and vitamin A reported available in </a:t>
            </a:r>
            <a:r>
              <a:rPr lang="en-US" sz="1350" b="1" noProof="0">
                <a:latin typeface="Poppins" panose="00000500000000000000" pitchFamily="2" charset="0"/>
                <a:cs typeface="Poppins" panose="00000500000000000000" pitchFamily="2" charset="0"/>
              </a:rPr>
              <a:t>over 90% of facilities</a:t>
            </a:r>
            <a:r>
              <a:rPr lang="en-US" sz="1350" noProof="0">
                <a:latin typeface="Poppins" panose="00000500000000000000" pitchFamily="2" charset="0"/>
                <a:cs typeface="Poppins" panose="00000500000000000000" pitchFamily="2" charset="0"/>
              </a:rPr>
              <a:t>. </a:t>
            </a:r>
            <a:r>
              <a:rPr lang="en-US" sz="1350" b="1" noProof="0">
                <a:latin typeface="Poppins" panose="00000500000000000000" pitchFamily="2" charset="0"/>
                <a:cs typeface="Poppins" panose="00000500000000000000" pitchFamily="2" charset="0"/>
              </a:rPr>
              <a:t>Zinc sulphate and iron–folic acid </a:t>
            </a:r>
            <a:r>
              <a:rPr lang="en-US" sz="1350" noProof="0">
                <a:latin typeface="Poppins" panose="00000500000000000000" pitchFamily="2" charset="0"/>
                <a:cs typeface="Poppins" panose="00000500000000000000" pitchFamily="2" charset="0"/>
              </a:rPr>
              <a:t>were moderately available.</a:t>
            </a:r>
          </a:p>
          <a:p>
            <a:pPr marL="285750" indent="-285750">
              <a:buFont typeface="Arial" panose="020B0604020202020204" pitchFamily="34" charset="0"/>
              <a:buChar char="•"/>
            </a:pPr>
            <a:endParaRPr lang="en-US" sz="135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50" noProof="0">
                <a:latin typeface="Poppins" panose="00000500000000000000" pitchFamily="2" charset="0"/>
                <a:cs typeface="Poppins" panose="00000500000000000000" pitchFamily="2" charset="0"/>
              </a:rPr>
              <a:t>On the other hand, </a:t>
            </a:r>
            <a:r>
              <a:rPr lang="en-US" sz="1350" b="1" noProof="0">
                <a:latin typeface="Poppins" panose="00000500000000000000" pitchFamily="2" charset="0"/>
                <a:cs typeface="Poppins" panose="00000500000000000000" pitchFamily="2" charset="0"/>
              </a:rPr>
              <a:t>ready-to-use therapeutic food</a:t>
            </a:r>
            <a:r>
              <a:rPr lang="en-US" sz="1350" noProof="0">
                <a:latin typeface="Poppins" panose="00000500000000000000" pitchFamily="2" charset="0"/>
                <a:cs typeface="Poppins" panose="00000500000000000000" pitchFamily="2" charset="0"/>
              </a:rPr>
              <a:t> was available in only </a:t>
            </a:r>
            <a:r>
              <a:rPr lang="en-US" sz="1350" b="1">
                <a:latin typeface="Poppins" panose="00000500000000000000" pitchFamily="2" charset="0"/>
                <a:cs typeface="Poppins" panose="00000500000000000000" pitchFamily="2" charset="0"/>
              </a:rPr>
              <a:t>34</a:t>
            </a:r>
            <a:r>
              <a:rPr lang="en-US" sz="1350" b="1" noProof="0">
                <a:latin typeface="Poppins" panose="00000500000000000000" pitchFamily="2" charset="0"/>
                <a:cs typeface="Poppins" panose="00000500000000000000" pitchFamily="2" charset="0"/>
              </a:rPr>
              <a:t>% of facilities</a:t>
            </a:r>
            <a:r>
              <a:rPr lang="en-US" sz="1350" noProof="0">
                <a:latin typeface="Poppins" panose="00000500000000000000" pitchFamily="2" charset="0"/>
                <a:cs typeface="Poppins" panose="00000500000000000000" pitchFamily="2" charset="0"/>
              </a:rPr>
              <a:t>, and </a:t>
            </a:r>
            <a:r>
              <a:rPr lang="en-US" sz="1350" b="1" noProof="0">
                <a:latin typeface="Poppins" panose="00000500000000000000" pitchFamily="2" charset="0"/>
                <a:cs typeface="Poppins" panose="00000500000000000000" pitchFamily="2" charset="0"/>
              </a:rPr>
              <a:t>NCD-related commodities</a:t>
            </a:r>
            <a:r>
              <a:rPr lang="en-US" sz="1350" noProof="0">
                <a:latin typeface="Poppins" panose="00000500000000000000" pitchFamily="2" charset="0"/>
                <a:cs typeface="Poppins" panose="00000500000000000000" pitchFamily="2" charset="0"/>
              </a:rPr>
              <a:t> were low overall, despite 85% of facilities reporting that they offer NCD services. </a:t>
            </a:r>
          </a:p>
          <a:p>
            <a:pPr marL="285750" indent="-285750">
              <a:buFont typeface="Arial" panose="020B0604020202020204" pitchFamily="34" charset="0"/>
              <a:buChar char="•"/>
            </a:pPr>
            <a:endParaRPr lang="en-US" sz="135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50" b="1" noProof="0">
                <a:latin typeface="Poppins" panose="00000500000000000000" pitchFamily="2" charset="0"/>
                <a:cs typeface="Poppins" panose="00000500000000000000" pitchFamily="2" charset="0"/>
              </a:rPr>
              <a:t>Antibiotic availability</a:t>
            </a:r>
            <a:r>
              <a:rPr lang="en-US" sz="1350" noProof="0">
                <a:latin typeface="Poppins" panose="00000500000000000000" pitchFamily="2" charset="0"/>
                <a:cs typeface="Poppins" panose="00000500000000000000" pitchFamily="2" charset="0"/>
              </a:rPr>
              <a:t> </a:t>
            </a:r>
            <a:r>
              <a:rPr lang="en-US" sz="1350" b="1" noProof="0">
                <a:latin typeface="Poppins" panose="00000500000000000000" pitchFamily="2" charset="0"/>
                <a:cs typeface="Poppins" panose="00000500000000000000" pitchFamily="2" charset="0"/>
              </a:rPr>
              <a:t>was particularly concerning</a:t>
            </a:r>
            <a:r>
              <a:rPr lang="en-US" sz="1350" noProof="0">
                <a:latin typeface="Poppins" panose="00000500000000000000" pitchFamily="2" charset="0"/>
                <a:cs typeface="Poppins" panose="00000500000000000000" pitchFamily="2" charset="0"/>
              </a:rPr>
              <a:t>, with less than half of facilities reporting having amoxicillin or gentamicin on site. </a:t>
            </a:r>
          </a:p>
        </p:txBody>
      </p:sp>
      <p:sp>
        <p:nvSpPr>
          <p:cNvPr id="8" name="TextBox 7">
            <a:extLst>
              <a:ext uri="{FF2B5EF4-FFF2-40B4-BE49-F238E27FC236}">
                <a16:creationId xmlns:a16="http://schemas.microsoft.com/office/drawing/2014/main" id="{5926BAD1-A933-57F8-41BF-E531A493F6DA}"/>
              </a:ext>
            </a:extLst>
          </p:cNvPr>
          <p:cNvSpPr txBox="1"/>
          <p:nvPr/>
        </p:nvSpPr>
        <p:spPr>
          <a:xfrm>
            <a:off x="5904724" y="6182185"/>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tracer essential medicines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981902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5A59A1-241C-5192-D974-22BFEEE93803}"/>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7C93B76-7E4C-E131-2F89-08DCE1E927E3}"/>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65C24B91-5738-9DCF-4A0A-BF0F23B0F273}"/>
              </a:ext>
            </a:extLst>
          </p:cNvPr>
          <p:cNvSpPr txBox="1"/>
          <p:nvPr/>
        </p:nvSpPr>
        <p:spPr>
          <a:xfrm>
            <a:off x="609598" y="1545752"/>
            <a:ext cx="4389120" cy="28931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Health facilities reported having, on average, </a:t>
            </a:r>
            <a:r>
              <a:rPr lang="en-US" sz="1400" b="1" noProof="0">
                <a:latin typeface="Poppins" panose="00000500000000000000" pitchFamily="2" charset="0"/>
                <a:cs typeface="Poppins" panose="00000500000000000000" pitchFamily="2" charset="0"/>
              </a:rPr>
              <a:t>68%</a:t>
            </a:r>
            <a:r>
              <a:rPr lang="en-US" sz="1400" noProof="0">
                <a:latin typeface="Poppins" panose="00000500000000000000" pitchFamily="2" charset="0"/>
                <a:cs typeface="Poppins" panose="00000500000000000000" pitchFamily="2" charset="0"/>
              </a:rPr>
              <a:t> of the survey’s tracer contraceptive methods available on site.</a:t>
            </a: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Although most common contraceptive methods were widely available, </a:t>
            </a:r>
            <a:r>
              <a:rPr lang="en-US" sz="1400" b="1" noProof="0">
                <a:latin typeface="Poppins" panose="00000500000000000000" pitchFamily="2" charset="0"/>
                <a:cs typeface="Poppins" panose="00000500000000000000" pitchFamily="2" charset="0"/>
              </a:rPr>
              <a:t>uterine intrauterine devices (IUCDs, </a:t>
            </a:r>
            <a:r>
              <a:rPr lang="en-US" sz="1400" b="1">
                <a:latin typeface="Poppins" panose="00000500000000000000" pitchFamily="2" charset="0"/>
                <a:cs typeface="Poppins" panose="00000500000000000000" pitchFamily="2" charset="0"/>
              </a:rPr>
              <a:t>29</a:t>
            </a:r>
            <a:r>
              <a:rPr lang="en-US" sz="1400" b="1" noProof="0">
                <a:latin typeface="Poppins" panose="00000500000000000000" pitchFamily="2" charset="0"/>
                <a:cs typeface="Poppins" panose="00000500000000000000" pitchFamily="2" charset="0"/>
              </a:rPr>
              <a:t>%)</a:t>
            </a:r>
            <a:r>
              <a:rPr lang="en-US" sz="1400" noProof="0">
                <a:latin typeface="Poppins" panose="00000500000000000000" pitchFamily="2" charset="0"/>
                <a:cs typeface="Poppins" panose="00000500000000000000" pitchFamily="2" charset="0"/>
              </a:rPr>
              <a:t> and </a:t>
            </a:r>
            <a:r>
              <a:rPr lang="en-US" sz="1400" b="1" noProof="0">
                <a:latin typeface="Poppins" panose="00000500000000000000" pitchFamily="2" charset="0"/>
                <a:cs typeface="Poppins" panose="00000500000000000000" pitchFamily="2" charset="0"/>
              </a:rPr>
              <a:t>cycle beads for the Standard Days Method (16%)</a:t>
            </a:r>
            <a:r>
              <a:rPr lang="en-US" sz="1400" noProof="0">
                <a:latin typeface="Poppins" panose="00000500000000000000" pitchFamily="2" charset="0"/>
                <a:cs typeface="Poppins" panose="00000500000000000000" pitchFamily="2" charset="0"/>
              </a:rPr>
              <a:t> were very limited.</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Notably, 23% of facilities reported not having emergency contraceptive pills available. </a:t>
            </a:r>
          </a:p>
        </p:txBody>
      </p:sp>
      <p:sp>
        <p:nvSpPr>
          <p:cNvPr id="8" name="TextBox 7">
            <a:extLst>
              <a:ext uri="{FF2B5EF4-FFF2-40B4-BE49-F238E27FC236}">
                <a16:creationId xmlns:a16="http://schemas.microsoft.com/office/drawing/2014/main" id="{8F90FC8F-920D-1B09-4234-BC29B1CE6A8C}"/>
              </a:ext>
            </a:extLst>
          </p:cNvPr>
          <p:cNvSpPr txBox="1"/>
          <p:nvPr/>
        </p:nvSpPr>
        <p:spPr>
          <a:xfrm>
            <a:off x="5904724" y="6221187"/>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a:t>
            </a:r>
            <a:r>
              <a:rPr lang="en-US" sz="600">
                <a:latin typeface="Poppins" panose="00000500000000000000" pitchFamily="2" charset="0"/>
                <a:ea typeface="Roboto" panose="02000000000000000000" pitchFamily="2" charset="0"/>
                <a:cs typeface="Poppins" panose="00000500000000000000" pitchFamily="2" charset="0"/>
              </a:rPr>
              <a:t>tracer contraceptives </a:t>
            </a:r>
            <a:r>
              <a:rPr lang="en-US" sz="600" noProof="0">
                <a:latin typeface="Poppins" panose="00000500000000000000" pitchFamily="2" charset="0"/>
                <a:ea typeface="Roboto" panose="02000000000000000000" pitchFamily="2" charset="0"/>
                <a:cs typeface="Poppins" panose="00000500000000000000" pitchFamily="2" charset="0"/>
              </a:rPr>
              <a:t>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386891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D79765-4B61-7D5F-5F7C-63698D53EDF5}"/>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777697E1-8DF1-7A74-5FF0-D67A580E8A5F}"/>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37345D95-13D8-CE28-02BF-7FF0B716D703}"/>
              </a:ext>
            </a:extLst>
          </p:cNvPr>
          <p:cNvSpPr txBox="1"/>
          <p:nvPr/>
        </p:nvSpPr>
        <p:spPr>
          <a:xfrm>
            <a:off x="567764" y="1581480"/>
            <a:ext cx="4482355" cy="375487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Health facilities reported having, on average, </a:t>
            </a:r>
            <a:r>
              <a:rPr lang="en-US" sz="1400" b="1" noProof="0">
                <a:latin typeface="Poppins" panose="00000500000000000000" pitchFamily="2" charset="0"/>
                <a:cs typeface="Poppins" panose="00000500000000000000" pitchFamily="2" charset="0"/>
              </a:rPr>
              <a:t>67%</a:t>
            </a:r>
            <a:r>
              <a:rPr lang="en-US" sz="1400" noProof="0">
                <a:latin typeface="Poppins" panose="00000500000000000000" pitchFamily="2" charset="0"/>
                <a:cs typeface="Poppins" panose="00000500000000000000" pitchFamily="2" charset="0"/>
              </a:rPr>
              <a:t> of the survey’s tracer essential personal protective equipment (PPE) on site.</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Most facilities had </a:t>
            </a:r>
            <a:r>
              <a:rPr lang="en-US" sz="1400" b="1" noProof="0">
                <a:latin typeface="Poppins" panose="00000500000000000000" pitchFamily="2" charset="0"/>
                <a:cs typeface="Poppins" panose="00000500000000000000" pitchFamily="2" charset="0"/>
              </a:rPr>
              <a:t>disposable latex gloves</a:t>
            </a:r>
            <a:r>
              <a:rPr lang="en-US" sz="1400" noProof="0">
                <a:latin typeface="Poppins" panose="00000500000000000000" pitchFamily="2" charset="0"/>
                <a:cs typeface="Poppins" panose="00000500000000000000" pitchFamily="2" charset="0"/>
              </a:rPr>
              <a:t>, while </a:t>
            </a:r>
            <a:r>
              <a:rPr lang="en-US" sz="1400" b="1" noProof="0">
                <a:latin typeface="Poppins" panose="00000500000000000000" pitchFamily="2" charset="0"/>
                <a:cs typeface="Poppins" panose="00000500000000000000" pitchFamily="2" charset="0"/>
              </a:rPr>
              <a:t>surgical/medical masks were moderately available.</a:t>
            </a:r>
          </a:p>
          <a:p>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Respirator masks</a:t>
            </a:r>
            <a:r>
              <a:rPr lang="en-US" sz="1400" noProof="0">
                <a:latin typeface="Poppins" panose="00000500000000000000" pitchFamily="2" charset="0"/>
                <a:cs typeface="Poppins" panose="00000500000000000000" pitchFamily="2" charset="0"/>
              </a:rPr>
              <a:t> </a:t>
            </a:r>
            <a:r>
              <a:rPr lang="en-US" sz="1400" b="1" noProof="0">
                <a:latin typeface="Poppins" panose="00000500000000000000" pitchFamily="2" charset="0"/>
                <a:cs typeface="Poppins" panose="00000500000000000000" pitchFamily="2" charset="0"/>
              </a:rPr>
              <a:t>(e.g., N95 or FFP2) were particularly scarce</a:t>
            </a:r>
            <a:r>
              <a:rPr lang="en-US" sz="1400" noProof="0">
                <a:latin typeface="Poppins" panose="00000500000000000000" pitchFamily="2" charset="0"/>
                <a:cs typeface="Poppins" panose="00000500000000000000" pitchFamily="2" charset="0"/>
              </a:rPr>
              <a:t>, available in only 39% of facilities.</a:t>
            </a:r>
          </a:p>
          <a:p>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a:latin typeface="Poppins" panose="00000500000000000000" pitchFamily="2" charset="0"/>
                <a:cs typeface="Poppins" panose="00000500000000000000" pitchFamily="2" charset="0"/>
              </a:rPr>
              <a:t>District hospitals </a:t>
            </a:r>
            <a:r>
              <a:rPr lang="en-US" sz="1400">
                <a:latin typeface="Poppins" panose="00000500000000000000" pitchFamily="2" charset="0"/>
                <a:cs typeface="Poppins" panose="00000500000000000000" pitchFamily="2" charset="0"/>
              </a:rPr>
              <a:t>reported higher availability of basic PPE than other facility types.</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A09B2B47-3FC1-6D06-09ED-C6DC2AD45C25}"/>
              </a:ext>
            </a:extLst>
          </p:cNvPr>
          <p:cNvSpPr txBox="1"/>
          <p:nvPr/>
        </p:nvSpPr>
        <p:spPr>
          <a:xfrm>
            <a:off x="5904724" y="6220313"/>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PPE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1707221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0DAAD5-C42E-A169-20D4-13EBE2F92CE7}"/>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47664938-076E-48E0-3509-7925F009C97C}"/>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F7FB4FA6-5724-4F04-43CD-1EDDA843A5BC}"/>
              </a:ext>
            </a:extLst>
          </p:cNvPr>
          <p:cNvSpPr txBox="1"/>
          <p:nvPr/>
        </p:nvSpPr>
        <p:spPr>
          <a:xfrm>
            <a:off x="490071" y="1518456"/>
            <a:ext cx="4613835" cy="429348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300" noProof="0">
                <a:latin typeface="Poppins" panose="00000500000000000000" pitchFamily="2" charset="0"/>
                <a:cs typeface="Poppins" panose="00000500000000000000" pitchFamily="2" charset="0"/>
              </a:rPr>
              <a:t>Health facilities reported having, on average, </a:t>
            </a:r>
            <a:r>
              <a:rPr lang="en-US" sz="1300" b="1">
                <a:latin typeface="Poppins" panose="00000500000000000000" pitchFamily="2" charset="0"/>
                <a:cs typeface="Poppins" panose="00000500000000000000" pitchFamily="2" charset="0"/>
              </a:rPr>
              <a:t>79</a:t>
            </a:r>
            <a:r>
              <a:rPr lang="en-US" sz="1300" b="1" noProof="0">
                <a:latin typeface="Poppins" panose="00000500000000000000" pitchFamily="2" charset="0"/>
                <a:cs typeface="Poppins" panose="00000500000000000000" pitchFamily="2" charset="0"/>
              </a:rPr>
              <a:t>% </a:t>
            </a:r>
            <a:r>
              <a:rPr lang="en-US" sz="1300" noProof="0">
                <a:latin typeface="Poppins" panose="00000500000000000000" pitchFamily="2" charset="0"/>
                <a:cs typeface="Poppins" panose="00000500000000000000" pitchFamily="2" charset="0"/>
              </a:rPr>
              <a:t>of tracer medical equipment available and functional.</a:t>
            </a:r>
          </a:p>
          <a:p>
            <a:pPr marL="285750" indent="-285750">
              <a:buFont typeface="Arial" panose="020B0604020202020204" pitchFamily="34" charset="0"/>
              <a:buChar char="•"/>
            </a:pPr>
            <a:endParaRPr lang="en-US" sz="13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00" b="1" noProof="0">
                <a:latin typeface="Poppins" panose="00000500000000000000" pitchFamily="2" charset="0"/>
                <a:cs typeface="Poppins" panose="00000500000000000000" pitchFamily="2" charset="0"/>
              </a:rPr>
              <a:t>Functional immunization and growth monitoring equipment was widely available</a:t>
            </a:r>
            <a:r>
              <a:rPr lang="en-US" sz="1300" noProof="0">
                <a:latin typeface="Poppins" panose="00000500000000000000" pitchFamily="2" charset="0"/>
                <a:cs typeface="Poppins" panose="00000500000000000000" pitchFamily="2" charset="0"/>
              </a:rPr>
              <a:t>, with most facilities reporting child weighing scales, height boards, and cold boxes or vaccine refrigerators; however, </a:t>
            </a:r>
            <a:r>
              <a:rPr lang="en-US" sz="1300" b="1" noProof="0">
                <a:latin typeface="Poppins" panose="00000500000000000000" pitchFamily="2" charset="0"/>
                <a:cs typeface="Poppins" panose="00000500000000000000" pitchFamily="2" charset="0"/>
              </a:rPr>
              <a:t>20%</a:t>
            </a:r>
            <a:r>
              <a:rPr lang="en-US" sz="1300" noProof="0">
                <a:latin typeface="Poppins" panose="00000500000000000000" pitchFamily="2" charset="0"/>
                <a:cs typeface="Poppins" panose="00000500000000000000" pitchFamily="2" charset="0"/>
              </a:rPr>
              <a:t> reported refrigerator temperature excursions outside the 2–8°C range [</a:t>
            </a:r>
            <a:r>
              <a:rPr lang="en-US" sz="1300" noProof="0">
                <a:latin typeface="Poppins" panose="00000500000000000000" pitchFamily="2" charset="0"/>
                <a:cs typeface="Poppins" panose="00000500000000000000" pitchFamily="2" charset="0"/>
                <a:hlinkClick r:id="" action="ppaction://noaction"/>
              </a:rPr>
              <a:t>See Annex</a:t>
            </a:r>
            <a:r>
              <a:rPr lang="en-US" sz="1300" noProof="0">
                <a:latin typeface="Poppins" panose="00000500000000000000" pitchFamily="2" charset="0"/>
                <a:cs typeface="Poppins" panose="00000500000000000000" pitchFamily="2" charset="0"/>
              </a:rPr>
              <a:t>].</a:t>
            </a:r>
            <a:endParaRPr lang="en-US" sz="13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endParaRPr lang="en-US" sz="13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00" noProof="0">
                <a:latin typeface="Poppins" panose="00000500000000000000" pitchFamily="2" charset="0"/>
                <a:cs typeface="Poppins" panose="00000500000000000000" pitchFamily="2" charset="0"/>
              </a:rPr>
              <a:t>In contrast, </a:t>
            </a:r>
            <a:r>
              <a:rPr lang="en-US" sz="1300" b="1" noProof="0">
                <a:latin typeface="Poppins" panose="00000500000000000000" pitchFamily="2" charset="0"/>
                <a:cs typeface="Poppins" panose="00000500000000000000" pitchFamily="2" charset="0"/>
              </a:rPr>
              <a:t>reproductive and maternal health equipment was limited</a:t>
            </a:r>
            <a:r>
              <a:rPr lang="en-US" sz="1300" noProof="0">
                <a:latin typeface="Poppins" panose="00000500000000000000" pitchFamily="2" charset="0"/>
                <a:cs typeface="Poppins" panose="00000500000000000000" pitchFamily="2" charset="0"/>
              </a:rPr>
              <a:t>: only 72% of CHCs had functional speculums</a:t>
            </a:r>
            <a:r>
              <a:rPr lang="en-US" sz="1300">
                <a:latin typeface="Poppins" panose="00000500000000000000" pitchFamily="2" charset="0"/>
                <a:cs typeface="Poppins" panose="00000500000000000000" pitchFamily="2" charset="0"/>
              </a:rPr>
              <a:t> </a:t>
            </a:r>
            <a:r>
              <a:rPr lang="en-US" sz="1300" noProof="0">
                <a:latin typeface="Poppins" panose="00000500000000000000" pitchFamily="2" charset="0"/>
                <a:cs typeface="Poppins" panose="00000500000000000000" pitchFamily="2" charset="0"/>
              </a:rPr>
              <a:t>and 23% had oxygen delivery apparatuses—highlighting </a:t>
            </a:r>
            <a:r>
              <a:rPr lang="en-US" sz="1300" b="1" noProof="0">
                <a:latin typeface="Poppins" panose="00000500000000000000" pitchFamily="2" charset="0"/>
                <a:cs typeface="Poppins" panose="00000500000000000000" pitchFamily="2" charset="0"/>
              </a:rPr>
              <a:t>gaps</a:t>
            </a:r>
            <a:r>
              <a:rPr lang="en-US" sz="1300" b="1">
                <a:latin typeface="Poppins" panose="00000500000000000000" pitchFamily="2" charset="0"/>
                <a:cs typeface="Poppins" panose="00000500000000000000" pitchFamily="2" charset="0"/>
              </a:rPr>
              <a:t> in</a:t>
            </a:r>
            <a:r>
              <a:rPr lang="en-US" sz="1300" b="1" noProof="0">
                <a:latin typeface="Poppins" panose="00000500000000000000" pitchFamily="2" charset="0"/>
                <a:cs typeface="Poppins" panose="00000500000000000000" pitchFamily="2" charset="0"/>
              </a:rPr>
              <a:t> obstetric emergency care. </a:t>
            </a:r>
            <a:r>
              <a:rPr lang="en-US" sz="1300" noProof="0">
                <a:latin typeface="Poppins" panose="00000500000000000000" pitchFamily="2" charset="0"/>
                <a:cs typeface="Poppins" panose="00000500000000000000" pitchFamily="2" charset="0"/>
              </a:rPr>
              <a:t>Notably, only 57% of facilities had a </a:t>
            </a:r>
            <a:r>
              <a:rPr lang="en-US" sz="1300" b="1" noProof="0">
                <a:latin typeface="Poppins" panose="00000500000000000000" pitchFamily="2" charset="0"/>
                <a:cs typeface="Poppins" panose="00000500000000000000" pitchFamily="2" charset="0"/>
              </a:rPr>
              <a:t>functional thermometer.</a:t>
            </a:r>
          </a:p>
          <a:p>
            <a:pPr marL="285750" indent="-285750">
              <a:buFont typeface="Arial" panose="020B0604020202020204" pitchFamily="34" charset="0"/>
              <a:buChar char="•"/>
            </a:pPr>
            <a:endParaRPr lang="en-US" sz="1300" b="1">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300" b="1" noProof="0">
                <a:latin typeface="Poppins" panose="00000500000000000000" pitchFamily="2" charset="0"/>
                <a:cs typeface="Poppins" panose="00000500000000000000" pitchFamily="2" charset="0"/>
              </a:rPr>
              <a:t>District hospitals </a:t>
            </a:r>
            <a:r>
              <a:rPr lang="en-US" sz="1300" noProof="0">
                <a:latin typeface="Poppins" panose="00000500000000000000" pitchFamily="2" charset="0"/>
                <a:cs typeface="Poppins" panose="00000500000000000000" pitchFamily="2" charset="0"/>
              </a:rPr>
              <a:t>reported higher availability of basic equipment, with larger gaps in MCHP facilities.</a:t>
            </a:r>
          </a:p>
        </p:txBody>
      </p:sp>
      <p:sp>
        <p:nvSpPr>
          <p:cNvPr id="9" name="TextBox 8">
            <a:extLst>
              <a:ext uri="{FF2B5EF4-FFF2-40B4-BE49-F238E27FC236}">
                <a16:creationId xmlns:a16="http://schemas.microsoft.com/office/drawing/2014/main" id="{8BF94063-D299-0A3D-BE07-E2026DD70DA2}"/>
              </a:ext>
            </a:extLst>
          </p:cNvPr>
          <p:cNvSpPr txBox="1"/>
          <p:nvPr/>
        </p:nvSpPr>
        <p:spPr>
          <a:xfrm>
            <a:off x="5904724" y="6220313"/>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medical equipment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539324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A2D485-0341-6CEB-AB22-02128CE92623}"/>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9B61039-6725-1E57-3E36-1C5B4BB78C3F}"/>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AB82A6D2-716F-F5B3-E1A1-EC0F133B93FC}"/>
              </a:ext>
            </a:extLst>
          </p:cNvPr>
          <p:cNvSpPr txBox="1"/>
          <p:nvPr/>
        </p:nvSpPr>
        <p:spPr>
          <a:xfrm>
            <a:off x="609598" y="1579870"/>
            <a:ext cx="4389120" cy="375487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Health facilities reported having, on average, </a:t>
            </a:r>
            <a:r>
              <a:rPr lang="en-US" sz="1400" b="1" noProof="0">
                <a:latin typeface="Poppins" panose="00000500000000000000" pitchFamily="2" charset="0"/>
                <a:cs typeface="Poppins" panose="00000500000000000000" pitchFamily="2" charset="0"/>
              </a:rPr>
              <a:t>only 44%</a:t>
            </a:r>
            <a:r>
              <a:rPr lang="en-US" sz="1400" noProof="0">
                <a:latin typeface="Poppins" panose="00000500000000000000" pitchFamily="2" charset="0"/>
                <a:cs typeface="Poppins" panose="00000500000000000000" pitchFamily="2" charset="0"/>
              </a:rPr>
              <a:t> of the survey’s tracer diagnostics on site.</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Availability of communicable disease diagnostics was relatively higher:</a:t>
            </a:r>
            <a:r>
              <a:rPr lang="en-US" sz="1400" noProof="0">
                <a:latin typeface="Poppins" panose="00000500000000000000" pitchFamily="2" charset="0"/>
                <a:cs typeface="Poppins" panose="00000500000000000000" pitchFamily="2" charset="0"/>
              </a:rPr>
              <a:t> malaria rapid diagnostic tests were widely available, while HIV and syphilis tests were only moderately available.</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In contrast, basic maternal and newborn health diagnostics were very limited,</a:t>
            </a:r>
            <a:r>
              <a:rPr lang="en-US" sz="1400" noProof="0">
                <a:latin typeface="Poppins" panose="00000500000000000000" pitchFamily="2" charset="0"/>
                <a:cs typeface="Poppins" panose="00000500000000000000" pitchFamily="2" charset="0"/>
              </a:rPr>
              <a:t> despite near-universal service provision: only 26% of facilities had urine pregnancy tests, 18% had urine dipsticks (used for pre-eclampsia screening), and 10% had blood glucose testing available.</a:t>
            </a:r>
          </a:p>
        </p:txBody>
      </p:sp>
      <p:sp>
        <p:nvSpPr>
          <p:cNvPr id="8" name="TextBox 7">
            <a:extLst>
              <a:ext uri="{FF2B5EF4-FFF2-40B4-BE49-F238E27FC236}">
                <a16:creationId xmlns:a16="http://schemas.microsoft.com/office/drawing/2014/main" id="{B4022DAE-1273-2507-05A7-8F297B461E51}"/>
              </a:ext>
            </a:extLst>
          </p:cNvPr>
          <p:cNvSpPr txBox="1"/>
          <p:nvPr/>
        </p:nvSpPr>
        <p:spPr>
          <a:xfrm>
            <a:off x="5904724" y="6216853"/>
            <a:ext cx="5583755" cy="369332"/>
          </a:xfrm>
          <a:prstGeom prst="rect">
            <a:avLst/>
          </a:prstGeom>
          <a:noFill/>
        </p:spPr>
        <p:txBody>
          <a:bodyPr wrap="square" rtlCol="0">
            <a:spAutoFit/>
          </a:bodyPr>
          <a:lstStyle/>
          <a:p>
            <a:r>
              <a:rPr lang="en-US" sz="600" noProof="0">
                <a:latin typeface="Poppins" panose="00000500000000000000" pitchFamily="2" charset="0"/>
                <a:ea typeface="Roboto" panose="02000000000000000000" pitchFamily="2" charset="0"/>
                <a:cs typeface="Poppins" panose="00000500000000000000" pitchFamily="2" charset="0"/>
              </a:rPr>
              <a:t>*The two composite indices are calculated based on the list of tracer diagnostics presented in the graph above. </a:t>
            </a:r>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2221877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FF08F1-0652-BEBA-02AB-1F0380D3F97A}"/>
              </a:ext>
            </a:extLst>
          </p:cNvPr>
          <p:cNvPicPr>
            <a:picLocks noChangeAspect="1"/>
          </p:cNvPicPr>
          <p:nvPr/>
        </p:nvPicPr>
        <p:blipFill>
          <a:blip r:embed="rId4"/>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436561B-8C12-E61C-6B93-2C18A495DB93}"/>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C3DC552E-B951-2135-2AD4-4FEE8872C8D0}"/>
              </a:ext>
            </a:extLst>
          </p:cNvPr>
          <p:cNvSpPr txBox="1"/>
          <p:nvPr/>
        </p:nvSpPr>
        <p:spPr>
          <a:xfrm>
            <a:off x="609598" y="1593519"/>
            <a:ext cx="4389120" cy="31085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Most facilities reported </a:t>
            </a:r>
            <a:r>
              <a:rPr lang="en-US" sz="1400" b="1" noProof="0">
                <a:latin typeface="Poppins" panose="00000500000000000000" pitchFamily="2" charset="0"/>
                <a:cs typeface="Poppins" panose="00000500000000000000" pitchFamily="2" charset="0"/>
              </a:rPr>
              <a:t>referring patients to another health facility or asking them to purchase medicines elsewhere </a:t>
            </a:r>
            <a:r>
              <a:rPr lang="en-US" sz="1400" noProof="0">
                <a:latin typeface="Poppins" panose="00000500000000000000" pitchFamily="2" charset="0"/>
                <a:cs typeface="Poppins" panose="00000500000000000000" pitchFamily="2" charset="0"/>
              </a:rPr>
              <a:t>when items were unavailable.</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However, a </a:t>
            </a:r>
            <a:r>
              <a:rPr lang="en-US" sz="1400" b="1" noProof="0">
                <a:latin typeface="Poppins" panose="00000500000000000000" pitchFamily="2" charset="0"/>
                <a:cs typeface="Poppins" panose="00000500000000000000" pitchFamily="2" charset="0"/>
              </a:rPr>
              <a:t>substantial proportion of facilities (78%) reported prescribing a less appropriate medicine</a:t>
            </a:r>
            <a:r>
              <a:rPr lang="en-US" sz="1400" noProof="0">
                <a:latin typeface="Poppins" panose="00000500000000000000" pitchFamily="2" charset="0"/>
                <a:cs typeface="Poppins" panose="00000500000000000000" pitchFamily="2" charset="0"/>
              </a:rPr>
              <a:t> – an alternative drug that is not the recommended first-line treatment* –in such situations. </a:t>
            </a:r>
          </a:p>
          <a:p>
            <a:pPr marL="285750" indent="-285750">
              <a:buFont typeface="Arial" panose="020B0604020202020204" pitchFamily="34" charset="0"/>
              <a:buChar char="•"/>
            </a:pPr>
            <a:endParaRPr lang="en-US" sz="140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This indicates that stock shortages often force facilities to compromise on treatment quality.</a:t>
            </a:r>
          </a:p>
        </p:txBody>
      </p:sp>
      <p:sp>
        <p:nvSpPr>
          <p:cNvPr id="8" name="TextBox 7">
            <a:extLst>
              <a:ext uri="{FF2B5EF4-FFF2-40B4-BE49-F238E27FC236}">
                <a16:creationId xmlns:a16="http://schemas.microsoft.com/office/drawing/2014/main" id="{8379E869-9D39-BA62-16BF-248A5D8948AE}"/>
              </a:ext>
            </a:extLst>
          </p:cNvPr>
          <p:cNvSpPr txBox="1"/>
          <p:nvPr/>
        </p:nvSpPr>
        <p:spPr>
          <a:xfrm>
            <a:off x="5904724" y="6108512"/>
            <a:ext cx="5583755" cy="461665"/>
          </a:xfrm>
          <a:prstGeom prst="rect">
            <a:avLst/>
          </a:prstGeom>
          <a:noFill/>
        </p:spPr>
        <p:txBody>
          <a:bodyPr wrap="square" rtlCol="0">
            <a:spAutoFit/>
          </a:bodyPr>
          <a:lstStyle/>
          <a:p>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a:t>
            </a:r>
            <a:r>
              <a:rPr lang="en-US" sz="600">
                <a:latin typeface="Poppins" panose="00000500000000000000" pitchFamily="2" charset="0"/>
                <a:ea typeface="Roboto" panose="02000000000000000000" pitchFamily="2" charset="0"/>
                <a:cs typeface="Poppins" panose="00000500000000000000" pitchFamily="2" charset="0"/>
              </a:rPr>
              <a:t>breakdown of results by facility type, area, and region is available in the annex of the report. DH: District hospital; CHC: Community Health Center; CHP: Community Health Post; MCHP: Maternal and Child Healthcare Post. *A ‘Less suitable medicine’ refers to an alternative drug that is not the recommended first-line treatment because the required medicine is out of stock. It is typically a second-choice option that may be less effective, have more side effects, or not fully align with clinical guidelines.</a:t>
            </a:r>
            <a:endParaRPr lang="en-US" sz="600" noProof="0">
              <a:latin typeface="Poppins" panose="000005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1952071696"/>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55CF66-9311-2E37-0859-9841EBA27533}"/>
              </a:ext>
            </a:extLst>
          </p:cNvPr>
          <p:cNvPicPr>
            <a:picLocks noChangeAspect="1"/>
          </p:cNvPicPr>
          <p:nvPr/>
        </p:nvPicPr>
        <p:blipFill>
          <a:blip r:embed="rId3"/>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0B3E974E-66A6-BC1E-CE91-BCCD3B5F83C4}"/>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55A4F756-3402-8B84-D6D3-F9FB20D4E578}"/>
              </a:ext>
            </a:extLst>
          </p:cNvPr>
          <p:cNvSpPr txBox="1"/>
          <p:nvPr/>
        </p:nvSpPr>
        <p:spPr>
          <a:xfrm>
            <a:off x="609598" y="1586695"/>
            <a:ext cx="4389120" cy="224676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Most facilities reported </a:t>
            </a:r>
            <a:r>
              <a:rPr lang="en-US" sz="1400" b="1" noProof="0">
                <a:latin typeface="Poppins" panose="00000500000000000000" pitchFamily="2" charset="0"/>
                <a:cs typeface="Poppins" panose="00000500000000000000" pitchFamily="2" charset="0"/>
              </a:rPr>
              <a:t>placing medicine orders on a monthly or quarterly basis</a:t>
            </a:r>
            <a:r>
              <a:rPr lang="en-US" sz="1400" noProof="0">
                <a:latin typeface="Poppins" panose="00000500000000000000" pitchFamily="2" charset="0"/>
                <a:cs typeface="Poppins" panose="00000500000000000000" pitchFamily="2" charset="0"/>
              </a:rPr>
              <a:t>, though the </a:t>
            </a:r>
            <a:r>
              <a:rPr lang="en-US" sz="1400">
                <a:latin typeface="Poppins" panose="00000500000000000000" pitchFamily="2" charset="0"/>
                <a:cs typeface="Poppins" panose="00000500000000000000" pitchFamily="2" charset="0"/>
              </a:rPr>
              <a:t>large </a:t>
            </a:r>
            <a:r>
              <a:rPr lang="en-US" sz="1400" noProof="0">
                <a:latin typeface="Poppins" panose="00000500000000000000" pitchFamily="2" charset="0"/>
                <a:cs typeface="Poppins" panose="00000500000000000000" pitchFamily="2" charset="0"/>
              </a:rPr>
              <a:t>majority received these orders </a:t>
            </a:r>
            <a:r>
              <a:rPr lang="en-US" sz="1400" b="1" noProof="0">
                <a:latin typeface="Poppins" panose="00000500000000000000" pitchFamily="2" charset="0"/>
                <a:cs typeface="Poppins" panose="00000500000000000000" pitchFamily="2" charset="0"/>
              </a:rPr>
              <a:t>quarterly.</a:t>
            </a:r>
          </a:p>
          <a:p>
            <a:pPr marL="285750" indent="-285750">
              <a:buFont typeface="Arial" panose="020B0604020202020204" pitchFamily="34" charset="0"/>
              <a:buChar char="•"/>
            </a:pPr>
            <a:endParaRPr lang="en-US" sz="1400" b="1"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Responsibility for calculating medicine orders varied across facilities: </a:t>
            </a:r>
            <a:r>
              <a:rPr lang="en-US" sz="1400" b="1" noProof="0">
                <a:latin typeface="Poppins" panose="00000500000000000000" pitchFamily="2" charset="0"/>
                <a:cs typeface="Poppins" panose="00000500000000000000" pitchFamily="2" charset="0"/>
              </a:rPr>
              <a:t>most (69%) relied on the Officer in Charge (OIC), </a:t>
            </a:r>
            <a:r>
              <a:rPr lang="en-US" sz="1400" noProof="0">
                <a:latin typeface="Poppins" panose="00000500000000000000" pitchFamily="2" charset="0"/>
                <a:cs typeface="Poppins" panose="00000500000000000000" pitchFamily="2" charset="0"/>
              </a:rPr>
              <a:t>with pharmacists (5%) and nursing staff (7%) also mentioned.</a:t>
            </a:r>
          </a:p>
        </p:txBody>
      </p:sp>
    </p:spTree>
    <p:extLst>
      <p:ext uri="{BB962C8B-B14F-4D97-AF65-F5344CB8AC3E}">
        <p14:creationId xmlns:p14="http://schemas.microsoft.com/office/powerpoint/2010/main" val="2944363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498C3B-A9AD-DA07-9511-EBAA9FF154F3}"/>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685FA3AD-8EFB-714E-F038-60EF5A6727B7}"/>
              </a:ext>
            </a:extLst>
          </p:cNvPr>
          <p:cNvSpPr txBox="1"/>
          <p:nvPr/>
        </p:nvSpPr>
        <p:spPr>
          <a:xfrm>
            <a:off x="402609" y="1371181"/>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ea typeface="+mj-ea"/>
              <a:cs typeface="+mj-cs"/>
            </a:endParaRPr>
          </a:p>
          <a:p>
            <a:pPr>
              <a:spcBef>
                <a:spcPts val="1000"/>
              </a:spcBef>
              <a:buClr>
                <a:schemeClr val="bg2">
                  <a:lumMod val="40000"/>
                  <a:lumOff val="60000"/>
                </a:schemeClr>
              </a:buClr>
              <a:buSzPct val="80000"/>
            </a:pPr>
            <a:endParaRPr lang="en-US" sz="1000" noProof="0">
              <a:solidFill>
                <a:srgbClr val="08716C"/>
              </a:solidFill>
              <a:ea typeface="+mj-ea"/>
              <a:cs typeface="+mj-cs"/>
            </a:endParaRPr>
          </a:p>
          <a:p>
            <a:pPr marL="285750" indent="-285750">
              <a:spcAft>
                <a:spcPts val="600"/>
              </a:spcAft>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lvl="1"/>
            <a:endParaRPr lang="en-US" sz="1100" noProof="0">
              <a:solidFill>
                <a:srgbClr val="08716C"/>
              </a:solidFill>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ea typeface="Roboto" panose="02000000000000000000" pitchFamily="2" charset="0"/>
              <a:cs typeface="Poppins" panose="00000500000000000000" pitchFamily="2" charset="0"/>
            </a:endParaRPr>
          </a:p>
        </p:txBody>
      </p:sp>
      <p:sp>
        <p:nvSpPr>
          <p:cNvPr id="11" name="TextBox 10">
            <a:extLst>
              <a:ext uri="{FF2B5EF4-FFF2-40B4-BE49-F238E27FC236}">
                <a16:creationId xmlns:a16="http://schemas.microsoft.com/office/drawing/2014/main" id="{34E79454-5302-19EA-B149-9F8B1D422DDC}"/>
              </a:ext>
            </a:extLst>
          </p:cNvPr>
          <p:cNvSpPr txBox="1"/>
          <p:nvPr/>
        </p:nvSpPr>
        <p:spPr>
          <a:xfrm>
            <a:off x="609598" y="1545752"/>
            <a:ext cx="4389120" cy="39703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Use of IT systems was </a:t>
            </a:r>
            <a:r>
              <a:rPr lang="en-US" sz="1400" b="1" noProof="0" err="1">
                <a:latin typeface="Poppins" panose="00000500000000000000" pitchFamily="2" charset="0"/>
                <a:cs typeface="Poppins" panose="00000500000000000000" pitchFamily="2" charset="0"/>
              </a:rPr>
              <a:t>ver</a:t>
            </a:r>
            <a:r>
              <a:rPr lang="en-US" sz="1400" b="1">
                <a:latin typeface="Poppins" panose="00000500000000000000" pitchFamily="2" charset="0"/>
                <a:cs typeface="Poppins" panose="00000500000000000000" pitchFamily="2" charset="0"/>
              </a:rPr>
              <a:t>y limited. M</a:t>
            </a:r>
            <a:r>
              <a:rPr lang="en-US" sz="1400" b="1" noProof="0" err="1">
                <a:latin typeface="Poppins" panose="00000500000000000000" pitchFamily="2" charset="0"/>
                <a:cs typeface="Poppins" panose="00000500000000000000" pitchFamily="2" charset="0"/>
              </a:rPr>
              <a:t>ost</a:t>
            </a:r>
            <a:r>
              <a:rPr lang="en-US" sz="1400" b="1" noProof="0">
                <a:latin typeface="Poppins" panose="00000500000000000000" pitchFamily="2" charset="0"/>
                <a:cs typeface="Poppins" panose="00000500000000000000" pitchFamily="2" charset="0"/>
              </a:rPr>
              <a:t> health facilities (87%) reported using paper records only</a:t>
            </a:r>
            <a:r>
              <a:rPr lang="en-US" sz="1400" noProof="0">
                <a:latin typeface="Poppins" panose="00000500000000000000" pitchFamily="2" charset="0"/>
                <a:cs typeface="Poppins" panose="00000500000000000000" pitchFamily="2" charset="0"/>
              </a:rPr>
              <a:t> to document the receipt, inventory, and dispensing of medicines. 13% used a combination of IT and paper records, while </a:t>
            </a:r>
            <a:r>
              <a:rPr lang="en-US" sz="1400" b="1" noProof="0">
                <a:latin typeface="Poppins" panose="00000500000000000000" pitchFamily="2" charset="0"/>
                <a:cs typeface="Poppins" panose="00000500000000000000" pitchFamily="2" charset="0"/>
              </a:rPr>
              <a:t>none relied solely on IT systems.</a:t>
            </a:r>
          </a:p>
          <a:p>
            <a:pPr marL="285750" indent="-285750">
              <a:buFont typeface="Arial" panose="020B0604020202020204" pitchFamily="34" charset="0"/>
              <a:buChar char="•"/>
            </a:pPr>
            <a:endParaRPr lang="en-US" sz="1400" b="1">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However, </a:t>
            </a:r>
            <a:r>
              <a:rPr lang="en-US" sz="1400" b="1" noProof="0">
                <a:latin typeface="Poppins" panose="00000500000000000000" pitchFamily="2" charset="0"/>
                <a:cs typeface="Poppins" panose="00000500000000000000" pitchFamily="2" charset="0"/>
              </a:rPr>
              <a:t>district hospitals diverged from this pattern</a:t>
            </a:r>
            <a:r>
              <a:rPr lang="en-US" sz="1400" noProof="0">
                <a:latin typeface="Poppins" panose="00000500000000000000" pitchFamily="2" charset="0"/>
                <a:cs typeface="Poppins" panose="00000500000000000000" pitchFamily="2" charset="0"/>
              </a:rPr>
              <a:t>, with a majority (69%) reporting using a mix of paper records and IT systems.</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Among the </a:t>
            </a:r>
            <a:r>
              <a:rPr lang="en-US" sz="1400">
                <a:latin typeface="Poppins" panose="00000500000000000000" pitchFamily="2" charset="0"/>
                <a:cs typeface="Poppins" panose="00000500000000000000" pitchFamily="2" charset="0"/>
              </a:rPr>
              <a:t>4</a:t>
            </a:r>
            <a:r>
              <a:rPr lang="en-US" sz="1400" noProof="0">
                <a:latin typeface="Poppins" panose="00000500000000000000" pitchFamily="2" charset="0"/>
                <a:cs typeface="Poppins" panose="00000500000000000000" pitchFamily="2" charset="0"/>
              </a:rPr>
              <a:t>8 facilities using both IT and paper, the majority (</a:t>
            </a:r>
            <a:r>
              <a:rPr lang="en-US" sz="1400">
                <a:latin typeface="Poppins" panose="00000500000000000000" pitchFamily="2" charset="0"/>
                <a:cs typeface="Poppins" panose="00000500000000000000" pitchFamily="2" charset="0"/>
              </a:rPr>
              <a:t>90</a:t>
            </a:r>
            <a:r>
              <a:rPr lang="en-US" sz="1400" noProof="0">
                <a:latin typeface="Poppins" panose="00000500000000000000" pitchFamily="2" charset="0"/>
                <a:cs typeface="Poppins" panose="00000500000000000000" pitchFamily="2" charset="0"/>
              </a:rPr>
              <a:t>%) reported that IT systems were fully functional over the past seven days [</a:t>
            </a:r>
            <a:r>
              <a:rPr lang="en-US" sz="1400" noProof="0">
                <a:latin typeface="Poppins" panose="00000500000000000000" pitchFamily="2" charset="0"/>
                <a:cs typeface="Poppins" panose="00000500000000000000" pitchFamily="2" charset="0"/>
                <a:hlinkClick r:id="" action="ppaction://noaction"/>
              </a:rPr>
              <a:t>See Annex</a:t>
            </a:r>
            <a:r>
              <a:rPr lang="en-US" sz="1400" noProof="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32F9C8D5-D821-C8BA-26D8-B3CFB55687B3}"/>
              </a:ext>
            </a:extLst>
          </p:cNvPr>
          <p:cNvSpPr txBox="1"/>
          <p:nvPr/>
        </p:nvSpPr>
        <p:spPr>
          <a:xfrm>
            <a:off x="5979788" y="6286095"/>
            <a:ext cx="5583755" cy="276999"/>
          </a:xfrm>
          <a:prstGeom prst="rect">
            <a:avLst/>
          </a:prstGeom>
          <a:noFill/>
        </p:spPr>
        <p:txBody>
          <a:bodyPr wrap="square" rtlCol="0">
            <a:spAutoFit/>
          </a:bodyPr>
          <a:lstStyle/>
          <a:p>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Tree>
    <p:extLst>
      <p:ext uri="{BB962C8B-B14F-4D97-AF65-F5344CB8AC3E}">
        <p14:creationId xmlns:p14="http://schemas.microsoft.com/office/powerpoint/2010/main" val="3299357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EE1299-61FA-B85D-6B32-7CE1461250AD}"/>
              </a:ext>
            </a:extLst>
          </p:cNvPr>
          <p:cNvPicPr>
            <a:picLocks noChangeAspect="1"/>
          </p:cNvPicPr>
          <p:nvPr/>
        </p:nvPicPr>
        <p:blipFill>
          <a:blip r:embed="rId4"/>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5410D57-F124-BB46-0097-8E10C2639687}"/>
              </a:ext>
            </a:extLst>
          </p:cNvPr>
          <p:cNvSpPr txBox="1"/>
          <p:nvPr/>
        </p:nvSpPr>
        <p:spPr>
          <a:xfrm>
            <a:off x="402609" y="1406015"/>
            <a:ext cx="4798040" cy="4667945"/>
          </a:xfrm>
          <a:prstGeom prst="rect">
            <a:avLst/>
          </a:prstGeom>
          <a:solidFill>
            <a:srgbClr val="F2F2F2"/>
          </a:solidFill>
          <a:ln w="3175">
            <a:noFill/>
          </a:ln>
        </p:spPr>
        <p:txBody>
          <a:bodyPr wrap="square" rtlCol="0">
            <a:spAutoFit/>
          </a:bodyPr>
          <a:lstStyle/>
          <a:p>
            <a:pPr>
              <a:spcBef>
                <a:spcPts val="1000"/>
              </a:spcBef>
              <a:buClr>
                <a:schemeClr val="bg2">
                  <a:lumMod val="40000"/>
                  <a:lumOff val="60000"/>
                </a:schemeClr>
              </a:buClr>
              <a:buSzPct val="80000"/>
            </a:pPr>
            <a:endParaRPr lang="en-US" sz="1000" noProof="0">
              <a:solidFill>
                <a:srgbClr val="08716C"/>
              </a:solidFill>
              <a:latin typeface="Poppins" panose="00000500000000000000" pitchFamily="2" charset="0"/>
              <a:ea typeface="+mj-ea"/>
              <a:cs typeface="Poppins" panose="00000500000000000000" pitchFamily="2" charset="0"/>
            </a:endParaRPr>
          </a:p>
          <a:p>
            <a:pPr>
              <a:spcBef>
                <a:spcPts val="1000"/>
              </a:spcBef>
              <a:buClr>
                <a:schemeClr val="bg2">
                  <a:lumMod val="40000"/>
                  <a:lumOff val="60000"/>
                </a:schemeClr>
              </a:buClr>
              <a:buSzPct val="80000"/>
            </a:pPr>
            <a:endParaRPr lang="en-US" sz="1000" noProof="0">
              <a:solidFill>
                <a:srgbClr val="08716C"/>
              </a:solidFill>
              <a:latin typeface="Poppins" panose="00000500000000000000" pitchFamily="2" charset="0"/>
              <a:ea typeface="+mj-ea"/>
              <a:cs typeface="Poppins" panose="00000500000000000000" pitchFamily="2" charset="0"/>
            </a:endParaRPr>
          </a:p>
          <a:p>
            <a:pPr marL="285750" indent="-285750">
              <a:spcAft>
                <a:spcPts val="600"/>
              </a:spcAft>
              <a:buFont typeface="Arial" panose="020B0604020202020204" pitchFamily="34" charset="0"/>
              <a:buChar char="•"/>
            </a:pPr>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lvl="1"/>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a:p>
            <a:pPr marL="742950" lvl="1" indent="-285750">
              <a:buFont typeface="Arial" panose="020B0604020202020204" pitchFamily="34" charset="0"/>
              <a:buChar char="•"/>
            </a:pPr>
            <a:endParaRPr lang="en-US" sz="1100" noProof="0">
              <a:solidFill>
                <a:srgbClr val="08716C"/>
              </a:solidFill>
              <a:latin typeface="Poppins" panose="00000500000000000000" pitchFamily="2" charset="0"/>
              <a:ea typeface="Roboto" panose="020000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A866185C-7047-77E3-2D57-9CEFC10BD85B}"/>
              </a:ext>
            </a:extLst>
          </p:cNvPr>
          <p:cNvSpPr txBox="1"/>
          <p:nvPr/>
        </p:nvSpPr>
        <p:spPr>
          <a:xfrm>
            <a:off x="5904724" y="6225520"/>
            <a:ext cx="5583755" cy="276999"/>
          </a:xfrm>
          <a:prstGeom prst="rect">
            <a:avLst/>
          </a:prstGeom>
          <a:noFill/>
        </p:spPr>
        <p:txBody>
          <a:bodyPr wrap="square" rtlCol="0">
            <a:spAutoFit/>
          </a:bodyPr>
          <a:lstStyle/>
          <a:p>
            <a:r>
              <a:rPr lang="en-US" sz="600" b="1" noProof="0">
                <a:latin typeface="Poppins" panose="00000500000000000000" pitchFamily="2" charset="0"/>
                <a:ea typeface="Roboto" panose="02000000000000000000" pitchFamily="2" charset="0"/>
                <a:cs typeface="Poppins" panose="00000500000000000000" pitchFamily="2" charset="0"/>
              </a:rPr>
              <a:t>Note: </a:t>
            </a:r>
            <a:r>
              <a:rPr lang="en-US" sz="600" noProof="0">
                <a:latin typeface="Poppins" panose="00000500000000000000" pitchFamily="2" charset="0"/>
                <a:ea typeface="Roboto" panose="02000000000000000000" pitchFamily="2" charset="0"/>
                <a:cs typeface="Poppins" panose="00000500000000000000" pitchFamily="2" charset="0"/>
              </a:rPr>
              <a:t>A detailed breakdown of results by facility type, area, and region is available in the annex of the report. </a:t>
            </a:r>
            <a:r>
              <a:rPr lang="en-US" sz="600">
                <a:latin typeface="Poppins" panose="00000500000000000000" pitchFamily="2" charset="0"/>
                <a:ea typeface="Roboto" panose="02000000000000000000" pitchFamily="2" charset="0"/>
                <a:cs typeface="Poppins" panose="00000500000000000000" pitchFamily="2" charset="0"/>
              </a:rPr>
              <a:t>DH: District hospital; </a:t>
            </a:r>
            <a:r>
              <a:rPr lang="en-US" sz="600" noProof="0">
                <a:latin typeface="Poppins" panose="00000500000000000000" pitchFamily="2" charset="0"/>
                <a:ea typeface="Roboto" panose="02000000000000000000" pitchFamily="2" charset="0"/>
                <a:cs typeface="Poppins" panose="00000500000000000000" pitchFamily="2" charset="0"/>
              </a:rPr>
              <a:t>CHC: Community Health Center; CHP: Community Health Post; MCHP: Maternal and Child Healthcare Post. </a:t>
            </a:r>
          </a:p>
        </p:txBody>
      </p:sp>
      <p:sp>
        <p:nvSpPr>
          <p:cNvPr id="9" name="TextBox 8">
            <a:extLst>
              <a:ext uri="{FF2B5EF4-FFF2-40B4-BE49-F238E27FC236}">
                <a16:creationId xmlns:a16="http://schemas.microsoft.com/office/drawing/2014/main" id="{088B2923-4CE4-F042-3B6F-8789D33C5B6D}"/>
              </a:ext>
            </a:extLst>
          </p:cNvPr>
          <p:cNvSpPr txBox="1"/>
          <p:nvPr/>
        </p:nvSpPr>
        <p:spPr>
          <a:xfrm>
            <a:off x="609598" y="1593519"/>
            <a:ext cx="4389120" cy="397031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b="1" noProof="0">
                <a:latin typeface="Poppins" panose="00000500000000000000" pitchFamily="2" charset="0"/>
                <a:cs typeface="Poppins" panose="00000500000000000000" pitchFamily="2" charset="0"/>
              </a:rPr>
              <a:t>Facilities reported several challenges in maintaining adequate medical supplies:</a:t>
            </a:r>
            <a:r>
              <a:rPr lang="en-US" sz="1400" noProof="0">
                <a:latin typeface="Poppins" panose="00000500000000000000" pitchFamily="2" charset="0"/>
                <a:cs typeface="Poppins" panose="00000500000000000000" pitchFamily="2" charset="0"/>
              </a:rPr>
              <a:t> 71% of facilities experienced at least one challenge, with </a:t>
            </a:r>
            <a:r>
              <a:rPr lang="en-US" sz="1400" b="1" noProof="0">
                <a:latin typeface="Poppins" panose="00000500000000000000" pitchFamily="2" charset="0"/>
                <a:cs typeface="Poppins" panose="00000500000000000000" pitchFamily="2" charset="0"/>
              </a:rPr>
              <a:t>32% facing issues that limited or prevented service delivery</a:t>
            </a:r>
            <a:r>
              <a:rPr lang="en-US" sz="1400" noProof="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noProof="0">
                <a:latin typeface="Poppins" panose="00000500000000000000" pitchFamily="2" charset="0"/>
                <a:cs typeface="Poppins" panose="00000500000000000000" pitchFamily="2" charset="0"/>
              </a:rPr>
              <a:t>Common problems included </a:t>
            </a:r>
            <a:r>
              <a:rPr lang="en-US" sz="1400" b="1" noProof="0">
                <a:latin typeface="Poppins" panose="00000500000000000000" pitchFamily="2" charset="0"/>
                <a:cs typeface="Poppins" panose="00000500000000000000" pitchFamily="2" charset="0"/>
              </a:rPr>
              <a:t>shortages at the district or higher level, insufficient funds to place orders, and unexpected patient surges</a:t>
            </a:r>
            <a:r>
              <a:rPr lang="en-US" sz="1400" noProof="0">
                <a:latin typeface="Poppins" panose="00000500000000000000" pitchFamily="2" charset="0"/>
                <a:cs typeface="Poppins" panose="00000500000000000000" pitchFamily="2" charset="0"/>
              </a:rPr>
              <a:t>. Additionally, among 281 facilities supplying CHWs, 21% were unable to fulfill at least one request over the past three months [</a:t>
            </a:r>
            <a:r>
              <a:rPr lang="en-US" sz="1400" noProof="0">
                <a:latin typeface="Poppins" panose="00000500000000000000" pitchFamily="2" charset="0"/>
                <a:cs typeface="Poppins" panose="00000500000000000000" pitchFamily="2" charset="0"/>
                <a:hlinkClick r:id="" action="ppaction://noaction"/>
              </a:rPr>
              <a:t>See Annex</a:t>
            </a:r>
            <a:r>
              <a:rPr lang="en-US" sz="1400" noProof="0">
                <a:latin typeface="Poppins" panose="00000500000000000000" pitchFamily="2" charset="0"/>
                <a:cs typeface="Poppins" panose="00000500000000000000" pitchFamily="2" charset="0"/>
              </a:rPr>
              <a:t>].</a:t>
            </a:r>
          </a:p>
          <a:p>
            <a:pPr marL="285750" indent="-285750">
              <a:buFont typeface="Arial" panose="020B0604020202020204" pitchFamily="34" charset="0"/>
              <a:buChar char="•"/>
            </a:pPr>
            <a:endParaRPr lang="en-US" sz="1400" noProof="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1400">
                <a:latin typeface="Poppins" panose="00000500000000000000" pitchFamily="2" charset="0"/>
                <a:cs typeface="Poppins" panose="00000500000000000000" pitchFamily="2" charset="0"/>
              </a:rPr>
              <a:t>Facility managers noted that supply shortages often lead to patient referrals to other facilities or, in some cases, prevent care from being delivered altogether.</a:t>
            </a:r>
            <a:endParaRPr lang="en-US" sz="1400" noProof="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164909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8C7F1-78B9-025B-0D08-B99C4833AF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ABC23A-CD7A-6F96-9D4C-E849191EFF6B}"/>
              </a:ext>
            </a:extLst>
          </p:cNvPr>
          <p:cNvSpPr/>
          <p:nvPr/>
        </p:nvSpPr>
        <p:spPr>
          <a:xfrm>
            <a:off x="0" y="0"/>
            <a:ext cx="12192000" cy="6858000"/>
          </a:xfrm>
          <a:prstGeom prst="rect">
            <a:avLst/>
          </a:prstGeom>
          <a:solidFill>
            <a:srgbClr val="FFFFFF"/>
          </a:solidFill>
          <a:ln w="12700">
            <a:solidFill>
              <a:srgbClr val="FFFFFF"/>
            </a:solidFill>
            <a:prstDash val="solid"/>
          </a:ln>
        </p:spPr>
        <p:txBody>
          <a:bodyPr/>
          <a:lstStyle/>
          <a:p>
            <a:endParaRPr lang="en-US" sz="576" noProof="0"/>
          </a:p>
        </p:txBody>
      </p:sp>
      <p:sp>
        <p:nvSpPr>
          <p:cNvPr id="3" name="Shape 1">
            <a:extLst>
              <a:ext uri="{FF2B5EF4-FFF2-40B4-BE49-F238E27FC236}">
                <a16:creationId xmlns:a16="http://schemas.microsoft.com/office/drawing/2014/main" id="{99096B4A-CF71-6844-2345-317283468E09}"/>
              </a:ext>
            </a:extLst>
          </p:cNvPr>
          <p:cNvSpPr/>
          <p:nvPr/>
        </p:nvSpPr>
        <p:spPr>
          <a:xfrm>
            <a:off x="0" y="0"/>
            <a:ext cx="12192000" cy="670560"/>
          </a:xfrm>
          <a:prstGeom prst="rect">
            <a:avLst/>
          </a:prstGeom>
          <a:solidFill>
            <a:srgbClr val="FFFFFF"/>
          </a:solidFill>
          <a:ln w="12700">
            <a:solidFill>
              <a:srgbClr val="FFFFFF"/>
            </a:solidFill>
            <a:prstDash val="solid"/>
          </a:ln>
        </p:spPr>
        <p:txBody>
          <a:bodyPr/>
          <a:lstStyle/>
          <a:p>
            <a:endParaRPr lang="en-US" sz="576" noProof="0"/>
          </a:p>
        </p:txBody>
      </p:sp>
      <p:sp>
        <p:nvSpPr>
          <p:cNvPr id="6" name="Text 4">
            <a:extLst>
              <a:ext uri="{FF2B5EF4-FFF2-40B4-BE49-F238E27FC236}">
                <a16:creationId xmlns:a16="http://schemas.microsoft.com/office/drawing/2014/main" id="{4A1D0A19-9458-1037-BFF0-92AC3B1E8BC5}"/>
              </a:ext>
            </a:extLst>
          </p:cNvPr>
          <p:cNvSpPr/>
          <p:nvPr/>
        </p:nvSpPr>
        <p:spPr>
          <a:xfrm>
            <a:off x="243840" y="6495288"/>
            <a:ext cx="11704320" cy="179832"/>
          </a:xfrm>
          <a:prstGeom prst="rect">
            <a:avLst/>
          </a:prstGeom>
          <a:noFill/>
          <a:ln/>
        </p:spPr>
        <p:txBody>
          <a:bodyPr wrap="square" lIns="0" tIns="0" rIns="0" bIns="0" rtlCol="0" anchor="t"/>
          <a:lstStyle/>
          <a:p>
            <a:pPr>
              <a:lnSpc>
                <a:spcPct val="116667"/>
              </a:lnSpc>
            </a:pPr>
            <a:r>
              <a:rPr lang="en-US" sz="1152" kern="0" spc="-23" noProof="0">
                <a:solidFill>
                  <a:srgbClr val="FFFFFF"/>
                </a:solidFill>
                <a:latin typeface="Inter" pitchFamily="34" charset="0"/>
                <a:ea typeface="Inter" pitchFamily="34" charset="-122"/>
                <a:cs typeface="Inter" pitchFamily="34" charset="-120"/>
              </a:rPr>
              <a:t>Plus de </a:t>
            </a:r>
            <a:r>
              <a:rPr lang="en-US" sz="1152" kern="0" spc="-23" noProof="0" err="1">
                <a:solidFill>
                  <a:srgbClr val="FFFFFF"/>
                </a:solidFill>
                <a:latin typeface="Inter" pitchFamily="34" charset="0"/>
                <a:ea typeface="Inter" pitchFamily="34" charset="-122"/>
                <a:cs typeface="Inter" pitchFamily="34" charset="-120"/>
              </a:rPr>
              <a:t>détails</a:t>
            </a:r>
            <a:r>
              <a:rPr lang="en-US" sz="1152" kern="0" spc="-23" noProof="0">
                <a:solidFill>
                  <a:srgbClr val="FFFFFF"/>
                </a:solidFill>
                <a:latin typeface="Inter" pitchFamily="34" charset="0"/>
                <a:ea typeface="Inter" pitchFamily="34" charset="-122"/>
                <a:cs typeface="Inter" pitchFamily="34" charset="-120"/>
              </a:rPr>
              <a:t> sur la </a:t>
            </a:r>
            <a:r>
              <a:rPr lang="en-US" sz="1152" kern="0" spc="-23" noProof="0" err="1">
                <a:solidFill>
                  <a:srgbClr val="FFFFFF"/>
                </a:solidFill>
                <a:latin typeface="Inter" pitchFamily="34" charset="0"/>
                <a:ea typeface="Inter" pitchFamily="34" charset="-122"/>
                <a:cs typeface="Inter" pitchFamily="34" charset="-120"/>
              </a:rPr>
              <a:t>méthodologie</a:t>
            </a:r>
            <a:r>
              <a:rPr lang="en-US" sz="1152" kern="0" spc="-23" noProof="0">
                <a:solidFill>
                  <a:srgbClr val="FFFFFF"/>
                </a:solidFill>
                <a:latin typeface="Inter" pitchFamily="34" charset="0"/>
                <a:ea typeface="Inter" pitchFamily="34" charset="-122"/>
                <a:cs typeface="Inter" pitchFamily="34" charset="-120"/>
              </a:rPr>
              <a:t> </a:t>
            </a:r>
            <a:r>
              <a:rPr lang="en-US" sz="1152" kern="0" spc="-23" noProof="0" err="1">
                <a:solidFill>
                  <a:srgbClr val="FFFFFF"/>
                </a:solidFill>
                <a:latin typeface="Inter" pitchFamily="34" charset="0"/>
                <a:ea typeface="Inter" pitchFamily="34" charset="-122"/>
                <a:cs typeface="Inter" pitchFamily="34" charset="-120"/>
              </a:rPr>
              <a:t>sont</a:t>
            </a:r>
            <a:r>
              <a:rPr lang="en-US" sz="1152" kern="0" spc="-23" noProof="0">
                <a:solidFill>
                  <a:srgbClr val="FFFFFF"/>
                </a:solidFill>
                <a:latin typeface="Inter" pitchFamily="34" charset="0"/>
                <a:ea typeface="Inter" pitchFamily="34" charset="-122"/>
                <a:cs typeface="Inter" pitchFamily="34" charset="-120"/>
              </a:rPr>
              <a:t> </a:t>
            </a:r>
            <a:r>
              <a:rPr lang="en-US" sz="1152" kern="0" spc="-23" noProof="0" err="1">
                <a:solidFill>
                  <a:srgbClr val="FFFFFF"/>
                </a:solidFill>
                <a:latin typeface="Inter" pitchFamily="34" charset="0"/>
                <a:ea typeface="Inter" pitchFamily="34" charset="-122"/>
                <a:cs typeface="Inter" pitchFamily="34" charset="-120"/>
              </a:rPr>
              <a:t>disponibles</a:t>
            </a:r>
            <a:r>
              <a:rPr lang="en-US" sz="1152" kern="0" spc="-23" noProof="0">
                <a:solidFill>
                  <a:srgbClr val="FFFFFF"/>
                </a:solidFill>
                <a:latin typeface="Inter" pitchFamily="34" charset="0"/>
                <a:ea typeface="Inter" pitchFamily="34" charset="-122"/>
                <a:cs typeface="Inter" pitchFamily="34" charset="-120"/>
              </a:rPr>
              <a:t> sur GitHub (https://fastr-analytics.github.io/fastr-resource-hub/).</a:t>
            </a:r>
            <a:endParaRPr lang="en-US" sz="1152" noProof="0"/>
          </a:p>
        </p:txBody>
      </p:sp>
      <p:sp>
        <p:nvSpPr>
          <p:cNvPr id="11" name="Rectangle 10">
            <a:extLst>
              <a:ext uri="{FF2B5EF4-FFF2-40B4-BE49-F238E27FC236}">
                <a16:creationId xmlns:a16="http://schemas.microsoft.com/office/drawing/2014/main" id="{8CFD983B-8902-CF44-C408-B03FAC756FDF}"/>
              </a:ext>
            </a:extLst>
          </p:cNvPr>
          <p:cNvSpPr/>
          <p:nvPr/>
        </p:nvSpPr>
        <p:spPr>
          <a:xfrm>
            <a:off x="0" y="6505575"/>
            <a:ext cx="12192000" cy="352425"/>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16" name="Group 15">
            <a:extLst>
              <a:ext uri="{FF2B5EF4-FFF2-40B4-BE49-F238E27FC236}">
                <a16:creationId xmlns:a16="http://schemas.microsoft.com/office/drawing/2014/main" id="{3E0468E3-F0E0-9696-9DF6-EFF5F150D5BE}"/>
              </a:ext>
            </a:extLst>
          </p:cNvPr>
          <p:cNvGrpSpPr/>
          <p:nvPr/>
        </p:nvGrpSpPr>
        <p:grpSpPr>
          <a:xfrm>
            <a:off x="285493" y="961726"/>
            <a:ext cx="11621015" cy="5235917"/>
            <a:chOff x="285493" y="1085481"/>
            <a:chExt cx="11621015" cy="5012007"/>
          </a:xfrm>
        </p:grpSpPr>
        <p:sp>
          <p:nvSpPr>
            <p:cNvPr id="14" name="Rectangle 13">
              <a:extLst>
                <a:ext uri="{FF2B5EF4-FFF2-40B4-BE49-F238E27FC236}">
                  <a16:creationId xmlns:a16="http://schemas.microsoft.com/office/drawing/2014/main" id="{7BC7FC4A-F02E-00F4-FCBE-BF6AED314B95}"/>
                </a:ext>
              </a:extLst>
            </p:cNvPr>
            <p:cNvSpPr/>
            <p:nvPr/>
          </p:nvSpPr>
          <p:spPr>
            <a:xfrm>
              <a:off x="285493" y="1085481"/>
              <a:ext cx="11621015" cy="4989189"/>
            </a:xfrm>
            <a:prstGeom prst="rect">
              <a:avLst/>
            </a:prstGeom>
            <a:solidFill>
              <a:srgbClr val="F2F2F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5" name="Text Placeholder 2">
              <a:extLst>
                <a:ext uri="{FF2B5EF4-FFF2-40B4-BE49-F238E27FC236}">
                  <a16:creationId xmlns:a16="http://schemas.microsoft.com/office/drawing/2014/main" id="{9731515C-FFA7-05C5-78C7-AFCC691C753A}"/>
                </a:ext>
              </a:extLst>
            </p:cNvPr>
            <p:cNvSpPr txBox="1">
              <a:spLocks/>
            </p:cNvSpPr>
            <p:nvPr/>
          </p:nvSpPr>
          <p:spPr>
            <a:xfrm>
              <a:off x="370547" y="1215010"/>
              <a:ext cx="11440453" cy="4882478"/>
            </a:xfrm>
            <a:prstGeom prst="rect">
              <a:avLst/>
            </a:prstGeom>
          </p:spPr>
          <p:txBody>
            <a:bodyPr vert="horz" lIns="0" tIns="0" rIns="0" bIns="0" numCol="1" spcCol="180000" rtlCol="0" anchor="t">
              <a:noAutofit/>
            </a:bodyPr>
            <a:lstStyle>
              <a:lvl1pPr marL="0" indent="0" algn="l" defTabSz="914400" rtl="0" eaLnBrk="1" latinLnBrk="0" hangingPunct="1">
                <a:lnSpc>
                  <a:spcPct val="110000"/>
                </a:lnSpc>
                <a:spcBef>
                  <a:spcPts val="0"/>
                </a:spcBef>
                <a:spcAft>
                  <a:spcPts val="0"/>
                </a:spcAft>
                <a:buClr>
                  <a:schemeClr val="bg2"/>
                </a:buClr>
                <a:buFont typeface="Arial" panose="020B0604020202020204" pitchFamily="34" charset="0"/>
                <a:buNone/>
                <a:defRPr sz="2000" b="1" kern="1200">
                  <a:solidFill>
                    <a:schemeClr val="tx2">
                      <a:lumMod val="50000"/>
                    </a:schemeClr>
                  </a:solidFill>
                  <a:latin typeface="Arial" panose="020B0604020202020204" pitchFamily="34" charset="0"/>
                  <a:ea typeface="+mn-ea"/>
                  <a:cs typeface="Arial" panose="020B0604020202020204" pitchFamily="34" charset="0"/>
                </a:defRPr>
              </a:lvl1pPr>
              <a:lvl2pPr marL="3444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800" kern="1200">
                  <a:solidFill>
                    <a:schemeClr val="tx2">
                      <a:lumMod val="50000"/>
                    </a:schemeClr>
                  </a:solidFill>
                  <a:latin typeface="Arial" panose="020B0604020202020204" pitchFamily="34" charset="0"/>
                  <a:ea typeface="+mn-ea"/>
                  <a:cs typeface="Arial" panose="020B0604020202020204" pitchFamily="34" charset="0"/>
                </a:defRPr>
              </a:lvl2pPr>
              <a:lvl3pPr marL="801688" indent="-231775" algn="l" defTabSz="914400" rtl="0" eaLnBrk="1" latinLnBrk="0" hangingPunct="1">
                <a:lnSpc>
                  <a:spcPct val="110000"/>
                </a:lnSpc>
                <a:spcBef>
                  <a:spcPts val="0"/>
                </a:spcBef>
                <a:spcAft>
                  <a:spcPts val="6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10000"/>
                </a:lnSpc>
                <a:spcBef>
                  <a:spcPts val="0"/>
                </a:spcBef>
                <a:spcAft>
                  <a:spcPts val="1200"/>
                </a:spcAft>
                <a:buClr>
                  <a:schemeClr val="bg2"/>
                </a:buClr>
                <a:buFont typeface="Arial" panose="020B0604020202020204" pitchFamily="34" charset="0"/>
                <a:buChar char="•"/>
                <a:defRPr sz="1600" kern="1200">
                  <a:solidFill>
                    <a:schemeClr val="tx2">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buClr>
                  <a:srgbClr val="49B1AC"/>
                </a:buClr>
                <a:buFont typeface="Arial" panose="020B0604020202020204" pitchFamily="34" charset="0"/>
                <a:buChar char="•"/>
              </a:pPr>
              <a:r>
                <a:rPr lang="en-US" sz="1300">
                  <a:latin typeface="Poppins" panose="00000500000000000000" pitchFamily="2" charset="0"/>
                  <a:cs typeface="Poppins" panose="00000500000000000000" pitchFamily="2" charset="0"/>
                </a:rPr>
                <a:t>The first round of the survey highlighted important service readiness gaps in PHC facilities in Sierra Leone. </a:t>
              </a:r>
              <a:r>
                <a:rPr lang="en-US" sz="1300" b="0">
                  <a:latin typeface="Poppins" panose="00000500000000000000" pitchFamily="2" charset="0"/>
                  <a:cs typeface="Poppins" panose="00000500000000000000" pitchFamily="2" charset="0"/>
                </a:rPr>
                <a:t>A large majority of facilities reported recent unusual or increased service delivery challenges, most commonly related to </a:t>
              </a:r>
              <a:r>
                <a:rPr lang="en-US" sz="1300">
                  <a:latin typeface="Poppins" panose="00000500000000000000" pitchFamily="2" charset="0"/>
                  <a:cs typeface="Poppins" panose="00000500000000000000" pitchFamily="2" charset="0"/>
                </a:rPr>
                <a:t>infrastructure, financing, and patient transport</a:t>
              </a:r>
              <a:r>
                <a:rPr lang="en-US" sz="1300" b="0">
                  <a:latin typeface="Poppins" panose="00000500000000000000" pitchFamily="2" charset="0"/>
                  <a:cs typeface="Poppins" panose="00000500000000000000" pitchFamily="2" charset="0"/>
                </a:rPr>
                <a:t>. These challenges are reflected in </a:t>
              </a:r>
              <a:r>
                <a:rPr lang="en-US" sz="1300">
                  <a:latin typeface="Poppins" panose="00000500000000000000" pitchFamily="2" charset="0"/>
                  <a:cs typeface="Poppins" panose="00000500000000000000" pitchFamily="2" charset="0"/>
                </a:rPr>
                <a:t>major deficits in basic utilities</a:t>
              </a:r>
              <a:r>
                <a:rPr lang="en-US" sz="1300" b="0">
                  <a:latin typeface="Poppins" panose="00000500000000000000" pitchFamily="2" charset="0"/>
                  <a:cs typeface="Poppins" panose="00000500000000000000" pitchFamily="2" charset="0"/>
                </a:rPr>
                <a:t>: only </a:t>
              </a:r>
              <a:r>
                <a:rPr lang="en-US" sz="1300">
                  <a:latin typeface="Poppins" panose="00000500000000000000" pitchFamily="2" charset="0"/>
                  <a:cs typeface="Poppins" panose="00000500000000000000" pitchFamily="2" charset="0"/>
                </a:rPr>
                <a:t>65% of facilities reported having access to at least one source of electricity and 52% reported having a water source</a:t>
              </a:r>
              <a:r>
                <a:rPr lang="en-US" sz="1300" b="0">
                  <a:latin typeface="Poppins" panose="00000500000000000000" pitchFamily="2" charset="0"/>
                  <a:cs typeface="Poppins" panose="00000500000000000000" pitchFamily="2" charset="0"/>
                </a:rPr>
                <a:t>.</a:t>
              </a:r>
            </a:p>
            <a:p>
              <a:pPr marL="285750" indent="-285750">
                <a:lnSpc>
                  <a:spcPct val="100000"/>
                </a:lnSpc>
                <a:buClr>
                  <a:srgbClr val="49B1AC"/>
                </a:buClr>
                <a:buFont typeface="Arial" panose="020B0604020202020204" pitchFamily="34" charset="0"/>
                <a:buChar char="•"/>
              </a:pPr>
              <a:endParaRPr lang="en-US" sz="1300">
                <a:latin typeface="Poppins" panose="00000500000000000000" pitchFamily="2" charset="0"/>
                <a:cs typeface="Poppins" panose="00000500000000000000" pitchFamily="2" charset="0"/>
              </a:endParaRPr>
            </a:p>
            <a:p>
              <a:pPr marL="285750" indent="-285750">
                <a:lnSpc>
                  <a:spcPct val="100000"/>
                </a:lnSpc>
                <a:buClr>
                  <a:srgbClr val="49B1AC"/>
                </a:buClr>
                <a:buFont typeface="Arial" panose="020B0604020202020204" pitchFamily="34" charset="0"/>
                <a:buChar char="•"/>
              </a:pPr>
              <a:r>
                <a:rPr lang="en-US" sz="1300">
                  <a:latin typeface="Poppins" panose="00000500000000000000" pitchFamily="2" charset="0"/>
                  <a:cs typeface="Poppins" panose="00000500000000000000" pitchFamily="2" charset="0"/>
                </a:rPr>
                <a:t>Overall service availability was relatively high. Basic maternal, newborn, and child health services were widely available</a:t>
              </a:r>
              <a:r>
                <a:rPr lang="en-US" sz="1300" b="0">
                  <a:latin typeface="Poppins" panose="00000500000000000000" pitchFamily="2" charset="0"/>
                  <a:cs typeface="Poppins" panose="00000500000000000000" pitchFamily="2" charset="0"/>
                </a:rPr>
                <a:t>, including near-universal provision of ANC, PNC, newborn care, immunization, IMCI, IYCF, and delivery services – with most delivery facilities reporting operating 24/7. However, gaps remain in </a:t>
              </a:r>
              <a:r>
                <a:rPr lang="en-US" sz="1300">
                  <a:latin typeface="Poppins" panose="00000500000000000000" pitchFamily="2" charset="0"/>
                  <a:cs typeface="Poppins" panose="00000500000000000000" pitchFamily="2" charset="0"/>
                </a:rPr>
                <a:t>nutrition and reproductive services</a:t>
              </a:r>
              <a:r>
                <a:rPr lang="en-US" sz="1300" b="0">
                  <a:latin typeface="Poppins" panose="00000500000000000000" pitchFamily="2" charset="0"/>
                  <a:cs typeface="Poppins" panose="00000500000000000000" pitchFamily="2" charset="0"/>
                </a:rPr>
                <a:t>: only about two-thirds of facilities treated children with SAM or MAM, just 15% of CHCs offered cervical cancer screening, and 42% of CHCs provided basic surgical services. </a:t>
              </a:r>
            </a:p>
            <a:p>
              <a:pPr marL="285750" indent="-285750">
                <a:lnSpc>
                  <a:spcPct val="100000"/>
                </a:lnSpc>
                <a:buClr>
                  <a:srgbClr val="49B1AC"/>
                </a:buClr>
                <a:buFont typeface="Arial" panose="020B0604020202020204" pitchFamily="34" charset="0"/>
                <a:buChar char="•"/>
              </a:pPr>
              <a:endParaRPr lang="en-US" sz="1300">
                <a:latin typeface="Poppins" panose="00000500000000000000" pitchFamily="2" charset="0"/>
                <a:cs typeface="Poppins" panose="00000500000000000000" pitchFamily="2" charset="0"/>
              </a:endParaRPr>
            </a:p>
            <a:p>
              <a:pPr marL="285750" indent="-285750">
                <a:lnSpc>
                  <a:spcPct val="100000"/>
                </a:lnSpc>
                <a:buClr>
                  <a:srgbClr val="49B1AC"/>
                </a:buClr>
                <a:buFont typeface="Arial" panose="020B0604020202020204" pitchFamily="34" charset="0"/>
                <a:buChar char="•"/>
              </a:pPr>
              <a:r>
                <a:rPr lang="en-US" sz="1300" b="0">
                  <a:latin typeface="Poppins" panose="00000500000000000000" pitchFamily="2" charset="0"/>
                  <a:cs typeface="Poppins" panose="00000500000000000000" pitchFamily="2" charset="0"/>
                </a:rPr>
                <a:t>Availability of </a:t>
              </a:r>
              <a:r>
                <a:rPr lang="en-US" sz="1300">
                  <a:latin typeface="Poppins" panose="00000500000000000000" pitchFamily="2" charset="0"/>
                  <a:cs typeface="Poppins" panose="00000500000000000000" pitchFamily="2" charset="0"/>
                </a:rPr>
                <a:t>medical supplies and equipment was moderate: vaccines and basic equipment were generally well stocked, while tracer medicines, PPE, and especially diagnostics—particularly in CHCs, CHPs, and MCHPs—showed significant gaps. </a:t>
              </a:r>
              <a:r>
                <a:rPr lang="en-US" sz="1300" b="0">
                  <a:latin typeface="Poppins" panose="00000500000000000000" pitchFamily="2" charset="0"/>
                  <a:cs typeface="Poppins" panose="00000500000000000000" pitchFamily="2" charset="0"/>
                </a:rPr>
                <a:t>Although most facilities reported offering basic maternal and newborn care, the availability of </a:t>
              </a:r>
              <a:r>
                <a:rPr lang="en-US" sz="1300">
                  <a:latin typeface="Poppins" panose="00000500000000000000" pitchFamily="2" charset="0"/>
                  <a:cs typeface="Poppins" panose="00000500000000000000" pitchFamily="2" charset="0"/>
                </a:rPr>
                <a:t>essential tests during ANC was limited: </a:t>
              </a:r>
              <a:r>
                <a:rPr lang="en-US" sz="1300" b="0">
                  <a:latin typeface="Poppins" panose="00000500000000000000" pitchFamily="2" charset="0"/>
                  <a:cs typeface="Poppins" panose="00000500000000000000" pitchFamily="2" charset="0"/>
                </a:rPr>
                <a:t>only 18% had urine dipstick tests for glucose, protein, or ketones (critical for screening preeclampsia and gestational diabetes), 26% had pregnancy tests, and only 10% conducted blood glucose testing. </a:t>
              </a:r>
              <a:r>
                <a:rPr lang="en-US" sz="1300">
                  <a:latin typeface="Poppins" panose="00000500000000000000" pitchFamily="2" charset="0"/>
                  <a:cs typeface="Poppins" panose="00000500000000000000" pitchFamily="2" charset="0"/>
                </a:rPr>
                <a:t>Key maternal and newborn health commodities were also insufficient: </a:t>
              </a:r>
              <a:r>
                <a:rPr lang="en-US" sz="1300" b="0">
                  <a:latin typeface="Poppins" panose="00000500000000000000" pitchFamily="2" charset="0"/>
                  <a:cs typeface="Poppins" panose="00000500000000000000" pitchFamily="2" charset="0"/>
                </a:rPr>
                <a:t>iron–folic acid was available in only two-thirds of facilities, first-line antihypertensives in 55%, and functional thermometers in 57%. </a:t>
              </a:r>
              <a:r>
                <a:rPr lang="en-US" sz="1300">
                  <a:latin typeface="Poppins" panose="00000500000000000000" pitchFamily="2" charset="0"/>
                  <a:cs typeface="Poppins" panose="00000500000000000000" pitchFamily="2" charset="0"/>
                </a:rPr>
                <a:t>Antibiotic availability was particularly concerning, with less than half of facilities having amoxicillin or gentamicin – pointing to important gaps in facilities’ readiness to provide basic maternal services.</a:t>
              </a:r>
              <a:endParaRPr lang="en-US" sz="1300" b="0">
                <a:latin typeface="Poppins" panose="00000500000000000000" pitchFamily="2" charset="0"/>
                <a:cs typeface="Poppins" panose="00000500000000000000" pitchFamily="2" charset="0"/>
              </a:endParaRPr>
            </a:p>
            <a:p>
              <a:pPr marL="285750" indent="-285750">
                <a:lnSpc>
                  <a:spcPct val="100000"/>
                </a:lnSpc>
                <a:buClr>
                  <a:srgbClr val="49B1AC"/>
                </a:buClr>
                <a:buFont typeface="Arial" panose="020B0604020202020204" pitchFamily="34" charset="0"/>
                <a:buChar char="•"/>
              </a:pPr>
              <a:endParaRPr lang="en-US" sz="1300" b="0">
                <a:latin typeface="Poppins" panose="00000500000000000000" pitchFamily="2" charset="0"/>
                <a:cs typeface="Poppins" panose="00000500000000000000" pitchFamily="2" charset="0"/>
              </a:endParaRPr>
            </a:p>
            <a:p>
              <a:pPr marL="285750" indent="-285750">
                <a:lnSpc>
                  <a:spcPct val="100000"/>
                </a:lnSpc>
                <a:buClr>
                  <a:srgbClr val="49B1AC"/>
                </a:buClr>
                <a:buFont typeface="Arial" panose="020B0604020202020204" pitchFamily="34" charset="0"/>
                <a:buChar char="•"/>
              </a:pPr>
              <a:r>
                <a:rPr lang="en-US" sz="1300">
                  <a:latin typeface="Poppins" panose="00000500000000000000" pitchFamily="2" charset="0"/>
                  <a:cs typeface="Poppins" panose="00000500000000000000" pitchFamily="2" charset="0"/>
                </a:rPr>
                <a:t>Gaps were also noted in contraceptive availability, despite all facilities reporting provision of family planning services. </a:t>
              </a:r>
              <a:r>
                <a:rPr lang="en-US" sz="1300" b="0">
                  <a:latin typeface="Poppins" panose="00000500000000000000" pitchFamily="2" charset="0"/>
                  <a:cs typeface="Poppins" panose="00000500000000000000" pitchFamily="2" charset="0"/>
                </a:rPr>
                <a:t>Male condoms and implants were widely available, but only 77% of facilities stocked emergency contraceptive pills, 60% female condoms, and 29% IUCDs, pointing to potential improvements in the comprehensiveness of FP care.</a:t>
              </a:r>
            </a:p>
            <a:p>
              <a:pPr marL="285750" indent="-285750">
                <a:lnSpc>
                  <a:spcPct val="100000"/>
                </a:lnSpc>
                <a:buClr>
                  <a:srgbClr val="49B1AC"/>
                </a:buClr>
                <a:buFont typeface="Arial" panose="020B0604020202020204" pitchFamily="34" charset="0"/>
                <a:buChar char="•"/>
              </a:pPr>
              <a:endParaRPr lang="en-US" sz="1300">
                <a:latin typeface="Poppins" panose="00000500000000000000" pitchFamily="2" charset="0"/>
                <a:cs typeface="Poppins" panose="00000500000000000000" pitchFamily="2" charset="0"/>
              </a:endParaRPr>
            </a:p>
            <a:p>
              <a:pPr marL="285750" indent="-285750">
                <a:lnSpc>
                  <a:spcPct val="100000"/>
                </a:lnSpc>
                <a:buClr>
                  <a:srgbClr val="49B1AC"/>
                </a:buClr>
                <a:buFont typeface="Arial" panose="020B0604020202020204" pitchFamily="34" charset="0"/>
                <a:buChar char="•"/>
              </a:pPr>
              <a:r>
                <a:rPr lang="en-US" sz="1300">
                  <a:latin typeface="Poppins" panose="00000500000000000000" pitchFamily="2" charset="0"/>
                  <a:cs typeface="Poppins" panose="00000500000000000000" pitchFamily="2" charset="0"/>
                </a:rPr>
                <a:t>Performance varied by facility type: district hospitals were generally better equipped and prepared, while lower-level facilities, particularly MCHPs, faced more pronounced challenges.</a:t>
              </a:r>
              <a:endParaRPr lang="en-US" sz="1300" b="0" noProof="0">
                <a:solidFill>
                  <a:schemeClr val="tx1"/>
                </a:solidFill>
                <a:latin typeface="Poppins" panose="00000500000000000000" pitchFamily="2" charset="0"/>
                <a:ea typeface="Inter"/>
                <a:cs typeface="Poppins" panose="00000500000000000000" pitchFamily="2" charset="0"/>
              </a:endParaRPr>
            </a:p>
          </p:txBody>
        </p:sp>
      </p:grpSp>
      <p:pic>
        <p:nvPicPr>
          <p:cNvPr id="5" name="Graphic 4">
            <a:extLst>
              <a:ext uri="{FF2B5EF4-FFF2-40B4-BE49-F238E27FC236}">
                <a16:creationId xmlns:a16="http://schemas.microsoft.com/office/drawing/2014/main" id="{01570D6A-D9B2-5204-2EB4-9B1C2D7062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grpSp>
        <p:nvGrpSpPr>
          <p:cNvPr id="7" name="Group 6">
            <a:extLst>
              <a:ext uri="{FF2B5EF4-FFF2-40B4-BE49-F238E27FC236}">
                <a16:creationId xmlns:a16="http://schemas.microsoft.com/office/drawing/2014/main" id="{77184333-A7FF-E794-99AA-4AD53ACAABB1}"/>
              </a:ext>
            </a:extLst>
          </p:cNvPr>
          <p:cNvGrpSpPr/>
          <p:nvPr/>
        </p:nvGrpSpPr>
        <p:grpSpPr>
          <a:xfrm>
            <a:off x="-4033" y="-14836"/>
            <a:ext cx="12196033" cy="741216"/>
            <a:chOff x="-4033" y="-14836"/>
            <a:chExt cx="12196033" cy="741216"/>
          </a:xfrm>
        </p:grpSpPr>
        <p:sp>
          <p:nvSpPr>
            <p:cNvPr id="8" name="Rectangle 7">
              <a:extLst>
                <a:ext uri="{FF2B5EF4-FFF2-40B4-BE49-F238E27FC236}">
                  <a16:creationId xmlns:a16="http://schemas.microsoft.com/office/drawing/2014/main" id="{EC9727E7-E70F-0B70-BA2A-5ADDB11EFEF4}"/>
                </a:ext>
              </a:extLst>
            </p:cNvPr>
            <p:cNvSpPr/>
            <p:nvPr/>
          </p:nvSpPr>
          <p:spPr>
            <a:xfrm>
              <a:off x="-4033" y="-14836"/>
              <a:ext cx="596219" cy="71066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B22EE8E5-3DCB-36A7-3453-627D64BC16CB}"/>
                </a:ext>
              </a:extLst>
            </p:cNvPr>
            <p:cNvSpPr txBox="1">
              <a:spLocks/>
            </p:cNvSpPr>
            <p:nvPr/>
          </p:nvSpPr>
          <p:spPr>
            <a:xfrm>
              <a:off x="592186" y="15712"/>
              <a:ext cx="11599814" cy="710668"/>
            </a:xfrm>
            <a:prstGeom prst="rect">
              <a:avLst/>
            </a:prstGeom>
            <a:solidFill>
              <a:srgbClr val="ECF4F3">
                <a:alpha val="80000"/>
              </a:srgb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288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95457"/>
                  </a:solidFill>
                  <a:effectLst/>
                  <a:uLnTx/>
                  <a:uFillTx/>
                  <a:latin typeface="Poppins Bold" panose="00000800000000000000" pitchFamily="2" charset="0"/>
                  <a:ea typeface="Inter" panose="02000503000000020004" pitchFamily="2" charset="0"/>
                  <a:cs typeface="Poppins Bold" panose="00000800000000000000" pitchFamily="2" charset="0"/>
                </a:rPr>
                <a:t>Summary of Findings</a:t>
              </a:r>
            </a:p>
          </p:txBody>
        </p:sp>
      </p:grpSp>
    </p:spTree>
    <p:extLst>
      <p:ext uri="{BB962C8B-B14F-4D97-AF65-F5344CB8AC3E}">
        <p14:creationId xmlns:p14="http://schemas.microsoft.com/office/powerpoint/2010/main" val="1661227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73B-72A6-1AB9-1E4B-677BE615DB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CFF636-500A-DDE7-23C1-57DB57415BE6}"/>
              </a:ext>
            </a:extLst>
          </p:cNvPr>
          <p:cNvSpPr/>
          <p:nvPr/>
        </p:nvSpPr>
        <p:spPr>
          <a:xfrm>
            <a:off x="0" y="0"/>
            <a:ext cx="12192000" cy="6858000"/>
          </a:xfrm>
          <a:prstGeom prst="rect">
            <a:avLst/>
          </a:prstGeom>
          <a:solidFill>
            <a:srgbClr val="FFFFFF"/>
          </a:solidFill>
          <a:ln w="12700">
            <a:solidFill>
              <a:srgbClr val="FFFFFF"/>
            </a:solidFill>
            <a:prstDash val="solid"/>
          </a:ln>
        </p:spPr>
        <p:txBody>
          <a:bodyPr/>
          <a:lstStyle/>
          <a:p>
            <a:endParaRPr lang="en-US" sz="576" noProof="0"/>
          </a:p>
        </p:txBody>
      </p:sp>
      <p:sp>
        <p:nvSpPr>
          <p:cNvPr id="3" name="Shape 1">
            <a:extLst>
              <a:ext uri="{FF2B5EF4-FFF2-40B4-BE49-F238E27FC236}">
                <a16:creationId xmlns:a16="http://schemas.microsoft.com/office/drawing/2014/main" id="{5E401B85-EEEA-16B2-8433-36B7D2299F11}"/>
              </a:ext>
            </a:extLst>
          </p:cNvPr>
          <p:cNvSpPr/>
          <p:nvPr/>
        </p:nvSpPr>
        <p:spPr>
          <a:xfrm>
            <a:off x="0" y="0"/>
            <a:ext cx="12192000" cy="670560"/>
          </a:xfrm>
          <a:prstGeom prst="rect">
            <a:avLst/>
          </a:prstGeom>
          <a:solidFill>
            <a:srgbClr val="FFFFFF"/>
          </a:solidFill>
          <a:ln w="12700">
            <a:solidFill>
              <a:srgbClr val="FFFFFF"/>
            </a:solidFill>
            <a:prstDash val="solid"/>
          </a:ln>
        </p:spPr>
        <p:txBody>
          <a:bodyPr/>
          <a:lstStyle/>
          <a:p>
            <a:endParaRPr lang="en-US" sz="576" noProof="0"/>
          </a:p>
        </p:txBody>
      </p:sp>
      <p:pic>
        <p:nvPicPr>
          <p:cNvPr id="5" name="Graphic 4">
            <a:extLst>
              <a:ext uri="{FF2B5EF4-FFF2-40B4-BE49-F238E27FC236}">
                <a16:creationId xmlns:a16="http://schemas.microsoft.com/office/drawing/2014/main" id="{AFB25D19-0F6F-5F31-DC50-4297D04650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grpSp>
        <p:nvGrpSpPr>
          <p:cNvPr id="7" name="Group 6">
            <a:extLst>
              <a:ext uri="{FF2B5EF4-FFF2-40B4-BE49-F238E27FC236}">
                <a16:creationId xmlns:a16="http://schemas.microsoft.com/office/drawing/2014/main" id="{F7490C0D-301D-BE3C-E6A6-B75A9CAA8EEA}"/>
              </a:ext>
            </a:extLst>
          </p:cNvPr>
          <p:cNvGrpSpPr/>
          <p:nvPr/>
        </p:nvGrpSpPr>
        <p:grpSpPr>
          <a:xfrm>
            <a:off x="-4033" y="-14836"/>
            <a:ext cx="12196033" cy="741216"/>
            <a:chOff x="-4033" y="-14836"/>
            <a:chExt cx="12196033" cy="741216"/>
          </a:xfrm>
        </p:grpSpPr>
        <p:sp>
          <p:nvSpPr>
            <p:cNvPr id="8" name="Rectangle 7">
              <a:extLst>
                <a:ext uri="{FF2B5EF4-FFF2-40B4-BE49-F238E27FC236}">
                  <a16:creationId xmlns:a16="http://schemas.microsoft.com/office/drawing/2014/main" id="{8FC56EFB-132A-1505-C982-31417EC4C2A8}"/>
                </a:ext>
              </a:extLst>
            </p:cNvPr>
            <p:cNvSpPr/>
            <p:nvPr/>
          </p:nvSpPr>
          <p:spPr>
            <a:xfrm>
              <a:off x="-4033" y="-14836"/>
              <a:ext cx="596219" cy="71066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0CA4C9E9-C7E7-2C19-1546-EB4C407B02A7}"/>
                </a:ext>
              </a:extLst>
            </p:cNvPr>
            <p:cNvSpPr txBox="1">
              <a:spLocks/>
            </p:cNvSpPr>
            <p:nvPr/>
          </p:nvSpPr>
          <p:spPr>
            <a:xfrm>
              <a:off x="592186" y="15712"/>
              <a:ext cx="11599814" cy="710668"/>
            </a:xfrm>
            <a:prstGeom prst="rect">
              <a:avLst/>
            </a:prstGeom>
            <a:solidFill>
              <a:srgbClr val="ECF4F3">
                <a:alpha val="80000"/>
              </a:srgb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8288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95457"/>
                  </a:solidFill>
                  <a:effectLst/>
                  <a:uLnTx/>
                  <a:uFillTx/>
                  <a:latin typeface="Poppins Bold" panose="00000800000000000000" pitchFamily="2" charset="0"/>
                  <a:ea typeface="Inter" panose="02000503000000020004" pitchFamily="2" charset="0"/>
                  <a:cs typeface="Poppins Bold" panose="00000800000000000000" pitchFamily="2" charset="0"/>
                </a:rPr>
                <a:t>Strengths and limitations of phone surveys</a:t>
              </a:r>
            </a:p>
          </p:txBody>
        </p:sp>
      </p:grpSp>
      <p:sp>
        <p:nvSpPr>
          <p:cNvPr id="4" name="TextBox 3">
            <a:extLst>
              <a:ext uri="{FF2B5EF4-FFF2-40B4-BE49-F238E27FC236}">
                <a16:creationId xmlns:a16="http://schemas.microsoft.com/office/drawing/2014/main" id="{8C201960-EE35-9C49-BB4C-F679AC27FCD2}"/>
              </a:ext>
            </a:extLst>
          </p:cNvPr>
          <p:cNvSpPr txBox="1"/>
          <p:nvPr/>
        </p:nvSpPr>
        <p:spPr>
          <a:xfrm>
            <a:off x="454945" y="978205"/>
            <a:ext cx="11294795" cy="830997"/>
          </a:xfrm>
          <a:prstGeom prst="rect">
            <a:avLst/>
          </a:prstGeom>
          <a:noFill/>
        </p:spPr>
        <p:txBody>
          <a:bodyPr wrap="square" rtlCol="0">
            <a:spAutoFit/>
          </a:bodyPr>
          <a:lstStyle/>
          <a:p>
            <a:r>
              <a:rPr lang="en-US" sz="1600" noProof="0">
                <a:solidFill>
                  <a:schemeClr val="bg1">
                    <a:lumMod val="50000"/>
                  </a:schemeClr>
                </a:solidFill>
                <a:latin typeface="Poppins" panose="00000500000000000000" pitchFamily="2" charset="0"/>
                <a:ea typeface="Roboto" panose="02000000000000000000" pitchFamily="2" charset="0"/>
                <a:cs typeface="Poppins" panose="00000500000000000000" pitchFamily="2" charset="0"/>
              </a:rPr>
              <a:t>Growing academic literature and GFF’s experience implementing phone surveys indicates the potential for rapid-cycle phone survey approaches to complement, but not replace, traditional, in-person surveys. Results should be interpreted as signals and with considerations to limitations of phone-based approaches.</a:t>
            </a:r>
          </a:p>
        </p:txBody>
      </p:sp>
      <p:grpSp>
        <p:nvGrpSpPr>
          <p:cNvPr id="29" name="Group 28">
            <a:extLst>
              <a:ext uri="{FF2B5EF4-FFF2-40B4-BE49-F238E27FC236}">
                <a16:creationId xmlns:a16="http://schemas.microsoft.com/office/drawing/2014/main" id="{7EE0725A-2D3E-967C-CB9E-57401BAF6A84}"/>
              </a:ext>
            </a:extLst>
          </p:cNvPr>
          <p:cNvGrpSpPr/>
          <p:nvPr/>
        </p:nvGrpSpPr>
        <p:grpSpPr>
          <a:xfrm>
            <a:off x="2993" y="6502590"/>
            <a:ext cx="12192000" cy="352425"/>
            <a:chOff x="152400" y="6657975"/>
            <a:chExt cx="12192000" cy="352425"/>
          </a:xfrm>
        </p:grpSpPr>
        <p:sp>
          <p:nvSpPr>
            <p:cNvPr id="25" name="Rectangle 24">
              <a:extLst>
                <a:ext uri="{FF2B5EF4-FFF2-40B4-BE49-F238E27FC236}">
                  <a16:creationId xmlns:a16="http://schemas.microsoft.com/office/drawing/2014/main" id="{1E1368A0-CB5C-9D76-22E4-6DEE5CE7E1A2}"/>
                </a:ext>
              </a:extLst>
            </p:cNvPr>
            <p:cNvSpPr/>
            <p:nvPr/>
          </p:nvSpPr>
          <p:spPr>
            <a:xfrm>
              <a:off x="152400" y="6657975"/>
              <a:ext cx="12192000" cy="352425"/>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26" name="Graphic 25">
              <a:extLst>
                <a:ext uri="{FF2B5EF4-FFF2-40B4-BE49-F238E27FC236}">
                  <a16:creationId xmlns:a16="http://schemas.microsoft.com/office/drawing/2014/main" id="{EFCD19D0-792C-0409-40C6-10846A5EDC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9262" y="6665390"/>
              <a:ext cx="1221298" cy="324259"/>
            </a:xfrm>
            <a:prstGeom prst="rect">
              <a:avLst/>
            </a:prstGeom>
          </p:spPr>
        </p:pic>
      </p:grpSp>
      <p:sp>
        <p:nvSpPr>
          <p:cNvPr id="16" name="TextBox 15">
            <a:extLst>
              <a:ext uri="{FF2B5EF4-FFF2-40B4-BE49-F238E27FC236}">
                <a16:creationId xmlns:a16="http://schemas.microsoft.com/office/drawing/2014/main" id="{C7EED1FD-556F-3802-CD37-7A4FD8C999E9}"/>
              </a:ext>
            </a:extLst>
          </p:cNvPr>
          <p:cNvSpPr txBox="1"/>
          <p:nvPr/>
        </p:nvSpPr>
        <p:spPr>
          <a:xfrm>
            <a:off x="294076" y="6547324"/>
            <a:ext cx="8798672" cy="261610"/>
          </a:xfrm>
          <a:prstGeom prst="rect">
            <a:avLst/>
          </a:prstGeom>
          <a:noFill/>
        </p:spPr>
        <p:txBody>
          <a:bodyPr wrap="square">
            <a:spAutoFit/>
          </a:bodyPr>
          <a:lstStyle/>
          <a:p>
            <a:r>
              <a:rPr lang="en-US" sz="1100" noProof="0">
                <a:solidFill>
                  <a:schemeClr val="bg1"/>
                </a:solidFill>
                <a:latin typeface="Poppins" panose="00000500000000000000" pitchFamily="2" charset="0"/>
                <a:cs typeface="Poppins" panose="00000500000000000000" pitchFamily="2" charset="0"/>
              </a:rPr>
              <a:t>For more information on the FASTR initiative: </a:t>
            </a:r>
            <a:r>
              <a:rPr lang="en-US" sz="1100" noProof="0">
                <a:solidFill>
                  <a:schemeClr val="bg1"/>
                </a:solidFill>
                <a:latin typeface="Poppins" panose="00000500000000000000" pitchFamily="2" charset="0"/>
                <a:cs typeface="Poppins" panose="00000500000000000000" pitchFamily="2" charset="0"/>
                <a:hlinkClick r:id="rId5">
                  <a:extLst>
                    <a:ext uri="{A12FA001-AC4F-418D-AE19-62706E023703}">
                      <ahyp:hlinkClr xmlns:ahyp="http://schemas.microsoft.com/office/drawing/2018/hyperlinkcolor" val="tx"/>
                    </a:ext>
                  </a:extLst>
                </a:hlinkClick>
              </a:rPr>
              <a:t>https://data.gffportal.org/key-theme/FASTR</a:t>
            </a:r>
            <a:endParaRPr lang="en-US" sz="1100" noProof="0">
              <a:solidFill>
                <a:schemeClr val="bg1"/>
              </a:solidFill>
              <a:latin typeface="Poppins" panose="00000500000000000000" pitchFamily="2" charset="0"/>
              <a:cs typeface="Poppins" panose="00000500000000000000" pitchFamily="2" charset="0"/>
            </a:endParaRPr>
          </a:p>
        </p:txBody>
      </p:sp>
      <p:grpSp>
        <p:nvGrpSpPr>
          <p:cNvPr id="38" name="Group 37">
            <a:extLst>
              <a:ext uri="{FF2B5EF4-FFF2-40B4-BE49-F238E27FC236}">
                <a16:creationId xmlns:a16="http://schemas.microsoft.com/office/drawing/2014/main" id="{2CF04345-0439-6B95-149F-FFF1D24AD371}"/>
              </a:ext>
            </a:extLst>
          </p:cNvPr>
          <p:cNvGrpSpPr/>
          <p:nvPr/>
        </p:nvGrpSpPr>
        <p:grpSpPr>
          <a:xfrm>
            <a:off x="631931" y="1954773"/>
            <a:ext cx="5303520" cy="4113948"/>
            <a:chOff x="631931" y="1954773"/>
            <a:chExt cx="5303520" cy="4113948"/>
          </a:xfrm>
        </p:grpSpPr>
        <p:grpSp>
          <p:nvGrpSpPr>
            <p:cNvPr id="6" name="Group 5">
              <a:extLst>
                <a:ext uri="{FF2B5EF4-FFF2-40B4-BE49-F238E27FC236}">
                  <a16:creationId xmlns:a16="http://schemas.microsoft.com/office/drawing/2014/main" id="{EC683137-D2BD-C2D0-3180-26CB26EA3BFD}"/>
                </a:ext>
              </a:extLst>
            </p:cNvPr>
            <p:cNvGrpSpPr/>
            <p:nvPr/>
          </p:nvGrpSpPr>
          <p:grpSpPr>
            <a:xfrm>
              <a:off x="631931" y="1954773"/>
              <a:ext cx="5303520" cy="4113948"/>
              <a:chOff x="454944" y="1929033"/>
              <a:chExt cx="5394961" cy="4113948"/>
            </a:xfrm>
          </p:grpSpPr>
          <p:sp>
            <p:nvSpPr>
              <p:cNvPr id="10" name="TextBox 9">
                <a:extLst>
                  <a:ext uri="{FF2B5EF4-FFF2-40B4-BE49-F238E27FC236}">
                    <a16:creationId xmlns:a16="http://schemas.microsoft.com/office/drawing/2014/main" id="{6AFC6E50-1141-3AD6-AE3A-9A8851ABC809}"/>
                  </a:ext>
                </a:extLst>
              </p:cNvPr>
              <p:cNvSpPr txBox="1"/>
              <p:nvPr/>
            </p:nvSpPr>
            <p:spPr>
              <a:xfrm>
                <a:off x="454945" y="1929034"/>
                <a:ext cx="5394960" cy="4113947"/>
              </a:xfrm>
              <a:prstGeom prst="rect">
                <a:avLst/>
              </a:prstGeom>
              <a:solidFill>
                <a:srgbClr val="F7F9F8"/>
              </a:solidFill>
              <a:ln>
                <a:solidFill>
                  <a:srgbClr val="BED5D3"/>
                </a:solidFill>
              </a:ln>
            </p:spPr>
            <p:txBody>
              <a:bodyPr wrap="square" rtlCol="0">
                <a:spAutoFit/>
              </a:bodyPr>
              <a:lstStyle/>
              <a:p>
                <a:endParaRPr lang="en-US" sz="1200" b="1" noProof="0">
                  <a:solidFill>
                    <a:srgbClr val="33CCCC"/>
                  </a:solidFill>
                  <a:latin typeface="Poppins" panose="00000500000000000000" pitchFamily="2" charset="0"/>
                  <a:ea typeface="Verdana" panose="020B0604030504040204" pitchFamily="34" charset="0"/>
                  <a:cs typeface="Poppins" panose="00000500000000000000" pitchFamily="2" charset="0"/>
                </a:endParaRPr>
              </a:p>
              <a:p>
                <a:endParaRPr lang="en-US" sz="1200" b="1" noProof="0">
                  <a:solidFill>
                    <a:srgbClr val="33CCCC"/>
                  </a:solidFill>
                  <a:latin typeface="Poppins" panose="00000500000000000000" pitchFamily="2" charset="0"/>
                  <a:ea typeface="Verdana" panose="020B0604030504040204" pitchFamily="34" charset="0"/>
                  <a:cs typeface="Poppins" panose="00000500000000000000" pitchFamily="2" charset="0"/>
                </a:endParaRPr>
              </a:p>
              <a:p>
                <a:br>
                  <a:rPr lang="en-US" sz="1200" b="1" noProof="0">
                    <a:solidFill>
                      <a:srgbClr val="33CCCC"/>
                    </a:solidFill>
                    <a:latin typeface="Poppins" panose="00000500000000000000" pitchFamily="2" charset="0"/>
                    <a:ea typeface="Verdana" panose="020B0604030504040204" pitchFamily="34" charset="0"/>
                    <a:cs typeface="Poppins" panose="00000500000000000000" pitchFamily="2" charset="0"/>
                  </a:rPr>
                </a:br>
                <a:endParaRPr lang="en-US" sz="1200" b="1" noProof="0">
                  <a:solidFill>
                    <a:srgbClr val="33CCCC"/>
                  </a:solidFill>
                  <a:latin typeface="Poppins" panose="00000500000000000000" pitchFamily="2" charset="0"/>
                  <a:ea typeface="Verdana" panose="020B0604030504040204" pitchFamily="34" charset="0"/>
                  <a:cs typeface="Poppins" panose="00000500000000000000" pitchFamily="2" charset="0"/>
                </a:endParaRP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Enables a cost-effective, continuous data collection platform</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Helpful for monitoring in rapidly changing contexts and to capture changes over time </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Flexibility in scheduling interviews may lead to higher participation rates</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Potential for reduced social desirability bias with sensitive topics which may enhance data accuracy</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Phone surveys allows for easier monitoring of data collection quality and enumerator behavior (e.g., calls can be recorded, with consent, for quality checks and training purposes)</a:t>
                </a:r>
              </a:p>
              <a:p>
                <a:pPr marL="285750" indent="-285750">
                  <a:spcAft>
                    <a:spcPts val="800"/>
                  </a:spcAft>
                  <a:buFont typeface="Arial" panose="020B0604020202020204" pitchFamily="34" charset="0"/>
                  <a:buChar char="•"/>
                </a:pPr>
                <a:endParaRPr lang="en-US" sz="1200" noProof="0">
                  <a:latin typeface="Poppins" panose="00000500000000000000" pitchFamily="2" charset="0"/>
                  <a:ea typeface="Verdana" panose="020B0604030504040204" pitchFamily="34" charset="0"/>
                  <a:cs typeface="Poppins" panose="00000500000000000000" pitchFamily="2" charset="0"/>
                </a:endParaRPr>
              </a:p>
            </p:txBody>
          </p:sp>
          <p:sp>
            <p:nvSpPr>
              <p:cNvPr id="11" name="Rectangle 10">
                <a:extLst>
                  <a:ext uri="{FF2B5EF4-FFF2-40B4-BE49-F238E27FC236}">
                    <a16:creationId xmlns:a16="http://schemas.microsoft.com/office/drawing/2014/main" id="{4B4248B7-821C-CA35-5060-4A50DF7D8AD7}"/>
                  </a:ext>
                </a:extLst>
              </p:cNvPr>
              <p:cNvSpPr/>
              <p:nvPr/>
            </p:nvSpPr>
            <p:spPr>
              <a:xfrm>
                <a:off x="454944" y="1929033"/>
                <a:ext cx="5391842" cy="519886"/>
              </a:xfrm>
              <a:prstGeom prst="rect">
                <a:avLst/>
              </a:prstGeom>
              <a:solidFill>
                <a:srgbClr val="1899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panose="00000500000000000000" pitchFamily="2" charset="0"/>
                    <a:ea typeface="Verdana" panose="020B0604030504040204" pitchFamily="34" charset="0"/>
                    <a:cs typeface="Poppins" panose="00000500000000000000" pitchFamily="2" charset="0"/>
                  </a:rPr>
                  <a:t>Strengths</a:t>
                </a:r>
              </a:p>
            </p:txBody>
          </p:sp>
        </p:grpSp>
        <p:sp>
          <p:nvSpPr>
            <p:cNvPr id="37" name="Rectangle 36">
              <a:extLst>
                <a:ext uri="{FF2B5EF4-FFF2-40B4-BE49-F238E27FC236}">
                  <a16:creationId xmlns:a16="http://schemas.microsoft.com/office/drawing/2014/main" id="{16E2D430-2655-539C-3AB5-D2D25E7A0339}"/>
                </a:ext>
              </a:extLst>
            </p:cNvPr>
            <p:cNvSpPr/>
            <p:nvPr/>
          </p:nvSpPr>
          <p:spPr>
            <a:xfrm>
              <a:off x="637907" y="2474659"/>
              <a:ext cx="5285232" cy="45719"/>
            </a:xfrm>
            <a:prstGeom prst="rect">
              <a:avLst/>
            </a:prstGeom>
            <a:solidFill>
              <a:srgbClr val="09545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4EC28D86-B966-E0D3-A69C-20A2191B64D1}"/>
              </a:ext>
            </a:extLst>
          </p:cNvPr>
          <p:cNvGrpSpPr/>
          <p:nvPr/>
        </p:nvGrpSpPr>
        <p:grpSpPr>
          <a:xfrm>
            <a:off x="6246845" y="1954773"/>
            <a:ext cx="5303520" cy="4113947"/>
            <a:chOff x="6246845" y="1954773"/>
            <a:chExt cx="5303520" cy="4113947"/>
          </a:xfrm>
        </p:grpSpPr>
        <p:grpSp>
          <p:nvGrpSpPr>
            <p:cNvPr id="12" name="Group 11">
              <a:extLst>
                <a:ext uri="{FF2B5EF4-FFF2-40B4-BE49-F238E27FC236}">
                  <a16:creationId xmlns:a16="http://schemas.microsoft.com/office/drawing/2014/main" id="{9B83F950-79EF-43F8-0B80-5A68FB4C2308}"/>
                </a:ext>
              </a:extLst>
            </p:cNvPr>
            <p:cNvGrpSpPr/>
            <p:nvPr/>
          </p:nvGrpSpPr>
          <p:grpSpPr>
            <a:xfrm>
              <a:off x="6246845" y="1954773"/>
              <a:ext cx="5303520" cy="4113947"/>
              <a:chOff x="6165748" y="1929033"/>
              <a:chExt cx="5400754" cy="3749569"/>
            </a:xfrm>
          </p:grpSpPr>
          <p:sp>
            <p:nvSpPr>
              <p:cNvPr id="14" name="TextBox 13">
                <a:extLst>
                  <a:ext uri="{FF2B5EF4-FFF2-40B4-BE49-F238E27FC236}">
                    <a16:creationId xmlns:a16="http://schemas.microsoft.com/office/drawing/2014/main" id="{D2F30FFE-5AA6-549A-8B5C-6B148657F081}"/>
                  </a:ext>
                </a:extLst>
              </p:cNvPr>
              <p:cNvSpPr txBox="1"/>
              <p:nvPr/>
            </p:nvSpPr>
            <p:spPr>
              <a:xfrm>
                <a:off x="6165748" y="1929033"/>
                <a:ext cx="5391843" cy="3749569"/>
              </a:xfrm>
              <a:prstGeom prst="rect">
                <a:avLst/>
              </a:prstGeom>
              <a:solidFill>
                <a:srgbClr val="F7F9F8"/>
              </a:solidFill>
              <a:ln>
                <a:solidFill>
                  <a:srgbClr val="BED5D3"/>
                </a:solidFill>
              </a:ln>
            </p:spPr>
            <p:txBody>
              <a:bodyPr wrap="square" rtlCol="0">
                <a:noAutofit/>
              </a:bodyPr>
              <a:lstStyle/>
              <a:p>
                <a:pPr marL="285750" indent="-285750">
                  <a:spcAft>
                    <a:spcPts val="800"/>
                  </a:spcAft>
                  <a:buFont typeface="Arial" panose="020B0604020202020204" pitchFamily="34" charset="0"/>
                  <a:buChar char="•"/>
                </a:pPr>
                <a:endParaRPr lang="en-US" sz="1200" noProof="0">
                  <a:latin typeface="Poppins" panose="00000500000000000000" pitchFamily="2" charset="0"/>
                  <a:ea typeface="Verdana" panose="020B0604030504040204" pitchFamily="34" charset="0"/>
                  <a:cs typeface="Poppins" panose="00000500000000000000" pitchFamily="2" charset="0"/>
                </a:endParaRPr>
              </a:p>
              <a:p>
                <a:pPr>
                  <a:spcAft>
                    <a:spcPts val="800"/>
                  </a:spcAft>
                </a:pPr>
                <a:br>
                  <a:rPr lang="en-US" sz="1200" noProof="0">
                    <a:latin typeface="Poppins" panose="00000500000000000000" pitchFamily="2" charset="0"/>
                    <a:ea typeface="Verdana" panose="020B0604030504040204" pitchFamily="34" charset="0"/>
                    <a:cs typeface="Poppins" panose="00000500000000000000" pitchFamily="2" charset="0"/>
                  </a:rPr>
                </a:br>
                <a:endParaRPr lang="en-US" sz="1200" noProof="0">
                  <a:latin typeface="Poppins" panose="00000500000000000000" pitchFamily="2" charset="0"/>
                  <a:ea typeface="Verdana" panose="020B0604030504040204" pitchFamily="34" charset="0"/>
                  <a:cs typeface="Poppins" panose="00000500000000000000" pitchFamily="2" charset="0"/>
                </a:endParaRP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Potential under-representation of facilities in areas with low phone connectivity</a:t>
                </a:r>
              </a:p>
              <a:p>
                <a:pPr marL="285750" indent="-285750">
                  <a:spcAft>
                    <a:spcPts val="800"/>
                  </a:spcAft>
                  <a:buFont typeface="Arial" panose="020B0604020202020204" pitchFamily="34" charset="0"/>
                  <a:buChar char="•"/>
                </a:pPr>
                <a:r>
                  <a:rPr lang="en-US" sz="1400" b="0" i="0" noProof="0">
                    <a:solidFill>
                      <a:srgbClr val="0D0D0D"/>
                    </a:solidFill>
                    <a:effectLst/>
                    <a:latin typeface="Poppins" panose="00000500000000000000" pitchFamily="2" charset="0"/>
                    <a:ea typeface="Verdana" panose="020B0604030504040204" pitchFamily="34" charset="0"/>
                    <a:cs typeface="Poppins" panose="00000500000000000000" pitchFamily="2" charset="0"/>
                  </a:rPr>
                  <a:t>Shorter surveys are employed to mitigate respondent fatigue</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Simplified language usage may be necessary</a:t>
                </a:r>
              </a:p>
              <a:p>
                <a:pPr marL="285750" indent="-285750">
                  <a:spcAft>
                    <a:spcPts val="800"/>
                  </a:spcAft>
                  <a:buFont typeface="Arial" panose="020B0604020202020204" pitchFamily="34" charset="0"/>
                  <a:buChar char="•"/>
                </a:pPr>
                <a:r>
                  <a:rPr lang="en-US" sz="1400" b="0" i="0" noProof="0">
                    <a:solidFill>
                      <a:srgbClr val="0D0D0D"/>
                    </a:solidFill>
                    <a:effectLst/>
                    <a:latin typeface="Poppins" panose="00000500000000000000" pitchFamily="2" charset="0"/>
                    <a:ea typeface="Verdana" panose="020B0604030504040204" pitchFamily="34" charset="0"/>
                    <a:cs typeface="Poppins" panose="00000500000000000000" pitchFamily="2" charset="0"/>
                  </a:rPr>
                  <a:t>Limitations exist in measuring the quality of services provided solely through phone surveys</a:t>
                </a:r>
              </a:p>
              <a:p>
                <a:pPr marL="285750" indent="-285750">
                  <a:spcAft>
                    <a:spcPts val="800"/>
                  </a:spcAft>
                  <a:buFont typeface="Arial" panose="020B0604020202020204" pitchFamily="34" charset="0"/>
                  <a:buChar char="•"/>
                </a:pPr>
                <a:r>
                  <a:rPr lang="en-US" sz="1400" noProof="0">
                    <a:latin typeface="Poppins" panose="00000500000000000000" pitchFamily="2" charset="0"/>
                    <a:ea typeface="Verdana" panose="020B0604030504040204" pitchFamily="34" charset="0"/>
                    <a:cs typeface="Poppins" panose="00000500000000000000" pitchFamily="2" charset="0"/>
                  </a:rPr>
                  <a:t>In-ability of in-person verification; all results are self-reported by the respondent</a:t>
                </a:r>
              </a:p>
              <a:p>
                <a:pPr marL="285750" indent="-285750">
                  <a:spcAft>
                    <a:spcPts val="800"/>
                  </a:spcAft>
                  <a:buFont typeface="Arial" panose="020B0604020202020204" pitchFamily="34" charset="0"/>
                  <a:buChar char="•"/>
                </a:pPr>
                <a:endParaRPr lang="en-US" sz="1400">
                  <a:latin typeface="Poppins" panose="00000500000000000000" pitchFamily="2" charset="0"/>
                  <a:ea typeface="Verdana" panose="020B0604030504040204" pitchFamily="34" charset="0"/>
                  <a:cs typeface="Poppins" panose="00000500000000000000" pitchFamily="2" charset="0"/>
                </a:endParaRPr>
              </a:p>
              <a:p>
                <a:pPr marL="285750" indent="-285750">
                  <a:spcAft>
                    <a:spcPts val="800"/>
                  </a:spcAft>
                  <a:buFont typeface="Arial" panose="020B0604020202020204" pitchFamily="34" charset="0"/>
                  <a:buChar char="•"/>
                </a:pPr>
                <a:endParaRPr lang="en-US" sz="1400" noProof="0">
                  <a:latin typeface="Poppins" panose="00000500000000000000" pitchFamily="2" charset="0"/>
                  <a:ea typeface="Verdana" panose="020B0604030504040204" pitchFamily="34" charset="0"/>
                  <a:cs typeface="Poppins" panose="00000500000000000000" pitchFamily="2" charset="0"/>
                </a:endParaRPr>
              </a:p>
              <a:p>
                <a:pPr marL="285750" indent="-285750">
                  <a:spcAft>
                    <a:spcPts val="800"/>
                  </a:spcAft>
                  <a:buFont typeface="Arial" panose="020B0604020202020204" pitchFamily="34" charset="0"/>
                  <a:buChar char="•"/>
                </a:pPr>
                <a:endParaRPr lang="en-US" sz="1400" noProof="0">
                  <a:latin typeface="Poppins" panose="00000500000000000000" pitchFamily="2" charset="0"/>
                  <a:ea typeface="Verdana" panose="020B0604030504040204" pitchFamily="34" charset="0"/>
                  <a:cs typeface="Poppins" panose="00000500000000000000" pitchFamily="2" charset="0"/>
                </a:endParaRPr>
              </a:p>
            </p:txBody>
          </p:sp>
          <p:sp>
            <p:nvSpPr>
              <p:cNvPr id="15" name="Rectangle 14">
                <a:extLst>
                  <a:ext uri="{FF2B5EF4-FFF2-40B4-BE49-F238E27FC236}">
                    <a16:creationId xmlns:a16="http://schemas.microsoft.com/office/drawing/2014/main" id="{3942C5F9-57FF-3BFA-2BA3-857824EEAF7A}"/>
                  </a:ext>
                </a:extLst>
              </p:cNvPr>
              <p:cNvSpPr/>
              <p:nvPr/>
            </p:nvSpPr>
            <p:spPr>
              <a:xfrm>
                <a:off x="6174660" y="1929033"/>
                <a:ext cx="5391842" cy="519886"/>
              </a:xfrm>
              <a:prstGeom prst="rect">
                <a:avLst/>
              </a:prstGeom>
              <a:solidFill>
                <a:srgbClr val="1899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panose="00000500000000000000" pitchFamily="2" charset="0"/>
                    <a:ea typeface="Verdana" panose="020B0604030504040204" pitchFamily="34" charset="0"/>
                    <a:cs typeface="Poppins" panose="00000500000000000000" pitchFamily="2" charset="0"/>
                  </a:rPr>
                  <a:t>Limitations</a:t>
                </a:r>
              </a:p>
            </p:txBody>
          </p:sp>
        </p:grpSp>
        <p:sp>
          <p:nvSpPr>
            <p:cNvPr id="39" name="Rectangle 38">
              <a:extLst>
                <a:ext uri="{FF2B5EF4-FFF2-40B4-BE49-F238E27FC236}">
                  <a16:creationId xmlns:a16="http://schemas.microsoft.com/office/drawing/2014/main" id="{3BB0C58D-49C7-EDF0-13DD-CE7F350C47D5}"/>
                </a:ext>
              </a:extLst>
            </p:cNvPr>
            <p:cNvSpPr/>
            <p:nvPr/>
          </p:nvSpPr>
          <p:spPr>
            <a:xfrm>
              <a:off x="6258384" y="2493354"/>
              <a:ext cx="5285232" cy="45719"/>
            </a:xfrm>
            <a:prstGeom prst="rect">
              <a:avLst/>
            </a:prstGeom>
            <a:solidFill>
              <a:srgbClr val="09545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8785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7ADD-7C7A-104B-3E55-28EF25099B35}"/>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3142A4D8-26D9-5124-1AD6-792E54A6F10D}"/>
              </a:ext>
            </a:extLst>
          </p:cNvPr>
          <p:cNvSpPr/>
          <p:nvPr/>
        </p:nvSpPr>
        <p:spPr>
          <a:xfrm>
            <a:off x="-4033" y="-30739"/>
            <a:ext cx="8837932" cy="6867988"/>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extBox 6">
            <a:extLst>
              <a:ext uri="{FF2B5EF4-FFF2-40B4-BE49-F238E27FC236}">
                <a16:creationId xmlns:a16="http://schemas.microsoft.com/office/drawing/2014/main" id="{4D9B6B89-F068-D74E-E273-D52BABDDEFB7}"/>
              </a:ext>
            </a:extLst>
          </p:cNvPr>
          <p:cNvSpPr txBox="1"/>
          <p:nvPr/>
        </p:nvSpPr>
        <p:spPr>
          <a:xfrm>
            <a:off x="1552074" y="2950733"/>
            <a:ext cx="4164914" cy="707886"/>
          </a:xfrm>
          <a:prstGeom prst="rect">
            <a:avLst/>
          </a:prstGeom>
          <a:noFill/>
        </p:spPr>
        <p:txBody>
          <a:bodyPr wrap="square" lIns="91440" tIns="45720" rIns="91440" bIns="45720" rtlCol="0" anchor="t">
            <a:spAutoFit/>
          </a:bodyPr>
          <a:lstStyle/>
          <a:p>
            <a:pPr algn="ctr"/>
            <a:r>
              <a:rPr lang="en-US" sz="4000" b="1">
                <a:solidFill>
                  <a:schemeClr val="bg1"/>
                </a:solidFill>
                <a:latin typeface="Poppins SemiBold" panose="00000700000000000000" pitchFamily="2" charset="0"/>
                <a:ea typeface="Inter" panose="02000503000000020004" pitchFamily="2" charset="0"/>
                <a:cs typeface="Poppins SemiBold" panose="00000700000000000000" pitchFamily="2" charset="0"/>
              </a:rPr>
              <a:t>3</a:t>
            </a:r>
            <a:r>
              <a:rPr lang="en-US" sz="4000" b="1" noProof="0">
                <a:solidFill>
                  <a:schemeClr val="bg1"/>
                </a:solidFill>
                <a:latin typeface="Poppins SemiBold" panose="00000700000000000000" pitchFamily="2" charset="0"/>
                <a:ea typeface="Inter" panose="02000503000000020004" pitchFamily="2" charset="0"/>
                <a:cs typeface="Poppins SemiBold" panose="00000700000000000000" pitchFamily="2" charset="0"/>
              </a:rPr>
              <a:t>. Annex</a:t>
            </a:r>
          </a:p>
        </p:txBody>
      </p:sp>
      <p:pic>
        <p:nvPicPr>
          <p:cNvPr id="8" name="Graphic 7">
            <a:extLst>
              <a:ext uri="{FF2B5EF4-FFF2-40B4-BE49-F238E27FC236}">
                <a16:creationId xmlns:a16="http://schemas.microsoft.com/office/drawing/2014/main" id="{2B9BEA96-A768-87FF-62B1-5215894FF3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1105" y="122616"/>
            <a:ext cx="1044989" cy="443513"/>
          </a:xfrm>
          <a:prstGeom prst="rect">
            <a:avLst/>
          </a:prstGeom>
        </p:spPr>
      </p:pic>
      <p:pic>
        <p:nvPicPr>
          <p:cNvPr id="9" name="Picture 8" descr="A group of white logos&#10;&#10;AI-generated content may be incorrect.">
            <a:extLst>
              <a:ext uri="{FF2B5EF4-FFF2-40B4-BE49-F238E27FC236}">
                <a16:creationId xmlns:a16="http://schemas.microsoft.com/office/drawing/2014/main" id="{A4513BD5-E0AE-3AA7-8755-8FE45CF6531B}"/>
              </a:ext>
            </a:extLst>
          </p:cNvPr>
          <p:cNvPicPr>
            <a:picLocks noChangeAspect="1"/>
          </p:cNvPicPr>
          <p:nvPr/>
        </p:nvPicPr>
        <p:blipFill>
          <a:blip r:embed="rId5">
            <a:extLst>
              <a:ext uri="{28A0092B-C50C-407E-A947-70E740481C1C}">
                <a14:useLocalDpi xmlns:a14="http://schemas.microsoft.com/office/drawing/2010/main" val="0"/>
              </a:ext>
            </a:extLst>
          </a:blip>
          <a:srcRect l="16446" t="38069" r="56052" b="44092"/>
          <a:stretch>
            <a:fillRect/>
          </a:stretch>
        </p:blipFill>
        <p:spPr>
          <a:xfrm>
            <a:off x="1386094" y="122616"/>
            <a:ext cx="1013926" cy="508220"/>
          </a:xfrm>
          <a:prstGeom prst="rect">
            <a:avLst/>
          </a:prstGeom>
        </p:spPr>
      </p:pic>
      <p:sp>
        <p:nvSpPr>
          <p:cNvPr id="16" name="Rectangle 15">
            <a:extLst>
              <a:ext uri="{FF2B5EF4-FFF2-40B4-BE49-F238E27FC236}">
                <a16:creationId xmlns:a16="http://schemas.microsoft.com/office/drawing/2014/main" id="{08AA7452-2946-8E51-BBEA-B554ACD754CD}"/>
              </a:ext>
            </a:extLst>
          </p:cNvPr>
          <p:cNvSpPr/>
          <p:nvPr/>
        </p:nvSpPr>
        <p:spPr>
          <a:xfrm>
            <a:off x="1072040" y="1251284"/>
            <a:ext cx="6434229" cy="5149515"/>
          </a:xfrm>
          <a:prstGeom prst="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686A65B3-FF9A-9F7E-0079-067BD4D6224B}"/>
              </a:ext>
            </a:extLst>
          </p:cNvPr>
          <p:cNvSpPr/>
          <p:nvPr/>
        </p:nvSpPr>
        <p:spPr>
          <a:xfrm>
            <a:off x="719219" y="2268895"/>
            <a:ext cx="688474" cy="3025000"/>
          </a:xfrm>
          <a:prstGeom prst="rect">
            <a:avLst/>
          </a:prstGeom>
          <a:solidFill>
            <a:srgbClr val="BED5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3" name="Picture 2">
            <a:extLst>
              <a:ext uri="{FF2B5EF4-FFF2-40B4-BE49-F238E27FC236}">
                <a16:creationId xmlns:a16="http://schemas.microsoft.com/office/drawing/2014/main" id="{B6CD6F12-D6AC-2E8E-8F0A-0C17979B36CD}"/>
              </a:ext>
            </a:extLst>
          </p:cNvPr>
          <p:cNvPicPr>
            <a:picLocks noChangeAspect="1"/>
          </p:cNvPicPr>
          <p:nvPr/>
        </p:nvPicPr>
        <p:blipFill>
          <a:blip r:embed="rId6">
            <a:extLst>
              <a:ext uri="{28A0092B-C50C-407E-A947-70E740481C1C}">
                <a14:useLocalDpi xmlns:a14="http://schemas.microsoft.com/office/drawing/2010/main" val="0"/>
              </a:ext>
            </a:extLst>
          </a:blip>
          <a:srcRect l="10126" r="28248"/>
          <a:stretch>
            <a:fillRect/>
          </a:stretch>
        </p:blipFill>
        <p:spPr>
          <a:xfrm>
            <a:off x="5843523" y="-30740"/>
            <a:ext cx="6375772" cy="6867988"/>
          </a:xfrm>
          <a:prstGeom prst="rect">
            <a:avLst/>
          </a:prstGeom>
        </p:spPr>
      </p:pic>
    </p:spTree>
    <p:extLst>
      <p:ext uri="{BB962C8B-B14F-4D97-AF65-F5344CB8AC3E}">
        <p14:creationId xmlns:p14="http://schemas.microsoft.com/office/powerpoint/2010/main" val="3315424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6B6E6-4481-9C1A-E9D6-F726E554CB1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824B075-D80B-A1A0-D92F-8AF66CA5A9A4}"/>
              </a:ext>
            </a:extLst>
          </p:cNvPr>
          <p:cNvSpPr/>
          <p:nvPr/>
        </p:nvSpPr>
        <p:spPr>
          <a:xfrm>
            <a:off x="-2271" y="0"/>
            <a:ext cx="12194271" cy="6857999"/>
          </a:xfrm>
          <a:prstGeom prst="rect">
            <a:avLst/>
          </a:prstGeom>
          <a:solidFill>
            <a:srgbClr val="09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10" name="TextBox 9">
            <a:extLst>
              <a:ext uri="{FF2B5EF4-FFF2-40B4-BE49-F238E27FC236}">
                <a16:creationId xmlns:a16="http://schemas.microsoft.com/office/drawing/2014/main" id="{53291541-5CF6-A9C0-E292-0B54D50A5623}"/>
              </a:ext>
            </a:extLst>
          </p:cNvPr>
          <p:cNvSpPr txBox="1"/>
          <p:nvPr/>
        </p:nvSpPr>
        <p:spPr>
          <a:xfrm>
            <a:off x="6535454" y="640391"/>
            <a:ext cx="5563905" cy="646331"/>
          </a:xfrm>
          <a:prstGeom prst="rect">
            <a:avLst/>
          </a:prstGeom>
          <a:noFill/>
          <a:ln>
            <a:noFill/>
          </a:ln>
        </p:spPr>
        <p:txBody>
          <a:bodyPr wrap="square">
            <a:spAutoFit/>
          </a:bodyPr>
          <a:lstStyle/>
          <a:p>
            <a:r>
              <a:rPr lang="en-US" sz="3600" b="1" noProof="0">
                <a:solidFill>
                  <a:schemeClr val="bg1"/>
                </a:solidFill>
                <a:latin typeface="Poppins"/>
                <a:cs typeface="Poppins"/>
              </a:rPr>
              <a:t>Contents</a:t>
            </a:r>
            <a:endParaRPr lang="en-US" sz="2800" b="1" noProof="0">
              <a:solidFill>
                <a:schemeClr val="bg1"/>
              </a:solidFill>
              <a:latin typeface="Poppins"/>
              <a:cs typeface="Poppins"/>
            </a:endParaRPr>
          </a:p>
        </p:txBody>
      </p:sp>
      <p:sp>
        <p:nvSpPr>
          <p:cNvPr id="17" name="TextBox 16">
            <a:extLst>
              <a:ext uri="{FF2B5EF4-FFF2-40B4-BE49-F238E27FC236}">
                <a16:creationId xmlns:a16="http://schemas.microsoft.com/office/drawing/2014/main" id="{7AC2D937-2237-B518-8617-268481120F82}"/>
              </a:ext>
            </a:extLst>
          </p:cNvPr>
          <p:cNvSpPr txBox="1"/>
          <p:nvPr/>
        </p:nvSpPr>
        <p:spPr>
          <a:xfrm>
            <a:off x="6661614" y="1098388"/>
            <a:ext cx="5367747" cy="5423792"/>
          </a:xfrm>
          <a:prstGeom prst="rect">
            <a:avLst/>
          </a:prstGeom>
          <a:noFill/>
        </p:spPr>
        <p:txBody>
          <a:bodyPr wrap="square" lIns="91440" tIns="45720" rIns="91440" bIns="45720" rtlCol="0" anchor="t">
            <a:spAutoFit/>
          </a:bodyPr>
          <a:lstStyle/>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Overview</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Primary Health Care (PHC) Assessment</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Delivery Challenges</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Availability</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Infrastructure</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Medical Supplies</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1" i="0" u="none" strike="noStrike" kern="1200" cap="none" spc="0" normalizeH="0" baseline="0" noProof="0">
                <a:ln>
                  <a:noFill/>
                </a:ln>
                <a:solidFill>
                  <a:srgbClr val="D5D16E"/>
                </a:solidFill>
                <a:effectLst/>
                <a:uLnTx/>
                <a:uFillTx/>
                <a:latin typeface="Poppins" panose="00000500000000000000" pitchFamily="2" charset="0"/>
                <a:ea typeface="Inter" panose="02000503000000020004" pitchFamily="2" charset="0"/>
                <a:cs typeface="Poppins" panose="00000500000000000000" pitchFamily="2" charset="0"/>
              </a:rPr>
              <a:t>Methodology 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lang="en-US" noProof="0">
                <a:solidFill>
                  <a:prstClr val="white"/>
                </a:solidFill>
                <a:latin typeface="Poppins" panose="00000500000000000000" pitchFamily="2" charset="0"/>
                <a:ea typeface="Inter" panose="02000503000000020004" pitchFamily="2" charset="0"/>
                <a:cs typeface="Poppins" panose="00000500000000000000" pitchFamily="2" charset="0"/>
              </a:rPr>
              <a:t>Annex Tables</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0" i="0" u="none" strike="noStrike" kern="1200" cap="none" spc="0" normalizeH="0" baseline="0" noProof="0">
                <a:ln>
                  <a:noFill/>
                </a:ln>
                <a:solidFill>
                  <a:prstClr val="white"/>
                </a:solidFill>
                <a:effectLst/>
                <a:uLnTx/>
                <a:uFillTx/>
                <a:latin typeface="Poppins" panose="00000500000000000000" pitchFamily="2" charset="0"/>
                <a:ea typeface="Inter" panose="02000503000000020004" pitchFamily="2" charset="0"/>
                <a:cs typeface="Poppins" panose="00000500000000000000" pitchFamily="2" charset="0"/>
              </a:rPr>
              <a:t>Background on the FASTR initiative</a:t>
            </a:r>
          </a:p>
          <a:p>
            <a:pPr marL="342900" indent="-342900">
              <a:lnSpc>
                <a:spcPts val="3000"/>
              </a:lnSpc>
              <a:spcAft>
                <a:spcPts val="600"/>
              </a:spcAft>
              <a:buAutoNum type="arabicPeriod"/>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p:txBody>
      </p:sp>
      <p:sp>
        <p:nvSpPr>
          <p:cNvPr id="6" name="Rectangle 5">
            <a:extLst>
              <a:ext uri="{FF2B5EF4-FFF2-40B4-BE49-F238E27FC236}">
                <a16:creationId xmlns:a16="http://schemas.microsoft.com/office/drawing/2014/main" id="{18BFC8E6-D6CE-3EFD-D917-83BCB4A19F37}"/>
              </a:ext>
            </a:extLst>
          </p:cNvPr>
          <p:cNvSpPr/>
          <p:nvPr/>
        </p:nvSpPr>
        <p:spPr>
          <a:xfrm>
            <a:off x="6535454" y="1268434"/>
            <a:ext cx="3660111" cy="27432"/>
          </a:xfrm>
          <a:prstGeom prst="rect">
            <a:avLst/>
          </a:prstGeom>
          <a:solidFill>
            <a:srgbClr val="D5D16E"/>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8" name="Picture 7">
            <a:extLst>
              <a:ext uri="{FF2B5EF4-FFF2-40B4-BE49-F238E27FC236}">
                <a16:creationId xmlns:a16="http://schemas.microsoft.com/office/drawing/2014/main" id="{8F8176D9-6DB1-B321-00C6-1411606C41F7}"/>
              </a:ext>
            </a:extLst>
          </p:cNvPr>
          <p:cNvPicPr>
            <a:picLocks noChangeAspect="1"/>
          </p:cNvPicPr>
          <p:nvPr/>
        </p:nvPicPr>
        <p:blipFill>
          <a:blip r:embed="rId3">
            <a:extLst>
              <a:ext uri="{28A0092B-C50C-407E-A947-70E740481C1C}">
                <a14:useLocalDpi xmlns:a14="http://schemas.microsoft.com/office/drawing/2010/main" val="0"/>
              </a:ext>
            </a:extLst>
          </a:blip>
          <a:srcRect l="29215" r="9554"/>
          <a:stretch>
            <a:fillRect/>
          </a:stretch>
        </p:blipFill>
        <p:spPr>
          <a:xfrm>
            <a:off x="6813" y="0"/>
            <a:ext cx="6298738" cy="6858000"/>
          </a:xfrm>
          <a:prstGeom prst="flowChartDelay">
            <a:avLst/>
          </a:prstGeom>
        </p:spPr>
      </p:pic>
      <p:sp>
        <p:nvSpPr>
          <p:cNvPr id="3" name="TextBox 2">
            <a:extLst>
              <a:ext uri="{FF2B5EF4-FFF2-40B4-BE49-F238E27FC236}">
                <a16:creationId xmlns:a16="http://schemas.microsoft.com/office/drawing/2014/main" id="{E7E61260-4B2E-A26D-6910-5C8A8CE34806}"/>
              </a:ext>
            </a:extLst>
          </p:cNvPr>
          <p:cNvSpPr txBox="1"/>
          <p:nvPr/>
        </p:nvSpPr>
        <p:spPr>
          <a:xfrm>
            <a:off x="162639" y="6465585"/>
            <a:ext cx="3827017" cy="261610"/>
          </a:xfrm>
          <a:prstGeom prst="rect">
            <a:avLst/>
          </a:prstGeom>
          <a:noFill/>
        </p:spPr>
        <p:txBody>
          <a:bodyPr wrap="square">
            <a:spAutoFit/>
          </a:bodyPr>
          <a:lstStyle/>
          <a:p>
            <a:r>
              <a:rPr lang="en-US" sz="1100" noProof="0">
                <a:solidFill>
                  <a:schemeClr val="bg1"/>
                </a:solidFill>
                <a:latin typeface="Poppins" panose="00000500000000000000" pitchFamily="2" charset="0"/>
                <a:cs typeface="Poppins" panose="00000500000000000000" pitchFamily="2" charset="0"/>
              </a:rPr>
              <a:t>@ UNICEF Sierra Leone/2016/Mason</a:t>
            </a:r>
          </a:p>
        </p:txBody>
      </p:sp>
    </p:spTree>
    <p:extLst>
      <p:ext uri="{BB962C8B-B14F-4D97-AF65-F5344CB8AC3E}">
        <p14:creationId xmlns:p14="http://schemas.microsoft.com/office/powerpoint/2010/main" val="2338768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8EB1C09-C190-D60D-8C77-1B6EEF893435}"/>
              </a:ext>
            </a:extLst>
          </p:cNvPr>
          <p:cNvGraphicFramePr>
            <a:graphicFrameLocks noGrp="1"/>
          </p:cNvGraphicFramePr>
          <p:nvPr>
            <p:extLst>
              <p:ext uri="{D42A27DB-BD31-4B8C-83A1-F6EECF244321}">
                <p14:modId xmlns:p14="http://schemas.microsoft.com/office/powerpoint/2010/main" val="3452435061"/>
              </p:ext>
            </p:extLst>
          </p:nvPr>
        </p:nvGraphicFramePr>
        <p:xfrm>
          <a:off x="481579" y="679287"/>
          <a:ext cx="11271531" cy="5603705"/>
        </p:xfrm>
        <a:graphic>
          <a:graphicData uri="http://schemas.openxmlformats.org/drawingml/2006/table">
            <a:tbl>
              <a:tblPr>
                <a:tableStyleId>{5C22544A-7EE6-4342-B048-85BDC9FD1C3A}</a:tableStyleId>
              </a:tblPr>
              <a:tblGrid>
                <a:gridCol w="1015137">
                  <a:extLst>
                    <a:ext uri="{9D8B030D-6E8A-4147-A177-3AD203B41FA5}">
                      <a16:colId xmlns:a16="http://schemas.microsoft.com/office/drawing/2014/main" val="2776984513"/>
                    </a:ext>
                  </a:extLst>
                </a:gridCol>
                <a:gridCol w="1341336">
                  <a:extLst>
                    <a:ext uri="{9D8B030D-6E8A-4147-A177-3AD203B41FA5}">
                      <a16:colId xmlns:a16="http://schemas.microsoft.com/office/drawing/2014/main" val="3576934840"/>
                    </a:ext>
                  </a:extLst>
                </a:gridCol>
                <a:gridCol w="3143201">
                  <a:extLst>
                    <a:ext uri="{9D8B030D-6E8A-4147-A177-3AD203B41FA5}">
                      <a16:colId xmlns:a16="http://schemas.microsoft.com/office/drawing/2014/main" val="2474933253"/>
                    </a:ext>
                  </a:extLst>
                </a:gridCol>
                <a:gridCol w="1599565">
                  <a:extLst>
                    <a:ext uri="{9D8B030D-6E8A-4147-A177-3AD203B41FA5}">
                      <a16:colId xmlns:a16="http://schemas.microsoft.com/office/drawing/2014/main" val="2443884665"/>
                    </a:ext>
                  </a:extLst>
                </a:gridCol>
                <a:gridCol w="2404941">
                  <a:extLst>
                    <a:ext uri="{9D8B030D-6E8A-4147-A177-3AD203B41FA5}">
                      <a16:colId xmlns:a16="http://schemas.microsoft.com/office/drawing/2014/main" val="3880939248"/>
                    </a:ext>
                  </a:extLst>
                </a:gridCol>
                <a:gridCol w="1767351">
                  <a:extLst>
                    <a:ext uri="{9D8B030D-6E8A-4147-A177-3AD203B41FA5}">
                      <a16:colId xmlns:a16="http://schemas.microsoft.com/office/drawing/2014/main" val="151687454"/>
                    </a:ext>
                  </a:extLst>
                </a:gridCol>
              </a:tblGrid>
              <a:tr h="349249">
                <a:tc>
                  <a:txBody>
                    <a:bodyPr/>
                    <a:lstStyle/>
                    <a:p>
                      <a:pPr algn="l" fontAlgn="b">
                        <a:buNone/>
                      </a:pPr>
                      <a:endParaRPr lang="en-US" sz="1200" b="0" i="0" u="none" strike="noStrike">
                        <a:solidFill>
                          <a:schemeClr val="tx1"/>
                        </a:solidFill>
                        <a:effectLst/>
                        <a:latin typeface="Gill Sans MT" panose="020B0502020104020203" pitchFamily="34" charset="0"/>
                      </a:endParaRPr>
                    </a:p>
                  </a:txBody>
                  <a:tcPr marL="4045" marR="4045" marT="4045" marB="0" anchor="b">
                    <a:lnL w="9525" cap="flat" cmpd="sng" algn="ctr">
                      <a:solidFill>
                        <a:srgbClr val="36827E"/>
                      </a:solidFill>
                      <a:prstDash val="solid"/>
                      <a:round/>
                      <a:headEnd type="none" w="med" len="med"/>
                      <a:tailEnd type="none" w="med" len="med"/>
                    </a:lnL>
                    <a:lnR w="12700" cmpd="sng">
                      <a:noFill/>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rgbClr val="BED5D3"/>
                    </a:solidFill>
                  </a:tcPr>
                </a:tc>
                <a:tc>
                  <a:txBody>
                    <a:bodyPr/>
                    <a:lstStyle/>
                    <a:p>
                      <a:pPr algn="l" fontAlgn="b">
                        <a:buNone/>
                      </a:pPr>
                      <a:endParaRPr lang="en-US" sz="1200" b="0" i="0" u="none" strike="noStrike">
                        <a:solidFill>
                          <a:schemeClr val="tx1"/>
                        </a:solidFill>
                        <a:effectLst/>
                        <a:latin typeface="Gill Sans MT" panose="020B0502020104020203" pitchFamily="34" charset="0"/>
                      </a:endParaRPr>
                    </a:p>
                  </a:txBody>
                  <a:tcPr marL="4045" marR="4045" marT="4045" marB="0" anchor="b">
                    <a:lnL w="12700" cmpd="sng">
                      <a:noFill/>
                    </a:lnL>
                    <a:lnR w="12700" cmpd="sng">
                      <a:noFill/>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200" b="1" u="none" strike="noStrike">
                          <a:solidFill>
                            <a:schemeClr val="tx1"/>
                          </a:solidFill>
                          <a:effectLst/>
                          <a:latin typeface="Gill Sans MT" panose="020B0502020104020203" pitchFamily="34" charset="0"/>
                        </a:rPr>
                        <a:t>Number of facilities in sample (N)</a:t>
                      </a:r>
                      <a:endParaRPr lang="en-US" sz="1200" b="1" i="0" u="none" strike="noStrike">
                        <a:solidFill>
                          <a:schemeClr val="tx1"/>
                        </a:solidFill>
                        <a:effectLst/>
                        <a:latin typeface="Gill Sans MT" panose="020B0502020104020203" pitchFamily="34" charset="0"/>
                      </a:endParaRPr>
                    </a:p>
                  </a:txBody>
                  <a:tcPr marL="4045" marR="4045" marT="4045" marB="0">
                    <a:lnL w="12700" cmpd="sng">
                      <a:noFill/>
                    </a:lnL>
                    <a:lnR w="12700" cmpd="sng">
                      <a:noFill/>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200" b="1" u="none" strike="noStrike">
                          <a:solidFill>
                            <a:schemeClr val="tx1"/>
                          </a:solidFill>
                          <a:effectLst/>
                          <a:latin typeface="Gill Sans MT" panose="020B0502020104020203" pitchFamily="34" charset="0"/>
                        </a:rPr>
                        <a:t>Percentage of sample (%)</a:t>
                      </a:r>
                      <a:endParaRPr lang="en-US" sz="1200" b="1" i="0" u="none" strike="noStrike">
                        <a:solidFill>
                          <a:schemeClr val="tx1"/>
                        </a:solidFill>
                        <a:effectLst/>
                        <a:latin typeface="Gill Sans MT" panose="020B0502020104020203" pitchFamily="34" charset="0"/>
                      </a:endParaRPr>
                    </a:p>
                  </a:txBody>
                  <a:tcPr marL="4045" marR="4045" marT="4045" marB="0">
                    <a:lnL w="12700" cmpd="sng">
                      <a:noFill/>
                    </a:lnL>
                    <a:lnR w="12700" cmpd="sng">
                      <a:noFill/>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buNone/>
                      </a:pPr>
                      <a:r>
                        <a:rPr lang="en-US" sz="1200" b="1" u="none" strike="noStrike">
                          <a:solidFill>
                            <a:schemeClr val="tx1"/>
                          </a:solidFill>
                          <a:effectLst/>
                          <a:latin typeface="Gill Sans MT" panose="020B0502020104020203" pitchFamily="34" charset="0"/>
                        </a:rPr>
                        <a:t>Number of facilities in sampling frame (N)</a:t>
                      </a:r>
                      <a:endParaRPr lang="en-US" sz="1200" b="1" i="0" u="none" strike="noStrike">
                        <a:solidFill>
                          <a:schemeClr val="tx1"/>
                        </a:solidFill>
                        <a:effectLst/>
                        <a:latin typeface="Gill Sans MT" panose="020B0502020104020203" pitchFamily="34" charset="0"/>
                      </a:endParaRPr>
                    </a:p>
                  </a:txBody>
                  <a:tcPr marL="4045" marR="4045" marT="4045" marB="0">
                    <a:lnL w="12700" cmpd="sng">
                      <a:noFill/>
                    </a:lnL>
                    <a:lnR w="12700" cmpd="sng">
                      <a:noFill/>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200" b="1" u="none" strike="noStrike">
                          <a:solidFill>
                            <a:schemeClr val="tx1"/>
                          </a:solidFill>
                          <a:effectLst/>
                          <a:latin typeface="Gill Sans MT" panose="020B0502020104020203" pitchFamily="34" charset="0"/>
                        </a:rPr>
                        <a:t>Margin of error (p.p.)</a:t>
                      </a:r>
                      <a:endParaRPr lang="en-US" sz="1200" b="1" i="0" u="none" strike="noStrike">
                        <a:solidFill>
                          <a:schemeClr val="tx1"/>
                        </a:solidFill>
                        <a:effectLst/>
                        <a:latin typeface="Gill Sans MT" panose="020B0502020104020203" pitchFamily="34" charset="0"/>
                      </a:endParaRPr>
                    </a:p>
                  </a:txBody>
                  <a:tcPr marL="4045" marR="4045" marT="4045" marB="0">
                    <a:lnL w="12700" cmpd="sng">
                      <a:noFill/>
                    </a:lnL>
                    <a:lnR w="9525" cap="flat" cmpd="sng" algn="ctr">
                      <a:solidFill>
                        <a:srgbClr val="36827E"/>
                      </a:solidFill>
                      <a:prstDash val="solid"/>
                      <a:round/>
                      <a:headEnd type="none" w="med" len="med"/>
                      <a:tailEnd type="none" w="med" len="med"/>
                    </a:lnR>
                    <a:lnT w="9525" cap="flat" cmpd="sng" algn="ctr">
                      <a:solidFill>
                        <a:srgbClr val="36827E"/>
                      </a:solidFill>
                      <a:prstDash val="solid"/>
                      <a:round/>
                      <a:headEnd type="none" w="med" len="med"/>
                      <a:tailEnd type="none" w="med" len="med"/>
                    </a:lnT>
                    <a:lnB w="2857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3809507"/>
                  </a:ext>
                </a:extLst>
              </a:tr>
              <a:tr h="153007">
                <a:tc>
                  <a:txBody>
                    <a:bodyPr/>
                    <a:lstStyle/>
                    <a:p>
                      <a:pPr algn="l" fontAlgn="t">
                        <a:buNone/>
                      </a:pPr>
                      <a:r>
                        <a:rPr lang="en-US" sz="1200" b="1" u="none" strike="noStrike">
                          <a:solidFill>
                            <a:schemeClr val="tx1"/>
                          </a:solidFill>
                          <a:effectLst/>
                          <a:latin typeface="Gill Sans MT" panose="020B0502020104020203" pitchFamily="34" charset="0"/>
                        </a:rPr>
                        <a:t>NATIONAL</a:t>
                      </a:r>
                      <a:endParaRPr lang="en-US" sz="1200" b="1" i="0" u="none" strike="noStrike">
                        <a:solidFill>
                          <a:schemeClr val="tx1"/>
                        </a:solidFill>
                        <a:effectLst/>
                        <a:latin typeface="Gill Sans MT" panose="020B0502020104020203" pitchFamily="34" charset="0"/>
                      </a:endParaRPr>
                    </a:p>
                  </a:txBody>
                  <a:tcPr marL="4045" marR="4045" marT="4045" marB="0">
                    <a:lnL w="9525" cap="flat" cmpd="sng" algn="ctr">
                      <a:solidFill>
                        <a:srgbClr val="36827E"/>
                      </a:solidFill>
                      <a:prstDash val="solid"/>
                      <a:round/>
                      <a:headEnd type="none" w="med" len="med"/>
                      <a:tailEnd type="none" w="med" len="med"/>
                    </a:lnL>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rgbClr val="BED5D3"/>
                    </a:solidFill>
                  </a:tcPr>
                </a:tc>
                <a:tc>
                  <a:txBody>
                    <a:bodyPr/>
                    <a:lstStyle/>
                    <a:p>
                      <a:pPr algn="l" fontAlgn="t">
                        <a:buNone/>
                      </a:pPr>
                      <a:r>
                        <a:rPr lang="en-US" sz="1200" b="1" u="none" strike="noStrike">
                          <a:effectLst/>
                          <a:latin typeface="Gill Sans MT" panose="020B0502020104020203" pitchFamily="34" charset="0"/>
                        </a:rPr>
                        <a:t>Sierra Leone</a:t>
                      </a:r>
                      <a:endParaRPr lang="en-US" sz="1200" b="1" i="0" u="none" strike="noStrike">
                        <a:solidFill>
                          <a:srgbClr val="000000"/>
                        </a:solidFill>
                        <a:effectLst/>
                        <a:latin typeface="Gill Sans MT" panose="020B0502020104020203" pitchFamily="34" charset="0"/>
                      </a:endParaRPr>
                    </a:p>
                  </a:txBody>
                  <a:tcPr marL="4045" marR="4045" marT="4045" marB="0">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rgbClr val="F7F9F8"/>
                    </a:solidFill>
                  </a:tcPr>
                </a:tc>
                <a:tc>
                  <a:txBody>
                    <a:bodyPr/>
                    <a:lstStyle/>
                    <a:p>
                      <a:pPr algn="r" fontAlgn="ctr">
                        <a:buNone/>
                      </a:pPr>
                      <a:r>
                        <a:rPr lang="en-US" sz="1200" b="1" u="none" strike="noStrike">
                          <a:effectLst/>
                          <a:latin typeface="Gill Sans MT" panose="020B0502020104020203" pitchFamily="34" charset="0"/>
                        </a:rPr>
                        <a:t>365</a:t>
                      </a:r>
                      <a:endParaRPr lang="en-US" sz="1200" b="1" i="0" u="none" strike="noStrike">
                        <a:solidFill>
                          <a:srgbClr val="000000"/>
                        </a:solidFill>
                        <a:effectLst/>
                        <a:latin typeface="Gill Sans MT" panose="020B0502020104020203" pitchFamily="34" charset="0"/>
                      </a:endParaRPr>
                    </a:p>
                  </a:txBody>
                  <a:tcPr marL="4045" marR="4045" marT="4045" marB="0" anchor="ctr">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chemeClr val="bg1"/>
                    </a:solidFill>
                  </a:tcPr>
                </a:tc>
                <a:tc>
                  <a:txBody>
                    <a:bodyPr/>
                    <a:lstStyle/>
                    <a:p>
                      <a:pPr algn="r" fontAlgn="ctr">
                        <a:buNone/>
                      </a:pPr>
                      <a:r>
                        <a:rPr lang="en-US" sz="1200" b="1" u="none" strike="noStrike">
                          <a:effectLst/>
                          <a:latin typeface="Gill Sans MT" panose="020B0502020104020203" pitchFamily="34" charset="0"/>
                        </a:rPr>
                        <a:t>100.0%</a:t>
                      </a:r>
                      <a:endParaRPr lang="en-US" sz="1200" b="1" i="0" u="none" strike="noStrike">
                        <a:solidFill>
                          <a:srgbClr val="000000"/>
                        </a:solidFill>
                        <a:effectLst/>
                        <a:latin typeface="Gill Sans MT" panose="020B0502020104020203" pitchFamily="34" charset="0"/>
                      </a:endParaRPr>
                    </a:p>
                  </a:txBody>
                  <a:tcPr marL="4045" marR="4045" marT="4045" marB="0" anchor="ctr">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b="1" u="none" strike="noStrike">
                          <a:effectLst/>
                          <a:latin typeface="Gill Sans MT" panose="020B0502020104020203" pitchFamily="34" charset="0"/>
                        </a:rPr>
                        <a:t>1458</a:t>
                      </a:r>
                      <a:endParaRPr lang="en-US" sz="1200" b="1" i="0" u="none" strike="noStrike">
                        <a:solidFill>
                          <a:srgbClr val="000000"/>
                        </a:solidFill>
                        <a:effectLst/>
                        <a:latin typeface="Gill Sans MT" panose="020B0502020104020203" pitchFamily="34" charset="0"/>
                      </a:endParaRPr>
                    </a:p>
                  </a:txBody>
                  <a:tcPr marL="4045" marR="4045" marT="4045" marB="0" anchor="b">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b="1" u="none" strike="noStrike">
                          <a:effectLst/>
                          <a:latin typeface="Gill Sans MT" panose="020B0502020104020203" pitchFamily="34" charset="0"/>
                        </a:rPr>
                        <a:t>3.7%</a:t>
                      </a:r>
                      <a:endParaRPr lang="en-US" sz="1200" b="1"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T w="28575" cap="flat" cmpd="sng" algn="ctr">
                      <a:solidFill>
                        <a:srgbClr val="36827E"/>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chemeClr val="bg1"/>
                    </a:solidFill>
                  </a:tcPr>
                </a:tc>
                <a:extLst>
                  <a:ext uri="{0D108BD9-81ED-4DB2-BD59-A6C34878D82A}">
                    <a16:rowId xmlns:a16="http://schemas.microsoft.com/office/drawing/2014/main" val="3307042277"/>
                  </a:ext>
                </a:extLst>
              </a:tr>
              <a:tr h="153007">
                <a:tc rowSpan="4">
                  <a:txBody>
                    <a:bodyPr/>
                    <a:lstStyle/>
                    <a:p>
                      <a:pPr algn="l" fontAlgn="t">
                        <a:buNone/>
                      </a:pPr>
                      <a:r>
                        <a:rPr lang="en-US" sz="1200" u="none" strike="noStrike">
                          <a:solidFill>
                            <a:schemeClr val="tx1"/>
                          </a:solidFill>
                          <a:effectLst/>
                          <a:latin typeface="Gill Sans MT" panose="020B0502020104020203" pitchFamily="34" charset="0"/>
                        </a:rPr>
                        <a:t>FACILITY TYPE</a:t>
                      </a:r>
                      <a:endParaRPr lang="en-US" sz="1200" b="1" i="0" u="none" strike="noStrike">
                        <a:solidFill>
                          <a:schemeClr val="tx1"/>
                        </a:solidFill>
                        <a:effectLst/>
                        <a:latin typeface="Gill Sans MT" panose="020B0502020104020203" pitchFamily="34" charset="0"/>
                      </a:endParaRPr>
                    </a:p>
                  </a:txBody>
                  <a:tcPr marL="4045" marR="4045" marT="4045" marB="0">
                    <a:lnL w="9525" cap="flat" cmpd="sng" algn="ctr">
                      <a:solidFill>
                        <a:srgbClr val="36827E"/>
                      </a:solidFill>
                      <a:prstDash val="solid"/>
                      <a:round/>
                      <a:headEnd type="none" w="med" len="med"/>
                      <a:tailEnd type="none" w="med" len="med"/>
                    </a:lnL>
                    <a:lnT w="9525" cap="flat" cmpd="sng" algn="ctr">
                      <a:solidFill>
                        <a:srgbClr val="49B1AC"/>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rgbClr val="BED5D3"/>
                    </a:solidFill>
                  </a:tcPr>
                </a:tc>
                <a:tc>
                  <a:txBody>
                    <a:bodyPr/>
                    <a:lstStyle/>
                    <a:p>
                      <a:pPr algn="l" fontAlgn="t">
                        <a:buNone/>
                      </a:pPr>
                      <a:r>
                        <a:rPr lang="en-US" sz="1200" u="none" strike="noStrike">
                          <a:effectLst/>
                          <a:latin typeface="Gill Sans MT" panose="020B0502020104020203" pitchFamily="34" charset="0"/>
                        </a:rPr>
                        <a:t>DH</a:t>
                      </a:r>
                      <a:endParaRPr lang="en-US" sz="1200" b="0" i="0" u="none" strike="noStrike">
                        <a:solidFill>
                          <a:srgbClr val="000000"/>
                        </a:solidFill>
                        <a:effectLst/>
                        <a:latin typeface="Gill Sans MT" panose="020B0502020104020203" pitchFamily="34" charset="0"/>
                      </a:endParaRPr>
                    </a:p>
                  </a:txBody>
                  <a:tcPr marL="4045" marR="4045" marT="4045" marB="0">
                    <a:lnT w="9525" cap="flat" cmpd="sng" algn="ctr">
                      <a:solidFill>
                        <a:srgbClr val="49B1AC"/>
                      </a:solidFill>
                      <a:prstDash val="solid"/>
                      <a:round/>
                      <a:headEnd type="none" w="med" len="med"/>
                      <a:tailEnd type="none" w="med" len="med"/>
                    </a:lnT>
                    <a:solidFill>
                      <a:srgbClr val="F7F9F8"/>
                    </a:solidFill>
                  </a:tcPr>
                </a:tc>
                <a:tc>
                  <a:txBody>
                    <a:bodyPr/>
                    <a:lstStyle/>
                    <a:p>
                      <a:pPr algn="r" fontAlgn="ctr">
                        <a:buNone/>
                      </a:pPr>
                      <a:r>
                        <a:rPr lang="en-US" sz="1200" u="none" strike="noStrike">
                          <a:effectLst/>
                          <a:latin typeface="Gill Sans MT" panose="020B0502020104020203" pitchFamily="34" charset="0"/>
                        </a:rPr>
                        <a:t>7</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ctr">
                        <a:buNone/>
                      </a:pPr>
                      <a:r>
                        <a:rPr lang="en-US" sz="1200" u="none" strike="noStrike">
                          <a:effectLst/>
                          <a:latin typeface="Gill Sans MT" panose="020B0502020104020203" pitchFamily="34" charset="0"/>
                        </a:rPr>
                        <a:t>1.9%</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15</a:t>
                      </a:r>
                      <a:endParaRPr lang="en-US" sz="1200" b="0" i="0" u="none" strike="noStrike">
                        <a:solidFill>
                          <a:srgbClr val="000000"/>
                        </a:solidFill>
                        <a:effectLst/>
                        <a:latin typeface="Gill Sans MT" panose="020B0502020104020203" pitchFamily="34" charset="0"/>
                      </a:endParaRPr>
                    </a:p>
                  </a:txBody>
                  <a:tcPr marL="4045" marR="4045" marT="4045" marB="0" anchor="b">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23.6%</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T w="9525" cap="flat" cmpd="sng" algn="ctr">
                      <a:solidFill>
                        <a:srgbClr val="49B1AC"/>
                      </a:solidFill>
                      <a:prstDash val="solid"/>
                      <a:round/>
                      <a:headEnd type="none" w="med" len="med"/>
                      <a:tailEnd type="none" w="med" len="med"/>
                    </a:lnT>
                    <a:solidFill>
                      <a:schemeClr val="bg1"/>
                    </a:solidFill>
                  </a:tcPr>
                </a:tc>
                <a:extLst>
                  <a:ext uri="{0D108BD9-81ED-4DB2-BD59-A6C34878D82A}">
                    <a16:rowId xmlns:a16="http://schemas.microsoft.com/office/drawing/2014/main" val="3504302511"/>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CHP</a:t>
                      </a:r>
                      <a:endParaRPr lang="en-US" sz="1200" b="0" i="0" u="none" strike="noStrike">
                        <a:solidFill>
                          <a:srgbClr val="000000"/>
                        </a:solidFill>
                        <a:effectLst/>
                        <a:latin typeface="Gill Sans MT" panose="020B0502020104020203" pitchFamily="34" charset="0"/>
                      </a:endParaRPr>
                    </a:p>
                  </a:txBody>
                  <a:tcPr marL="4045" marR="4045" marT="4045" marB="0">
                    <a:solidFill>
                      <a:srgbClr val="F7F9F8"/>
                    </a:solidFill>
                  </a:tcPr>
                </a:tc>
                <a:tc>
                  <a:txBody>
                    <a:bodyPr/>
                    <a:lstStyle/>
                    <a:p>
                      <a:pPr algn="r" fontAlgn="ctr">
                        <a:buNone/>
                      </a:pPr>
                      <a:r>
                        <a:rPr lang="en-US" sz="1200" u="none" strike="noStrike">
                          <a:effectLst/>
                          <a:latin typeface="Gill Sans MT" panose="020B0502020104020203" pitchFamily="34" charset="0"/>
                        </a:rPr>
                        <a:t>127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34.8%</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499</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6.3%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710165876"/>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CHC</a:t>
                      </a:r>
                      <a:endParaRPr lang="en-US" sz="1200" b="0" i="0" u="none" strike="noStrike">
                        <a:solidFill>
                          <a:srgbClr val="000000"/>
                        </a:solidFill>
                        <a:effectLst/>
                        <a:latin typeface="Gill Sans MT" panose="020B0502020104020203" pitchFamily="34" charset="0"/>
                      </a:endParaRPr>
                    </a:p>
                  </a:txBody>
                  <a:tcPr marL="4045" marR="4045" marT="4045" marB="0">
                    <a:solidFill>
                      <a:srgbClr val="F7F9F8"/>
                    </a:solidFill>
                  </a:tcPr>
                </a:tc>
                <a:tc>
                  <a:txBody>
                    <a:bodyPr/>
                    <a:lstStyle/>
                    <a:p>
                      <a:pPr algn="r" fontAlgn="ctr">
                        <a:buNone/>
                      </a:pPr>
                      <a:r>
                        <a:rPr lang="en-US" sz="1200" u="none" strike="noStrike">
                          <a:effectLst/>
                          <a:latin typeface="Gill Sans MT" panose="020B0502020104020203" pitchFamily="34" charset="0"/>
                        </a:rPr>
                        <a:t>95</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26.0%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314</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7.1%</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82891982"/>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MCHP</a:t>
                      </a:r>
                      <a:endParaRPr lang="en-US" sz="1200" b="0" i="0" u="none" strike="noStrike">
                        <a:solidFill>
                          <a:srgbClr val="000000"/>
                        </a:solidFill>
                        <a:effectLst/>
                        <a:latin typeface="Gill Sans MT" panose="020B0502020104020203" pitchFamily="34" charset="0"/>
                      </a:endParaRPr>
                    </a:p>
                  </a:txBody>
                  <a:tcPr marL="4045" marR="4045" marT="4045" marB="0">
                    <a:lnB w="9525" cap="flat" cmpd="sng" algn="ctr">
                      <a:solidFill>
                        <a:srgbClr val="49B1AC"/>
                      </a:solidFill>
                      <a:prstDash val="solid"/>
                      <a:round/>
                      <a:headEnd type="none" w="med" len="med"/>
                      <a:tailEnd type="none" w="med" len="med"/>
                    </a:lnB>
                    <a:solidFill>
                      <a:srgbClr val="F7F9F8"/>
                    </a:solidFill>
                  </a:tcPr>
                </a:tc>
                <a:tc>
                  <a:txBody>
                    <a:bodyPr/>
                    <a:lstStyle/>
                    <a:p>
                      <a:pPr algn="r" fontAlgn="ctr">
                        <a:buNone/>
                      </a:pPr>
                      <a:r>
                        <a:rPr lang="en-US" sz="1200" u="none" strike="noStrike">
                          <a:effectLst/>
                          <a:latin typeface="Gill Sans MT" panose="020B0502020104020203" pitchFamily="34" charset="0"/>
                        </a:rPr>
                        <a:t>134</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r" fontAlgn="ctr">
                        <a:buNone/>
                      </a:pPr>
                      <a:r>
                        <a:rPr lang="en-US" sz="1200" u="none" strike="noStrike">
                          <a:effectLst/>
                          <a:latin typeface="Gill Sans MT" panose="020B0502020104020203" pitchFamily="34" charset="0"/>
                        </a:rPr>
                        <a:t>36.7%</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u="none" strike="noStrike">
                          <a:effectLst/>
                          <a:latin typeface="Gill Sans MT" panose="020B0502020104020203" pitchFamily="34" charset="0"/>
                        </a:rPr>
                        <a:t>630</a:t>
                      </a:r>
                      <a:endParaRPr lang="en-US" sz="1200" b="0" i="0" u="none" strike="noStrike">
                        <a:solidFill>
                          <a:srgbClr val="000000"/>
                        </a:solidFill>
                        <a:effectLst/>
                        <a:latin typeface="Gill Sans MT" panose="020B0502020104020203" pitchFamily="34" charset="0"/>
                      </a:endParaRPr>
                    </a:p>
                  </a:txBody>
                  <a:tcPr marL="4045" marR="4045" marT="4045" marB="0" anchor="b">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u="none" strike="noStrike">
                          <a:effectLst/>
                          <a:latin typeface="Gill Sans MT" panose="020B0502020104020203" pitchFamily="34" charset="0"/>
                        </a:rPr>
                        <a:t>6.3%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B w="9525" cap="flat" cmpd="sng" algn="ctr">
                      <a:solidFill>
                        <a:srgbClr val="49B1AC"/>
                      </a:solidFill>
                      <a:prstDash val="solid"/>
                      <a:round/>
                      <a:headEnd type="none" w="med" len="med"/>
                      <a:tailEnd type="none" w="med" len="med"/>
                    </a:lnB>
                    <a:solidFill>
                      <a:schemeClr val="bg1"/>
                    </a:solidFill>
                  </a:tcPr>
                </a:tc>
                <a:extLst>
                  <a:ext uri="{0D108BD9-81ED-4DB2-BD59-A6C34878D82A}">
                    <a16:rowId xmlns:a16="http://schemas.microsoft.com/office/drawing/2014/main" val="2754965012"/>
                  </a:ext>
                </a:extLst>
              </a:tr>
              <a:tr h="153007">
                <a:tc rowSpan="2">
                  <a:txBody>
                    <a:bodyPr/>
                    <a:lstStyle/>
                    <a:p>
                      <a:pPr algn="l" fontAlgn="t">
                        <a:buNone/>
                      </a:pPr>
                      <a:r>
                        <a:rPr lang="en-US" sz="1200" u="none" strike="noStrike">
                          <a:solidFill>
                            <a:schemeClr val="tx1"/>
                          </a:solidFill>
                          <a:effectLst/>
                          <a:latin typeface="Gill Sans MT" panose="020B0502020104020203" pitchFamily="34" charset="0"/>
                        </a:rPr>
                        <a:t>ZONE</a:t>
                      </a:r>
                      <a:endParaRPr lang="en-US" sz="1200" b="1" i="0" u="none" strike="noStrike">
                        <a:solidFill>
                          <a:schemeClr val="tx1"/>
                        </a:solidFill>
                        <a:effectLst/>
                        <a:latin typeface="Gill Sans MT" panose="020B0502020104020203" pitchFamily="34" charset="0"/>
                      </a:endParaRPr>
                    </a:p>
                  </a:txBody>
                  <a:tcPr marL="4045" marR="4045" marT="4045" marB="0">
                    <a:lnL w="9525" cap="flat" cmpd="sng" algn="ctr">
                      <a:solidFill>
                        <a:srgbClr val="36827E"/>
                      </a:solidFill>
                      <a:prstDash val="solid"/>
                      <a:round/>
                      <a:headEnd type="none" w="med" len="med"/>
                      <a:tailEnd type="none" w="med" len="med"/>
                    </a:lnL>
                    <a:lnT w="9525" cap="flat" cmpd="sng" algn="ctr">
                      <a:solidFill>
                        <a:srgbClr val="49B1AC"/>
                      </a:solidFill>
                      <a:prstDash val="solid"/>
                      <a:round/>
                      <a:headEnd type="none" w="med" len="med"/>
                      <a:tailEnd type="none" w="med" len="med"/>
                    </a:lnT>
                    <a:lnB w="9525" cap="flat" cmpd="sng" algn="ctr">
                      <a:solidFill>
                        <a:srgbClr val="49B1AC"/>
                      </a:solidFill>
                      <a:prstDash val="solid"/>
                      <a:round/>
                      <a:headEnd type="none" w="med" len="med"/>
                      <a:tailEnd type="none" w="med" len="med"/>
                    </a:lnB>
                    <a:solidFill>
                      <a:srgbClr val="BED5D3"/>
                    </a:solidFill>
                  </a:tcPr>
                </a:tc>
                <a:tc>
                  <a:txBody>
                    <a:bodyPr/>
                    <a:lstStyle/>
                    <a:p>
                      <a:pPr algn="l" fontAlgn="t">
                        <a:buNone/>
                      </a:pPr>
                      <a:r>
                        <a:rPr lang="en-US" sz="1200" u="none" strike="noStrike">
                          <a:effectLst/>
                          <a:latin typeface="Gill Sans MT" panose="020B0502020104020203" pitchFamily="34" charset="0"/>
                        </a:rPr>
                        <a:t>Urban</a:t>
                      </a:r>
                      <a:endParaRPr lang="en-US" sz="1200" b="0" i="0" u="none" strike="noStrike">
                        <a:solidFill>
                          <a:srgbClr val="000000"/>
                        </a:solidFill>
                        <a:effectLst/>
                        <a:latin typeface="Gill Sans MT" panose="020B0502020104020203" pitchFamily="34" charset="0"/>
                      </a:endParaRPr>
                    </a:p>
                  </a:txBody>
                  <a:tcPr marL="4045" marR="4045" marT="4045" marB="0">
                    <a:lnT w="9525" cap="flat" cmpd="sng" algn="ctr">
                      <a:solidFill>
                        <a:srgbClr val="49B1AC"/>
                      </a:solidFill>
                      <a:prstDash val="solid"/>
                      <a:round/>
                      <a:headEnd type="none" w="med" len="med"/>
                      <a:tailEnd type="none" w="med" len="med"/>
                    </a:lnT>
                    <a:solidFill>
                      <a:srgbClr val="F7F9F8"/>
                    </a:solidFill>
                  </a:tcPr>
                </a:tc>
                <a:tc>
                  <a:txBody>
                    <a:bodyPr/>
                    <a:lstStyle/>
                    <a:p>
                      <a:pPr algn="r" fontAlgn="ctr">
                        <a:buNone/>
                      </a:pPr>
                      <a:r>
                        <a:rPr lang="en-US" sz="1200" u="none" strike="noStrike">
                          <a:effectLst/>
                          <a:latin typeface="Gill Sans MT" panose="020B0502020104020203" pitchFamily="34" charset="0"/>
                        </a:rPr>
                        <a:t>66</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ctr">
                        <a:buNone/>
                      </a:pPr>
                      <a:r>
                        <a:rPr lang="en-US" sz="1200" u="none" strike="noStrike">
                          <a:effectLst/>
                          <a:latin typeface="Gill Sans MT" panose="020B0502020104020203" pitchFamily="34" charset="0"/>
                        </a:rPr>
                        <a:t>18.1%</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l" fontAlgn="b">
                        <a:buNone/>
                      </a:pPr>
                      <a:r>
                        <a:rPr lang="en-US" sz="1200" u="none" strike="noStrike">
                          <a:effectLst/>
                          <a:latin typeface="Gill Sans MT" panose="020B0502020104020203" pitchFamily="34" charset="0"/>
                        </a:rPr>
                        <a:t>-</a:t>
                      </a:r>
                      <a:endParaRPr lang="en-US" sz="1200" b="0" i="0" u="none" strike="noStrike">
                        <a:solidFill>
                          <a:srgbClr val="000000"/>
                        </a:solidFill>
                        <a:effectLst/>
                        <a:latin typeface="Gill Sans MT" panose="020B0502020104020203" pitchFamily="34" charset="0"/>
                      </a:endParaRPr>
                    </a:p>
                  </a:txBody>
                  <a:tcPr marL="4045" marR="4045" marT="4045" marB="0" anchor="b">
                    <a:lnT w="9525" cap="flat" cmpd="sng" algn="ctr">
                      <a:solidFill>
                        <a:srgbClr val="49B1AC"/>
                      </a:solidFill>
                      <a:prstDash val="solid"/>
                      <a:round/>
                      <a:headEnd type="none" w="med" len="med"/>
                      <a:tailEnd type="none" w="med" len="med"/>
                    </a:lnT>
                    <a:solidFill>
                      <a:schemeClr val="bg1"/>
                    </a:solidFill>
                  </a:tcPr>
                </a:tc>
                <a:tc>
                  <a:txBody>
                    <a:bodyPr/>
                    <a:lstStyle/>
                    <a:p>
                      <a:pPr algn="l" fontAlgn="b">
                        <a:buNone/>
                      </a:pPr>
                      <a:r>
                        <a:rPr lang="en-US" sz="1200" u="none" strike="noStrike">
                          <a:effectLst/>
                          <a:latin typeface="Gill Sans MT" panose="020B0502020104020203" pitchFamily="34" charset="0"/>
                        </a:rPr>
                        <a:t>-</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T w="9525" cap="flat" cmpd="sng" algn="ctr">
                      <a:solidFill>
                        <a:srgbClr val="49B1AC"/>
                      </a:solidFill>
                      <a:prstDash val="solid"/>
                      <a:round/>
                      <a:headEnd type="none" w="med" len="med"/>
                      <a:tailEnd type="none" w="med" len="med"/>
                    </a:lnT>
                    <a:solidFill>
                      <a:schemeClr val="bg1"/>
                    </a:solidFill>
                  </a:tcPr>
                </a:tc>
                <a:extLst>
                  <a:ext uri="{0D108BD9-81ED-4DB2-BD59-A6C34878D82A}">
                    <a16:rowId xmlns:a16="http://schemas.microsoft.com/office/drawing/2014/main" val="2951892362"/>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Rural</a:t>
                      </a:r>
                      <a:endParaRPr lang="en-US" sz="1200" b="0" i="0" u="none" strike="noStrike">
                        <a:solidFill>
                          <a:srgbClr val="000000"/>
                        </a:solidFill>
                        <a:effectLst/>
                        <a:latin typeface="Gill Sans MT" panose="020B0502020104020203" pitchFamily="34" charset="0"/>
                      </a:endParaRPr>
                    </a:p>
                  </a:txBody>
                  <a:tcPr marL="4045" marR="4045" marT="4045" marB="0">
                    <a:lnB w="9525" cap="flat" cmpd="sng" algn="ctr">
                      <a:solidFill>
                        <a:srgbClr val="49B1AC"/>
                      </a:solidFill>
                      <a:prstDash val="solid"/>
                      <a:round/>
                      <a:headEnd type="none" w="med" len="med"/>
                      <a:tailEnd type="none" w="med" len="med"/>
                    </a:lnB>
                    <a:solidFill>
                      <a:srgbClr val="F7F9F8"/>
                    </a:solidFill>
                  </a:tcPr>
                </a:tc>
                <a:tc>
                  <a:txBody>
                    <a:bodyPr/>
                    <a:lstStyle/>
                    <a:p>
                      <a:pPr algn="r" fontAlgn="ctr">
                        <a:buNone/>
                      </a:pPr>
                      <a:r>
                        <a:rPr lang="en-US" sz="1200" u="none" strike="noStrike">
                          <a:effectLst/>
                          <a:latin typeface="Gill Sans MT" panose="020B0502020104020203" pitchFamily="34" charset="0"/>
                        </a:rPr>
                        <a:t>299</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r" fontAlgn="ctr">
                        <a:buNone/>
                      </a:pPr>
                      <a:r>
                        <a:rPr lang="en-US" sz="1200" u="none" strike="noStrike">
                          <a:effectLst/>
                          <a:latin typeface="Gill Sans MT" panose="020B0502020104020203" pitchFamily="34" charset="0"/>
                        </a:rPr>
                        <a:t>81.9%</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l" fontAlgn="b">
                        <a:buNone/>
                      </a:pPr>
                      <a:r>
                        <a:rPr lang="en-US" sz="1200" u="none" strike="noStrike">
                          <a:effectLst/>
                          <a:latin typeface="Gill Sans MT" panose="020B0502020104020203" pitchFamily="34" charset="0"/>
                        </a:rPr>
                        <a:t>-</a:t>
                      </a:r>
                      <a:endParaRPr lang="en-US" sz="1200" b="0" i="0" u="none" strike="noStrike">
                        <a:solidFill>
                          <a:srgbClr val="000000"/>
                        </a:solidFill>
                        <a:effectLst/>
                        <a:latin typeface="Gill Sans MT" panose="020B0502020104020203" pitchFamily="34" charset="0"/>
                      </a:endParaRPr>
                    </a:p>
                  </a:txBody>
                  <a:tcPr marL="4045" marR="4045" marT="4045" marB="0" anchor="b">
                    <a:lnB w="9525" cap="flat" cmpd="sng" algn="ctr">
                      <a:solidFill>
                        <a:srgbClr val="49B1AC"/>
                      </a:solidFill>
                      <a:prstDash val="solid"/>
                      <a:round/>
                      <a:headEnd type="none" w="med" len="med"/>
                      <a:tailEnd type="none" w="med" len="med"/>
                    </a:lnB>
                    <a:solidFill>
                      <a:schemeClr val="bg1"/>
                    </a:solidFill>
                  </a:tcPr>
                </a:tc>
                <a:tc>
                  <a:txBody>
                    <a:bodyPr/>
                    <a:lstStyle/>
                    <a:p>
                      <a:pPr algn="l" fontAlgn="b">
                        <a:buNone/>
                      </a:pPr>
                      <a:r>
                        <a:rPr lang="en-US" sz="1200" u="none" strike="noStrike">
                          <a:effectLst/>
                          <a:latin typeface="Gill Sans MT" panose="020B0502020104020203" pitchFamily="34" charset="0"/>
                        </a:rPr>
                        <a:t>-</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B w="9525" cap="flat" cmpd="sng" algn="ctr">
                      <a:solidFill>
                        <a:srgbClr val="49B1AC"/>
                      </a:solidFill>
                      <a:prstDash val="solid"/>
                      <a:round/>
                      <a:headEnd type="none" w="med" len="med"/>
                      <a:tailEnd type="none" w="med" len="med"/>
                    </a:lnB>
                    <a:solidFill>
                      <a:schemeClr val="bg1"/>
                    </a:solidFill>
                  </a:tcPr>
                </a:tc>
                <a:extLst>
                  <a:ext uri="{0D108BD9-81ED-4DB2-BD59-A6C34878D82A}">
                    <a16:rowId xmlns:a16="http://schemas.microsoft.com/office/drawing/2014/main" val="562460989"/>
                  </a:ext>
                </a:extLst>
              </a:tr>
              <a:tr h="153007">
                <a:tc rowSpan="5">
                  <a:txBody>
                    <a:bodyPr/>
                    <a:lstStyle/>
                    <a:p>
                      <a:pPr algn="l" fontAlgn="t">
                        <a:buNone/>
                      </a:pPr>
                      <a:r>
                        <a:rPr lang="en-US" sz="1200" u="none" strike="noStrike">
                          <a:solidFill>
                            <a:schemeClr val="tx1"/>
                          </a:solidFill>
                          <a:effectLst/>
                          <a:latin typeface="Gill Sans MT" panose="020B0502020104020203" pitchFamily="34" charset="0"/>
                        </a:rPr>
                        <a:t>REGION </a:t>
                      </a:r>
                      <a:endParaRPr lang="en-US" sz="1200" b="1" i="0" u="none" strike="noStrike">
                        <a:solidFill>
                          <a:schemeClr val="tx1"/>
                        </a:solidFill>
                        <a:effectLst/>
                        <a:latin typeface="Gill Sans MT" panose="020B0502020104020203" pitchFamily="34" charset="0"/>
                      </a:endParaRPr>
                    </a:p>
                  </a:txBody>
                  <a:tcPr marL="4045" marR="4045" marT="4045" marB="0">
                    <a:lnL w="9525" cap="flat" cmpd="sng" algn="ctr">
                      <a:solidFill>
                        <a:srgbClr val="36827E"/>
                      </a:solidFill>
                      <a:prstDash val="solid"/>
                      <a:round/>
                      <a:headEnd type="none" w="med" len="med"/>
                      <a:tailEnd type="none" w="med" len="med"/>
                    </a:lnL>
                    <a:lnT w="9525" cap="flat" cmpd="sng" algn="ctr">
                      <a:solidFill>
                        <a:srgbClr val="49B1AC"/>
                      </a:solidFill>
                      <a:prstDash val="solid"/>
                      <a:round/>
                      <a:headEnd type="none" w="med" len="med"/>
                      <a:tailEnd type="none" w="med" len="med"/>
                    </a:lnT>
                    <a:lnB w="9525" cap="flat" cmpd="sng" algn="ctr">
                      <a:noFill/>
                      <a:prstDash val="solid"/>
                      <a:round/>
                      <a:headEnd type="none" w="med" len="med"/>
                      <a:tailEnd type="none" w="med" len="med"/>
                    </a:lnB>
                    <a:solidFill>
                      <a:srgbClr val="BED5D3"/>
                    </a:solidFill>
                  </a:tcPr>
                </a:tc>
                <a:tc>
                  <a:txBody>
                    <a:bodyPr/>
                    <a:lstStyle/>
                    <a:p>
                      <a:pPr algn="l" fontAlgn="t">
                        <a:buNone/>
                      </a:pPr>
                      <a:r>
                        <a:rPr lang="en-US" sz="1200" u="none" strike="noStrike">
                          <a:effectLst/>
                          <a:latin typeface="Gill Sans MT" panose="020B0502020104020203" pitchFamily="34" charset="0"/>
                        </a:rPr>
                        <a:t>Eastern</a:t>
                      </a:r>
                      <a:endParaRPr lang="en-US" sz="1200" b="0" i="0" u="none" strike="noStrike">
                        <a:solidFill>
                          <a:srgbClr val="000000"/>
                        </a:solidFill>
                        <a:effectLst/>
                        <a:latin typeface="Gill Sans MT" panose="020B0502020104020203" pitchFamily="34" charset="0"/>
                      </a:endParaRPr>
                    </a:p>
                  </a:txBody>
                  <a:tcPr marL="4045" marR="4045" marT="4045" marB="0">
                    <a:lnT w="9525" cap="flat" cmpd="sng" algn="ctr">
                      <a:solidFill>
                        <a:srgbClr val="49B1AC"/>
                      </a:solidFill>
                      <a:prstDash val="solid"/>
                      <a:round/>
                      <a:headEnd type="none" w="med" len="med"/>
                      <a:tailEnd type="none" w="med" len="med"/>
                    </a:lnT>
                    <a:solidFill>
                      <a:srgbClr val="F7F9F8"/>
                    </a:solidFill>
                  </a:tcPr>
                </a:tc>
                <a:tc>
                  <a:txBody>
                    <a:bodyPr/>
                    <a:lstStyle/>
                    <a:p>
                      <a:pPr algn="r" fontAlgn="ctr">
                        <a:buNone/>
                      </a:pPr>
                      <a:r>
                        <a:rPr lang="en-US" sz="1200" u="none" strike="noStrike">
                          <a:effectLst/>
                          <a:latin typeface="Gill Sans MT" panose="020B0502020104020203" pitchFamily="34" charset="0"/>
                        </a:rPr>
                        <a:t>78</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ctr">
                        <a:buNone/>
                      </a:pPr>
                      <a:r>
                        <a:rPr lang="en-US" sz="1200" u="none" strike="noStrike">
                          <a:effectLst/>
                          <a:latin typeface="Gill Sans MT" panose="020B0502020104020203" pitchFamily="34" charset="0"/>
                        </a:rPr>
                        <a:t>21.4%</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330</a:t>
                      </a:r>
                      <a:endParaRPr lang="en-US" sz="1200" b="0" i="0" u="none" strike="noStrike">
                        <a:solidFill>
                          <a:srgbClr val="000000"/>
                        </a:solidFill>
                        <a:effectLst/>
                        <a:latin typeface="Gill Sans MT" panose="020B0502020104020203" pitchFamily="34" charset="0"/>
                      </a:endParaRPr>
                    </a:p>
                  </a:txBody>
                  <a:tcPr marL="4045" marR="4045" marT="4045" marB="0" anchor="b">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8.2%</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T w="9525" cap="flat" cmpd="sng" algn="ctr">
                      <a:solidFill>
                        <a:srgbClr val="49B1AC"/>
                      </a:solidFill>
                      <a:prstDash val="solid"/>
                      <a:round/>
                      <a:headEnd type="none" w="med" len="med"/>
                      <a:tailEnd type="none" w="med" len="med"/>
                    </a:lnT>
                    <a:solidFill>
                      <a:schemeClr val="bg1"/>
                    </a:solidFill>
                  </a:tcPr>
                </a:tc>
                <a:extLst>
                  <a:ext uri="{0D108BD9-81ED-4DB2-BD59-A6C34878D82A}">
                    <a16:rowId xmlns:a16="http://schemas.microsoft.com/office/drawing/2014/main" val="1098541232"/>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North-West</a:t>
                      </a:r>
                      <a:endParaRPr lang="en-US" sz="1200" b="0" i="0" u="none" strike="noStrike">
                        <a:solidFill>
                          <a:srgbClr val="000000"/>
                        </a:solidFill>
                        <a:effectLst/>
                        <a:latin typeface="Gill Sans MT" panose="020B0502020104020203" pitchFamily="34" charset="0"/>
                      </a:endParaRPr>
                    </a:p>
                  </a:txBody>
                  <a:tcPr marL="4045" marR="4045" marT="4045" marB="0">
                    <a:solidFill>
                      <a:srgbClr val="F7F9F8"/>
                    </a:solidFill>
                  </a:tcPr>
                </a:tc>
                <a:tc>
                  <a:txBody>
                    <a:bodyPr/>
                    <a:lstStyle/>
                    <a:p>
                      <a:pPr algn="r" fontAlgn="ctr">
                        <a:buNone/>
                      </a:pPr>
                      <a:r>
                        <a:rPr lang="en-US" sz="1200" u="none" strike="noStrike">
                          <a:effectLst/>
                          <a:latin typeface="Gill Sans MT" panose="020B0502020104020203" pitchFamily="34" charset="0"/>
                        </a:rPr>
                        <a:t>74</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20.3%</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234</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8.0%</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219683964"/>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Northern</a:t>
                      </a:r>
                      <a:endParaRPr lang="en-US" sz="1200" b="0" i="0" u="none" strike="noStrike">
                        <a:solidFill>
                          <a:srgbClr val="000000"/>
                        </a:solidFill>
                        <a:effectLst/>
                        <a:latin typeface="Gill Sans MT" panose="020B0502020104020203" pitchFamily="34" charset="0"/>
                      </a:endParaRPr>
                    </a:p>
                  </a:txBody>
                  <a:tcPr marL="4045" marR="4045" marT="4045" marB="0">
                    <a:solidFill>
                      <a:srgbClr val="F7F9F8"/>
                    </a:solidFill>
                  </a:tcPr>
                </a:tc>
                <a:tc>
                  <a:txBody>
                    <a:bodyPr/>
                    <a:lstStyle/>
                    <a:p>
                      <a:pPr algn="r" fontAlgn="ctr">
                        <a:buNone/>
                      </a:pPr>
                      <a:r>
                        <a:rPr lang="en-US" sz="1200" u="none" strike="noStrike">
                          <a:effectLst/>
                          <a:latin typeface="Gill Sans MT" panose="020B0502020104020203" pitchFamily="34" charset="0"/>
                        </a:rPr>
                        <a:t>84</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23.0%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315</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7.7%</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1514361972"/>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Southern</a:t>
                      </a:r>
                      <a:endParaRPr lang="en-US" sz="1200" b="0" i="0" u="none" strike="noStrike">
                        <a:solidFill>
                          <a:srgbClr val="000000"/>
                        </a:solidFill>
                        <a:effectLst/>
                        <a:latin typeface="Gill Sans MT" panose="020B0502020104020203" pitchFamily="34" charset="0"/>
                      </a:endParaRPr>
                    </a:p>
                  </a:txBody>
                  <a:tcPr marL="4045" marR="4045" marT="4045" marB="0">
                    <a:solidFill>
                      <a:srgbClr val="F7F9F8"/>
                    </a:solidFill>
                  </a:tcPr>
                </a:tc>
                <a:tc>
                  <a:txBody>
                    <a:bodyPr/>
                    <a:lstStyle/>
                    <a:p>
                      <a:pPr algn="r" fontAlgn="ctr">
                        <a:buNone/>
                      </a:pPr>
                      <a:r>
                        <a:rPr lang="en-US" sz="1200" u="none" strike="noStrike">
                          <a:effectLst/>
                          <a:latin typeface="Gill Sans MT" panose="020B0502020104020203" pitchFamily="34" charset="0"/>
                        </a:rPr>
                        <a:t>87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23.8%</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458</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8.0%</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212566097"/>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Western-Area</a:t>
                      </a:r>
                      <a:endParaRPr lang="en-US" sz="1200" b="0" i="0" u="none" strike="noStrike">
                        <a:solidFill>
                          <a:srgbClr val="000000"/>
                        </a:solidFill>
                        <a:effectLst/>
                        <a:latin typeface="Gill Sans MT" panose="020B0502020104020203" pitchFamily="34" charset="0"/>
                      </a:endParaRPr>
                    </a:p>
                  </a:txBody>
                  <a:tcPr marL="4045" marR="4045" marT="4045" marB="0">
                    <a:lnB w="9525" cap="flat" cmpd="sng" algn="ctr">
                      <a:solidFill>
                        <a:srgbClr val="49B1AC"/>
                      </a:solidFill>
                      <a:prstDash val="solid"/>
                      <a:round/>
                      <a:headEnd type="none" w="med" len="med"/>
                      <a:tailEnd type="none" w="med" len="med"/>
                    </a:lnB>
                    <a:solidFill>
                      <a:srgbClr val="F7F9F8"/>
                    </a:solidFill>
                  </a:tcPr>
                </a:tc>
                <a:tc>
                  <a:txBody>
                    <a:bodyPr/>
                    <a:lstStyle/>
                    <a:p>
                      <a:pPr algn="r" fontAlgn="ctr">
                        <a:buNone/>
                      </a:pPr>
                      <a:r>
                        <a:rPr lang="en-US" sz="1200" u="none" strike="noStrike">
                          <a:effectLst/>
                          <a:latin typeface="Gill Sans MT" panose="020B0502020104020203" pitchFamily="34" charset="0"/>
                        </a:rPr>
                        <a:t>42</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r" fontAlgn="ctr">
                        <a:buNone/>
                      </a:pPr>
                      <a:r>
                        <a:rPr lang="en-US" sz="1200" u="none" strike="noStrike">
                          <a:effectLst/>
                          <a:latin typeface="Gill Sans MT" panose="020B0502020104020203" pitchFamily="34" charset="0"/>
                        </a:rPr>
                        <a:t>11.5%</a:t>
                      </a:r>
                      <a:endParaRPr lang="en-US" sz="1200" b="0" i="0" u="none" strike="noStrike">
                        <a:solidFill>
                          <a:srgbClr val="000000"/>
                        </a:solidFill>
                        <a:effectLst/>
                        <a:latin typeface="Gill Sans MT" panose="020B0502020104020203" pitchFamily="34" charset="0"/>
                      </a:endParaRPr>
                    </a:p>
                  </a:txBody>
                  <a:tcPr marL="4045" marR="4045" marT="4045" marB="0" anchor="ctr">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u="none" strike="noStrike">
                          <a:effectLst/>
                          <a:latin typeface="Gill Sans MT" panose="020B0502020104020203" pitchFamily="34" charset="0"/>
                        </a:rPr>
                        <a:t>121</a:t>
                      </a:r>
                      <a:endParaRPr lang="en-US" sz="1200" b="0" i="0" u="none" strike="noStrike">
                        <a:solidFill>
                          <a:srgbClr val="000000"/>
                        </a:solidFill>
                        <a:effectLst/>
                        <a:latin typeface="Gill Sans MT" panose="020B0502020104020203" pitchFamily="34" charset="0"/>
                      </a:endParaRPr>
                    </a:p>
                  </a:txBody>
                  <a:tcPr marL="4045" marR="4045" marT="4045" marB="0" anchor="b">
                    <a:lnB w="9525" cap="flat" cmpd="sng" algn="ctr">
                      <a:solidFill>
                        <a:srgbClr val="49B1AC"/>
                      </a:solidFill>
                      <a:prstDash val="solid"/>
                      <a:round/>
                      <a:headEnd type="none" w="med" len="med"/>
                      <a:tailEnd type="none" w="med" len="med"/>
                    </a:lnB>
                    <a:solidFill>
                      <a:schemeClr val="bg1"/>
                    </a:solidFill>
                  </a:tcPr>
                </a:tc>
                <a:tc>
                  <a:txBody>
                    <a:bodyPr/>
                    <a:lstStyle/>
                    <a:p>
                      <a:pPr algn="r" fontAlgn="b">
                        <a:buNone/>
                      </a:pPr>
                      <a:r>
                        <a:rPr lang="en-US" sz="1200" u="none" strike="noStrike">
                          <a:effectLst/>
                          <a:latin typeface="Gill Sans MT" panose="020B0502020104020203" pitchFamily="34" charset="0"/>
                        </a:rPr>
                        <a:t>10.3%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B w="9525" cap="flat" cmpd="sng" algn="ctr">
                      <a:solidFill>
                        <a:srgbClr val="49B1AC"/>
                      </a:solidFill>
                      <a:prstDash val="solid"/>
                      <a:round/>
                      <a:headEnd type="none" w="med" len="med"/>
                      <a:tailEnd type="none" w="med" len="med"/>
                    </a:lnB>
                    <a:solidFill>
                      <a:schemeClr val="bg1"/>
                    </a:solidFill>
                  </a:tcPr>
                </a:tc>
                <a:extLst>
                  <a:ext uri="{0D108BD9-81ED-4DB2-BD59-A6C34878D82A}">
                    <a16:rowId xmlns:a16="http://schemas.microsoft.com/office/drawing/2014/main" val="2121585911"/>
                  </a:ext>
                </a:extLst>
              </a:tr>
              <a:tr h="153007">
                <a:tc rowSpan="16">
                  <a:txBody>
                    <a:bodyPr/>
                    <a:lstStyle/>
                    <a:p>
                      <a:pPr algn="l" fontAlgn="t">
                        <a:buNone/>
                      </a:pPr>
                      <a:r>
                        <a:rPr lang="en-US" sz="1200" u="none" strike="noStrike">
                          <a:solidFill>
                            <a:schemeClr val="tx1"/>
                          </a:solidFill>
                          <a:effectLst/>
                          <a:latin typeface="Gill Sans MT" panose="020B0502020104020203" pitchFamily="34" charset="0"/>
                        </a:rPr>
                        <a:t>DISTRICT</a:t>
                      </a:r>
                      <a:endParaRPr lang="en-US" sz="1200" b="1" i="0" u="none" strike="noStrike">
                        <a:solidFill>
                          <a:schemeClr val="tx1"/>
                        </a:solidFill>
                        <a:effectLst/>
                        <a:latin typeface="Gill Sans MT" panose="020B0502020104020203" pitchFamily="34" charset="0"/>
                      </a:endParaRPr>
                    </a:p>
                  </a:txBody>
                  <a:tcPr marL="4045" marR="4045" marT="4045" marB="0">
                    <a:lnL w="9525" cap="flat" cmpd="sng" algn="ctr">
                      <a:solidFill>
                        <a:srgbClr val="36827E"/>
                      </a:solid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rgbClr val="BED5D3"/>
                    </a:solidFill>
                  </a:tcPr>
                </a:tc>
                <a:tc>
                  <a:txBody>
                    <a:bodyPr/>
                    <a:lstStyle/>
                    <a:p>
                      <a:pPr algn="l" fontAlgn="t">
                        <a:buNone/>
                      </a:pPr>
                      <a:r>
                        <a:rPr lang="en-US" sz="1200" u="none" strike="noStrike">
                          <a:effectLst/>
                          <a:latin typeface="Gill Sans MT" panose="020B0502020104020203" pitchFamily="34" charset="0"/>
                        </a:rPr>
                        <a:t>Bo</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lnT w="9525" cap="flat" cmpd="sng" algn="ctr">
                      <a:solidFill>
                        <a:srgbClr val="49B1AC"/>
                      </a:solidFill>
                      <a:prstDash val="solid"/>
                      <a:round/>
                      <a:headEnd type="none" w="med" len="med"/>
                      <a:tailEnd type="none" w="med" len="med"/>
                    </a:lnT>
                    <a:solidFill>
                      <a:srgbClr val="F7F9F8"/>
                    </a:solidFill>
                  </a:tcPr>
                </a:tc>
                <a:tc>
                  <a:txBody>
                    <a:bodyPr/>
                    <a:lstStyle/>
                    <a:p>
                      <a:pPr algn="r" fontAlgn="ctr">
                        <a:buNone/>
                      </a:pPr>
                      <a:r>
                        <a:rPr lang="en-US" sz="1200" u="none" strike="noStrike">
                          <a:effectLst/>
                          <a:latin typeface="Gill Sans MT" panose="020B0502020104020203" pitchFamily="34" charset="0"/>
                        </a:rPr>
                        <a:t>25</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ctr">
                        <a:buNone/>
                      </a:pPr>
                      <a:r>
                        <a:rPr lang="en-US" sz="1200" u="none" strike="noStrike">
                          <a:effectLst/>
                          <a:latin typeface="Gill Sans MT" panose="020B0502020104020203" pitchFamily="34" charset="0"/>
                        </a:rPr>
                        <a:t>6.8%</a:t>
                      </a:r>
                      <a:endParaRPr lang="en-US" sz="1200" b="0" i="0" u="none" strike="noStrike">
                        <a:solidFill>
                          <a:srgbClr val="000000"/>
                        </a:solidFill>
                        <a:effectLst/>
                        <a:latin typeface="Gill Sans MT" panose="020B0502020104020203" pitchFamily="34" charset="0"/>
                      </a:endParaRPr>
                    </a:p>
                  </a:txBody>
                  <a:tcPr marL="4045" marR="4045" marT="4045" marB="0" anchor="ctr">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151</a:t>
                      </a:r>
                      <a:endParaRPr lang="en-US" sz="1200" b="0" i="0" u="none" strike="noStrike">
                        <a:solidFill>
                          <a:srgbClr val="000000"/>
                        </a:solidFill>
                        <a:effectLst/>
                        <a:latin typeface="Gill Sans MT" panose="020B0502020104020203" pitchFamily="34" charset="0"/>
                      </a:endParaRPr>
                    </a:p>
                  </a:txBody>
                  <a:tcPr marL="4045" marR="4045" marT="4045" marB="0" anchor="b">
                    <a:lnT w="9525" cap="flat" cmpd="sng" algn="ctr">
                      <a:solidFill>
                        <a:srgbClr val="49B1AC"/>
                      </a:solidFill>
                      <a:prstDash val="solid"/>
                      <a:round/>
                      <a:headEnd type="none" w="med" len="med"/>
                      <a:tailEnd type="none" w="med" len="med"/>
                    </a:lnT>
                    <a:solidFill>
                      <a:schemeClr val="bg1"/>
                    </a:solidFill>
                  </a:tcPr>
                </a:tc>
                <a:tc>
                  <a:txBody>
                    <a:bodyPr/>
                    <a:lstStyle/>
                    <a:p>
                      <a:pPr algn="r" fontAlgn="b">
                        <a:buNone/>
                      </a:pPr>
                      <a:r>
                        <a:rPr lang="en-US" sz="1200" u="none" strike="noStrike">
                          <a:effectLst/>
                          <a:latin typeface="Gill Sans MT" panose="020B0502020104020203" pitchFamily="34" charset="0"/>
                        </a:rPr>
                        <a:t>15.1%</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lnT w="9525" cap="flat" cmpd="sng" algn="ctr">
                      <a:solidFill>
                        <a:srgbClr val="49B1AC"/>
                      </a:solidFill>
                      <a:prstDash val="solid"/>
                      <a:round/>
                      <a:headEnd type="none" w="med" len="med"/>
                      <a:tailEnd type="none" w="med" len="med"/>
                    </a:lnT>
                    <a:solidFill>
                      <a:schemeClr val="bg1"/>
                    </a:solidFill>
                  </a:tcPr>
                </a:tc>
                <a:extLst>
                  <a:ext uri="{0D108BD9-81ED-4DB2-BD59-A6C34878D82A}">
                    <a16:rowId xmlns:a16="http://schemas.microsoft.com/office/drawing/2014/main" val="1294707627"/>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Bombali</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22</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6.0%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83</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15.2%</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743023317"/>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Bonthe</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17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4.7%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92</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18.2%</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1999901676"/>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Falaba</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12</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3.3%</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50</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21.0%</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141650705"/>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Kailahun</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5.5%</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89</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16.3%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883708474"/>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Kambia</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25</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6.8%</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70</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13.3%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129437683"/>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Karene</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22</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6.0%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61</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14.2%</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64177468"/>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Kenema</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30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8.2%</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135</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13.3%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369164120"/>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Koinadugu</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17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4.7%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70</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17.5%</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2216552053"/>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Kono</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28</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7.7%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106</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13.4%</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038045664"/>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Moyamba</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21</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5.8%</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110</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16.3%</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380232581"/>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Port Loko</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27</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7.4%</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103</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13.7%</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151170725"/>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Pujehun</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24</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6.6%</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105</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14.9%</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989202823"/>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Tonkolili</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solidFill>
                      <a:srgbClr val="F7F9F8"/>
                    </a:solidFill>
                  </a:tcPr>
                </a:tc>
                <a:tc>
                  <a:txBody>
                    <a:bodyPr/>
                    <a:lstStyle/>
                    <a:p>
                      <a:pPr algn="r" fontAlgn="ctr">
                        <a:buNone/>
                      </a:pPr>
                      <a:r>
                        <a:rPr lang="en-US" sz="1200" u="none" strike="noStrike">
                          <a:effectLst/>
                          <a:latin typeface="Gill Sans MT" panose="020B0502020104020203" pitchFamily="34" charset="0"/>
                        </a:rPr>
                        <a:t>33</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ctr">
                        <a:buNone/>
                      </a:pPr>
                      <a:r>
                        <a:rPr lang="en-US" sz="1200" u="none" strike="noStrike">
                          <a:effectLst/>
                          <a:latin typeface="Gill Sans MT" panose="020B0502020104020203" pitchFamily="34" charset="0"/>
                        </a:rPr>
                        <a:t>9.0%</a:t>
                      </a:r>
                      <a:endParaRPr lang="en-US" sz="1200" b="0" i="0" u="none" strike="noStrike">
                        <a:solidFill>
                          <a:srgbClr val="000000"/>
                        </a:solidFill>
                        <a:effectLst/>
                        <a:latin typeface="Gill Sans MT" panose="020B0502020104020203" pitchFamily="34" charset="0"/>
                      </a:endParaRPr>
                    </a:p>
                  </a:txBody>
                  <a:tcPr marL="4045" marR="4045" marT="4045" marB="0" anchor="ctr">
                    <a:solidFill>
                      <a:schemeClr val="bg1"/>
                    </a:solidFill>
                  </a:tcPr>
                </a:tc>
                <a:tc>
                  <a:txBody>
                    <a:bodyPr/>
                    <a:lstStyle/>
                    <a:p>
                      <a:pPr algn="r" fontAlgn="b">
                        <a:buNone/>
                      </a:pPr>
                      <a:r>
                        <a:rPr lang="en-US" sz="1200" u="none" strike="noStrike">
                          <a:effectLst/>
                          <a:latin typeface="Gill Sans MT" panose="020B0502020104020203" pitchFamily="34" charset="0"/>
                        </a:rPr>
                        <a:t>112</a:t>
                      </a:r>
                      <a:endParaRPr lang="en-US" sz="1200" b="0" i="0" u="none" strike="noStrike">
                        <a:solidFill>
                          <a:srgbClr val="000000"/>
                        </a:solidFill>
                        <a:effectLst/>
                        <a:latin typeface="Gill Sans MT" panose="020B0502020104020203" pitchFamily="34" charset="0"/>
                      </a:endParaRPr>
                    </a:p>
                  </a:txBody>
                  <a:tcPr marL="4045" marR="4045" marT="4045" marB="0" anchor="b">
                    <a:solidFill>
                      <a:schemeClr val="bg1"/>
                    </a:solidFill>
                  </a:tcPr>
                </a:tc>
                <a:tc>
                  <a:txBody>
                    <a:bodyPr/>
                    <a:lstStyle/>
                    <a:p>
                      <a:pPr algn="r" fontAlgn="b">
                        <a:buNone/>
                      </a:pPr>
                      <a:r>
                        <a:rPr lang="en-US" sz="1200" u="none" strike="noStrike">
                          <a:effectLst/>
                          <a:latin typeface="Gill Sans MT" panose="020B0502020104020203" pitchFamily="34" charset="0"/>
                        </a:rPr>
                        <a:t>12.1%</a:t>
                      </a:r>
                      <a:endParaRPr lang="en-US" sz="1200" b="0" i="0" u="none" strike="noStrike">
                        <a:solidFill>
                          <a:srgbClr val="000000"/>
                        </a:solidFill>
                        <a:effectLst/>
                        <a:latin typeface="Gill Sans MT" panose="020B0502020104020203" pitchFamily="34" charset="0"/>
                      </a:endParaRPr>
                    </a:p>
                  </a:txBody>
                  <a:tcPr marL="4045" marR="4045" marT="4045" marB="0" anchor="b">
                    <a:lnR w="9525" cap="flat" cmpd="sng" algn="ctr">
                      <a:solidFill>
                        <a:srgbClr val="36827E"/>
                      </a:solidFill>
                      <a:prstDash val="solid"/>
                      <a:round/>
                      <a:headEnd type="none" w="med" len="med"/>
                      <a:tailEnd type="none" w="med" len="med"/>
                    </a:lnR>
                    <a:solidFill>
                      <a:schemeClr val="bg1"/>
                    </a:solidFill>
                  </a:tcPr>
                </a:tc>
                <a:extLst>
                  <a:ext uri="{0D108BD9-81ED-4DB2-BD59-A6C34878D82A}">
                    <a16:rowId xmlns:a16="http://schemas.microsoft.com/office/drawing/2014/main" val="39550881"/>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Western Area Rural</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lnB w="12700" cmpd="sng">
                      <a:noFill/>
                    </a:lnB>
                    <a:solidFill>
                      <a:srgbClr val="F7F9F8"/>
                    </a:solidFill>
                  </a:tcPr>
                </a:tc>
                <a:tc>
                  <a:txBody>
                    <a:bodyPr/>
                    <a:lstStyle/>
                    <a:p>
                      <a:pPr algn="r" fontAlgn="ctr">
                        <a:buNone/>
                      </a:pPr>
                      <a:r>
                        <a:rPr lang="en-US" sz="1200" u="none" strike="noStrike">
                          <a:effectLst/>
                          <a:latin typeface="Gill Sans MT" panose="020B0502020104020203" pitchFamily="34" charset="0"/>
                        </a:rPr>
                        <a:t>28</a:t>
                      </a:r>
                      <a:endParaRPr lang="en-US" sz="1200" b="0" i="0" u="none" strike="noStrike">
                        <a:solidFill>
                          <a:srgbClr val="000000"/>
                        </a:solidFill>
                        <a:effectLst/>
                        <a:latin typeface="Gill Sans MT" panose="020B0502020104020203" pitchFamily="34" charset="0"/>
                      </a:endParaRPr>
                    </a:p>
                  </a:txBody>
                  <a:tcPr marL="4045" marR="4045" marT="4045" marB="0" anchor="ctr">
                    <a:lnB w="12700" cmpd="sng">
                      <a:noFill/>
                    </a:lnB>
                    <a:solidFill>
                      <a:schemeClr val="bg1"/>
                    </a:solidFill>
                  </a:tcPr>
                </a:tc>
                <a:tc>
                  <a:txBody>
                    <a:bodyPr/>
                    <a:lstStyle/>
                    <a:p>
                      <a:pPr algn="r" fontAlgn="ctr">
                        <a:buNone/>
                      </a:pPr>
                      <a:r>
                        <a:rPr lang="en-US" sz="1200" u="none" strike="noStrike">
                          <a:effectLst/>
                          <a:latin typeface="Gill Sans MT" panose="020B0502020104020203" pitchFamily="34" charset="0"/>
                        </a:rPr>
                        <a:t>7.7%</a:t>
                      </a:r>
                      <a:endParaRPr lang="en-US" sz="1200" b="0" i="0" u="none" strike="noStrike">
                        <a:solidFill>
                          <a:srgbClr val="000000"/>
                        </a:solidFill>
                        <a:effectLst/>
                        <a:latin typeface="Gill Sans MT" panose="020B0502020104020203" pitchFamily="34" charset="0"/>
                      </a:endParaRPr>
                    </a:p>
                  </a:txBody>
                  <a:tcPr marL="4045" marR="4045" marT="4045" marB="0" anchor="ctr">
                    <a:lnB w="12700" cmpd="sng">
                      <a:noFill/>
                    </a:lnB>
                    <a:solidFill>
                      <a:schemeClr val="bg1"/>
                    </a:solidFill>
                  </a:tcPr>
                </a:tc>
                <a:tc>
                  <a:txBody>
                    <a:bodyPr/>
                    <a:lstStyle/>
                    <a:p>
                      <a:pPr algn="r" fontAlgn="b">
                        <a:buNone/>
                      </a:pPr>
                      <a:r>
                        <a:rPr lang="en-US" sz="1200" u="none" strike="noStrike">
                          <a:effectLst/>
                          <a:latin typeface="Gill Sans MT" panose="020B0502020104020203" pitchFamily="34" charset="0"/>
                        </a:rPr>
                        <a:t>57</a:t>
                      </a:r>
                      <a:endParaRPr lang="en-US" sz="1200" b="0" i="0" u="none" strike="noStrike">
                        <a:solidFill>
                          <a:srgbClr val="000000"/>
                        </a:solidFill>
                        <a:effectLst/>
                        <a:latin typeface="Gill Sans MT" panose="020B0502020104020203" pitchFamily="34" charset="0"/>
                      </a:endParaRPr>
                    </a:p>
                  </a:txBody>
                  <a:tcPr marL="4045" marR="4045" marT="4045" marB="0" anchor="b">
                    <a:lnB w="12700" cmpd="sng">
                      <a:noFill/>
                    </a:lnB>
                    <a:solidFill>
                      <a:schemeClr val="bg1"/>
                    </a:solidFill>
                  </a:tcPr>
                </a:tc>
                <a:tc>
                  <a:txBody>
                    <a:bodyPr/>
                    <a:lstStyle/>
                    <a:p>
                      <a:pPr algn="r" fontAlgn="ctr">
                        <a:buNone/>
                      </a:pPr>
                      <a:r>
                        <a:rPr lang="en-US" sz="1200" u="none" strike="noStrike">
                          <a:effectLst/>
                          <a:latin typeface="Gill Sans MT" panose="020B0502020104020203" pitchFamily="34" charset="0"/>
                        </a:rPr>
                        <a:t>11.2%</a:t>
                      </a:r>
                      <a:endParaRPr lang="en-US" sz="1200" b="0" i="0" u="none" strike="noStrike">
                        <a:solidFill>
                          <a:srgbClr val="000000"/>
                        </a:solidFill>
                        <a:effectLst/>
                        <a:latin typeface="Gill Sans MT" panose="020B0502020104020203" pitchFamily="34" charset="0"/>
                      </a:endParaRPr>
                    </a:p>
                  </a:txBody>
                  <a:tcPr marL="4045" marR="4045" marT="4045" marB="0" anchor="ctr">
                    <a:lnR w="9525" cap="flat" cmpd="sng" algn="ctr">
                      <a:solidFill>
                        <a:srgbClr val="36827E"/>
                      </a:solidFill>
                      <a:prstDash val="solid"/>
                      <a:round/>
                      <a:headEnd type="none" w="med" len="med"/>
                      <a:tailEnd type="none" w="med" len="med"/>
                    </a:lnR>
                    <a:lnB w="12700" cmpd="sng">
                      <a:noFill/>
                    </a:lnB>
                    <a:solidFill>
                      <a:schemeClr val="bg1"/>
                    </a:solidFill>
                  </a:tcPr>
                </a:tc>
                <a:extLst>
                  <a:ext uri="{0D108BD9-81ED-4DB2-BD59-A6C34878D82A}">
                    <a16:rowId xmlns:a16="http://schemas.microsoft.com/office/drawing/2014/main" val="2421107252"/>
                  </a:ext>
                </a:extLst>
              </a:tr>
              <a:tr h="153007">
                <a:tc vMerge="1">
                  <a:txBody>
                    <a:bodyPr/>
                    <a:lstStyle/>
                    <a:p>
                      <a:endParaRPr lang="en-US"/>
                    </a:p>
                  </a:txBody>
                  <a:tcPr/>
                </a:tc>
                <a:tc>
                  <a:txBody>
                    <a:bodyPr/>
                    <a:lstStyle/>
                    <a:p>
                      <a:pPr algn="l" fontAlgn="t">
                        <a:buNone/>
                      </a:pPr>
                      <a:r>
                        <a:rPr lang="en-US" sz="1200" u="none" strike="noStrike">
                          <a:effectLst/>
                          <a:latin typeface="Gill Sans MT" panose="020B0502020104020203" pitchFamily="34" charset="0"/>
                        </a:rPr>
                        <a:t>Western Area Urban</a:t>
                      </a:r>
                      <a:endParaRPr lang="en-US" sz="1200" b="0" i="0" u="none" strike="noStrike">
                        <a:solidFill>
                          <a:srgbClr val="000000"/>
                        </a:solidFill>
                        <a:effectLst/>
                        <a:latin typeface="Gill Sans MT" panose="020B0502020104020203" pitchFamily="34" charset="0"/>
                      </a:endParaRPr>
                    </a:p>
                  </a:txBody>
                  <a:tcPr marL="4045" marR="4045" marT="4045" marB="0">
                    <a:lnL w="12700" cmpd="sng">
                      <a:noFill/>
                    </a:lnL>
                    <a:lnR w="12700" cmpd="sng">
                      <a:noFill/>
                    </a:lnR>
                    <a:lnT w="12700" cmpd="sng">
                      <a:noFill/>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rgbClr val="F7F9F8"/>
                    </a:solidFill>
                  </a:tcPr>
                </a:tc>
                <a:tc>
                  <a:txBody>
                    <a:bodyPr/>
                    <a:lstStyle/>
                    <a:p>
                      <a:pPr algn="r" fontAlgn="ctr">
                        <a:buNone/>
                      </a:pPr>
                      <a:r>
                        <a:rPr lang="en-US" sz="1200" u="none" strike="noStrike">
                          <a:effectLst/>
                          <a:latin typeface="Gill Sans MT" panose="020B0502020104020203" pitchFamily="34" charset="0"/>
                        </a:rPr>
                        <a:t>14</a:t>
                      </a:r>
                      <a:endParaRPr lang="en-US" sz="1200" b="0" i="0" u="none" strike="noStrike">
                        <a:solidFill>
                          <a:srgbClr val="000000"/>
                        </a:solidFill>
                        <a:effectLst/>
                        <a:latin typeface="Gill Sans MT" panose="020B0502020104020203" pitchFamily="34" charset="0"/>
                      </a:endParaRPr>
                    </a:p>
                  </a:txBody>
                  <a:tcPr marL="4045" marR="4045" marT="4045" marB="0" anchor="ctr">
                    <a:lnL w="12700" cmpd="sng">
                      <a:noFill/>
                    </a:lnL>
                    <a:lnR w="12700" cmpd="sng">
                      <a:noFill/>
                    </a:lnR>
                    <a:lnT w="12700" cmpd="sng">
                      <a:noFill/>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1200" u="none" strike="noStrike">
                          <a:effectLst/>
                          <a:latin typeface="Gill Sans MT" panose="020B0502020104020203" pitchFamily="34" charset="0"/>
                        </a:rPr>
                        <a:t>3.8%</a:t>
                      </a:r>
                      <a:endParaRPr lang="en-US" sz="1200" b="0" i="0" u="none" strike="noStrike">
                        <a:solidFill>
                          <a:srgbClr val="000000"/>
                        </a:solidFill>
                        <a:effectLst/>
                        <a:latin typeface="Gill Sans MT" panose="020B0502020104020203" pitchFamily="34" charset="0"/>
                      </a:endParaRPr>
                    </a:p>
                  </a:txBody>
                  <a:tcPr marL="4045" marR="4045" marT="4045" marB="0" anchor="ctr">
                    <a:lnL w="12700" cmpd="sng">
                      <a:noFill/>
                    </a:lnL>
                    <a:lnR w="12700" cmpd="sng">
                      <a:noFill/>
                    </a:lnR>
                    <a:lnT w="12700" cmpd="sng">
                      <a:noFill/>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buNone/>
                      </a:pPr>
                      <a:r>
                        <a:rPr lang="en-US" sz="1200" u="none" strike="noStrike">
                          <a:effectLst/>
                          <a:latin typeface="Gill Sans MT" panose="020B0502020104020203" pitchFamily="34" charset="0"/>
                        </a:rPr>
                        <a:t>64</a:t>
                      </a:r>
                      <a:endParaRPr lang="en-US" sz="1200" b="0" i="0" u="none" strike="noStrike">
                        <a:solidFill>
                          <a:srgbClr val="000000"/>
                        </a:solidFill>
                        <a:effectLst/>
                        <a:latin typeface="Gill Sans MT" panose="020B0502020104020203" pitchFamily="34" charset="0"/>
                      </a:endParaRPr>
                    </a:p>
                  </a:txBody>
                  <a:tcPr marL="4045" marR="4045" marT="4045" marB="0" anchor="b">
                    <a:lnL w="12700" cmpd="sng">
                      <a:noFill/>
                    </a:lnL>
                    <a:lnR w="12700" cmpd="sng">
                      <a:noFill/>
                    </a:lnR>
                    <a:lnT w="12700" cmpd="sng">
                      <a:noFill/>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buNone/>
                      </a:pPr>
                      <a:r>
                        <a:rPr lang="en-US" sz="1200" u="none" strike="noStrike">
                          <a:effectLst/>
                          <a:latin typeface="Gill Sans MT" panose="020B0502020104020203" pitchFamily="34" charset="0"/>
                        </a:rPr>
                        <a:t>19.6%</a:t>
                      </a:r>
                      <a:endParaRPr lang="en-US" sz="1200" b="0" i="0" u="none" strike="noStrike">
                        <a:solidFill>
                          <a:srgbClr val="000000"/>
                        </a:solidFill>
                        <a:effectLst/>
                        <a:latin typeface="Gill Sans MT" panose="020B0502020104020203" pitchFamily="34" charset="0"/>
                      </a:endParaRPr>
                    </a:p>
                  </a:txBody>
                  <a:tcPr marL="4045" marR="4045" marT="4045" marB="0" anchor="b">
                    <a:lnL w="12700" cmpd="sng">
                      <a:noFill/>
                    </a:lnL>
                    <a:lnR w="9525" cap="flat" cmpd="sng" algn="ctr">
                      <a:solidFill>
                        <a:srgbClr val="36827E"/>
                      </a:solidFill>
                      <a:prstDash val="solid"/>
                      <a:round/>
                      <a:headEnd type="none" w="med" len="med"/>
                      <a:tailEnd type="none" w="med" len="med"/>
                    </a:lnR>
                    <a:lnT w="12700" cmpd="sng">
                      <a:noFill/>
                    </a:lnT>
                    <a:lnB w="9525" cap="flat" cmpd="sng" algn="ctr">
                      <a:solidFill>
                        <a:srgbClr val="36827E"/>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20672430"/>
                  </a:ext>
                </a:extLst>
              </a:tr>
            </a:tbl>
          </a:graphicData>
        </a:graphic>
      </p:graphicFrame>
      <p:sp>
        <p:nvSpPr>
          <p:cNvPr id="5" name="TextBox 4">
            <a:extLst>
              <a:ext uri="{FF2B5EF4-FFF2-40B4-BE49-F238E27FC236}">
                <a16:creationId xmlns:a16="http://schemas.microsoft.com/office/drawing/2014/main" id="{50D39D1F-E79A-AA37-F48C-4A81ED228B76}"/>
              </a:ext>
            </a:extLst>
          </p:cNvPr>
          <p:cNvSpPr txBox="1"/>
          <p:nvPr/>
        </p:nvSpPr>
        <p:spPr>
          <a:xfrm>
            <a:off x="376517" y="143435"/>
            <a:ext cx="11544802" cy="369332"/>
          </a:xfrm>
          <a:prstGeom prst="rect">
            <a:avLst/>
          </a:prstGeom>
          <a:noFill/>
        </p:spPr>
        <p:txBody>
          <a:bodyPr wrap="square" rtlCol="0">
            <a:spAutoFit/>
          </a:bodyPr>
          <a:lstStyle/>
          <a:p>
            <a:r>
              <a:rPr lang="en-US" b="1">
                <a:solidFill>
                  <a:srgbClr val="095457"/>
                </a:solidFill>
                <a:latin typeface="Poppins" panose="00000500000000000000" pitchFamily="2" charset="0"/>
                <a:cs typeface="Poppins" panose="00000500000000000000" pitchFamily="2" charset="0"/>
              </a:rPr>
              <a:t>SURVEY SAMPLE | </a:t>
            </a:r>
            <a:r>
              <a:rPr lang="en-US">
                <a:solidFill>
                  <a:srgbClr val="095457"/>
                </a:solidFill>
                <a:latin typeface="Poppins" panose="00000500000000000000" pitchFamily="2" charset="0"/>
                <a:cs typeface="Poppins" panose="00000500000000000000" pitchFamily="2" charset="0"/>
              </a:rPr>
              <a:t>DISTRIBUTION AND MARGINS OF ERROR </a:t>
            </a:r>
            <a:r>
              <a:rPr lang="en-US" sz="1200">
                <a:latin typeface="Poppins" panose="00000500000000000000" pitchFamily="2" charset="0"/>
                <a:cs typeface="Poppins" panose="00000500000000000000" pitchFamily="2" charset="0"/>
              </a:rPr>
              <a:t>Sierra Leone Rapid HFA, Round 1 (Jan 2026)</a:t>
            </a:r>
            <a:endParaRPr lang="en-US">
              <a:latin typeface="Poppins" panose="00000500000000000000" pitchFamily="2" charset="0"/>
              <a:cs typeface="Poppins" panose="00000500000000000000" pitchFamily="2" charset="0"/>
            </a:endParaRPr>
          </a:p>
        </p:txBody>
      </p:sp>
      <p:sp>
        <p:nvSpPr>
          <p:cNvPr id="6" name="TextBox 5">
            <a:extLst>
              <a:ext uri="{FF2B5EF4-FFF2-40B4-BE49-F238E27FC236}">
                <a16:creationId xmlns:a16="http://schemas.microsoft.com/office/drawing/2014/main" id="{2C2E226C-BDE1-11AA-5E39-124C9D13E352}"/>
              </a:ext>
            </a:extLst>
          </p:cNvPr>
          <p:cNvSpPr txBox="1"/>
          <p:nvPr/>
        </p:nvSpPr>
        <p:spPr>
          <a:xfrm>
            <a:off x="395311" y="6370681"/>
            <a:ext cx="11157207" cy="338554"/>
          </a:xfrm>
          <a:prstGeom prst="rect">
            <a:avLst/>
          </a:prstGeom>
          <a:noFill/>
        </p:spPr>
        <p:txBody>
          <a:bodyPr wrap="square" rtlCol="0">
            <a:spAutoFit/>
          </a:bodyPr>
          <a:lstStyle/>
          <a:p>
            <a:r>
              <a:rPr lang="en-US" sz="800" b="1">
                <a:solidFill>
                  <a:srgbClr val="000000"/>
                </a:solidFill>
                <a:latin typeface="Poppins" panose="00000500000000000000" pitchFamily="2" charset="0"/>
                <a:ea typeface="Roboto" panose="02000000000000000000" pitchFamily="2" charset="0"/>
                <a:cs typeface="Poppins" panose="00000500000000000000" pitchFamily="2" charset="0"/>
              </a:rPr>
              <a:t>I</a:t>
            </a:r>
            <a:r>
              <a:rPr lang="en-US" sz="800" b="1">
                <a:solidFill>
                  <a:srgbClr val="000000"/>
                </a:solidFill>
                <a:effectLst/>
                <a:latin typeface="Poppins" panose="00000500000000000000" pitchFamily="2" charset="0"/>
                <a:ea typeface="Roboto" panose="02000000000000000000" pitchFamily="2" charset="0"/>
                <a:cs typeface="Poppins" panose="00000500000000000000" pitchFamily="2" charset="0"/>
              </a:rPr>
              <a:t>nterpretation : </a:t>
            </a:r>
            <a:r>
              <a:rPr lang="en-US" sz="800">
                <a:solidFill>
                  <a:srgbClr val="000000"/>
                </a:solidFill>
                <a:effectLst/>
                <a:latin typeface="Poppins" panose="00000500000000000000" pitchFamily="2" charset="0"/>
                <a:ea typeface="Roboto" panose="02000000000000000000" pitchFamily="2" charset="0"/>
                <a:cs typeface="Poppins" panose="00000500000000000000" pitchFamily="2" charset="0"/>
              </a:rPr>
              <a:t>There is a 90% chance that the real national value is within ± </a:t>
            </a:r>
            <a:r>
              <a:rPr lang="en-US" sz="800" b="1">
                <a:solidFill>
                  <a:srgbClr val="000000"/>
                </a:solidFill>
                <a:latin typeface="Poppins" panose="00000500000000000000" pitchFamily="2" charset="0"/>
                <a:ea typeface="Roboto" panose="02000000000000000000" pitchFamily="2" charset="0"/>
                <a:cs typeface="Poppins" panose="00000500000000000000" pitchFamily="2" charset="0"/>
              </a:rPr>
              <a:t>3</a:t>
            </a:r>
            <a:r>
              <a:rPr lang="en-US" sz="800" b="1">
                <a:solidFill>
                  <a:srgbClr val="000000"/>
                </a:solidFill>
                <a:effectLst/>
                <a:latin typeface="Poppins" panose="00000500000000000000" pitchFamily="2" charset="0"/>
                <a:ea typeface="Roboto" panose="02000000000000000000" pitchFamily="2" charset="0"/>
                <a:cs typeface="Poppins" panose="00000500000000000000" pitchFamily="2" charset="0"/>
              </a:rPr>
              <a:t>.7</a:t>
            </a:r>
            <a:r>
              <a:rPr lang="en-US" sz="800">
                <a:solidFill>
                  <a:srgbClr val="000000"/>
                </a:solidFill>
                <a:effectLst/>
                <a:latin typeface="Poppins" panose="00000500000000000000" pitchFamily="2" charset="0"/>
                <a:ea typeface="Roboto" panose="02000000000000000000" pitchFamily="2" charset="0"/>
                <a:cs typeface="Poppins" panose="00000500000000000000" pitchFamily="2" charset="0"/>
              </a:rPr>
              <a:t> percentage points of the measured/surveyed value.</a:t>
            </a:r>
            <a:r>
              <a:rPr lang="en-US" sz="800">
                <a:solidFill>
                  <a:srgbClr val="000000"/>
                </a:solidFill>
                <a:latin typeface="Poppins" panose="00000500000000000000" pitchFamily="2" charset="0"/>
                <a:ea typeface="Roboto" panose="02000000000000000000" pitchFamily="2" charset="0"/>
                <a:cs typeface="Poppins" panose="00000500000000000000" pitchFamily="2" charset="0"/>
              </a:rPr>
              <a:t> Margins of error were calculated assuming 90% confidence and 50%</a:t>
            </a:r>
            <a:r>
              <a:rPr lang="en-US" sz="800">
                <a:solidFill>
                  <a:srgbClr val="000000"/>
                </a:solidFill>
                <a:effectLst/>
                <a:latin typeface="Poppins" panose="00000500000000000000" pitchFamily="2" charset="0"/>
                <a:ea typeface="Roboto" panose="02000000000000000000" pitchFamily="2" charset="0"/>
                <a:cs typeface="Poppins" panose="00000500000000000000" pitchFamily="2" charset="0"/>
              </a:rPr>
              <a:t> prevalence.</a:t>
            </a:r>
          </a:p>
          <a:p>
            <a:r>
              <a:rPr lang="en-US" sz="800">
                <a:latin typeface="Poppins" panose="00000500000000000000" pitchFamily="2" charset="0"/>
                <a:ea typeface="Roboto" panose="02000000000000000000" pitchFamily="2" charset="0"/>
                <a:cs typeface="Poppins" panose="00000500000000000000" pitchFamily="2" charset="0"/>
              </a:rPr>
              <a:t>DH: District hospital; CHC: Community Health Center; CHP: Community Health Post; MCHP: Maternal and Child Healthcare Post. </a:t>
            </a:r>
          </a:p>
        </p:txBody>
      </p:sp>
    </p:spTree>
    <p:extLst>
      <p:ext uri="{BB962C8B-B14F-4D97-AF65-F5344CB8AC3E}">
        <p14:creationId xmlns:p14="http://schemas.microsoft.com/office/powerpoint/2010/main" val="32469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31F52CA2-2610-DC99-50DA-4A65984245B6}"/>
              </a:ext>
            </a:extLst>
          </p:cNvPr>
          <p:cNvGrpSpPr/>
          <p:nvPr/>
        </p:nvGrpSpPr>
        <p:grpSpPr>
          <a:xfrm>
            <a:off x="670562" y="1193004"/>
            <a:ext cx="10850875" cy="4722021"/>
            <a:chOff x="670562" y="1116804"/>
            <a:chExt cx="10850875" cy="4722021"/>
          </a:xfrm>
        </p:grpSpPr>
        <p:grpSp>
          <p:nvGrpSpPr>
            <p:cNvPr id="11" name="Group 10">
              <a:extLst>
                <a:ext uri="{FF2B5EF4-FFF2-40B4-BE49-F238E27FC236}">
                  <a16:creationId xmlns:a16="http://schemas.microsoft.com/office/drawing/2014/main" id="{705BA74E-DC48-55DC-5C05-F79EE1F94214}"/>
                </a:ext>
              </a:extLst>
            </p:cNvPr>
            <p:cNvGrpSpPr/>
            <p:nvPr/>
          </p:nvGrpSpPr>
          <p:grpSpPr>
            <a:xfrm>
              <a:off x="670564" y="1116804"/>
              <a:ext cx="10850873" cy="4722021"/>
              <a:chOff x="428822" y="930057"/>
              <a:chExt cx="11199985" cy="4399068"/>
            </a:xfrm>
          </p:grpSpPr>
          <p:sp>
            <p:nvSpPr>
              <p:cNvPr id="2" name="TextBox 1">
                <a:extLst>
                  <a:ext uri="{FF2B5EF4-FFF2-40B4-BE49-F238E27FC236}">
                    <a16:creationId xmlns:a16="http://schemas.microsoft.com/office/drawing/2014/main" id="{16B69795-512D-2EDA-0F03-6D302E6C7DFB}"/>
                  </a:ext>
                </a:extLst>
              </p:cNvPr>
              <p:cNvSpPr txBox="1"/>
              <p:nvPr/>
            </p:nvSpPr>
            <p:spPr>
              <a:xfrm>
                <a:off x="428822" y="930057"/>
                <a:ext cx="5185314" cy="4399068"/>
              </a:xfrm>
              <a:prstGeom prst="rect">
                <a:avLst/>
              </a:prstGeom>
              <a:solidFill>
                <a:srgbClr val="F2F2F2"/>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endParaRPr lang="en-US" sz="1200" noProof="0">
                  <a:solidFill>
                    <a:srgbClr val="00AB99"/>
                  </a:solidFill>
                  <a:highlight>
                    <a:srgbClr val="00FFFF"/>
                  </a:highlight>
                  <a:latin typeface="Poppins" panose="00000500000000000000" pitchFamily="2" charset="0"/>
                  <a:ea typeface="Verdana" panose="020B0604030504040204" pitchFamily="34" charset="0"/>
                  <a:cs typeface="Poppins" panose="00000500000000000000" pitchFamily="2" charset="0"/>
                </a:endParaRPr>
              </a:p>
              <a:p>
                <a:endParaRPr lang="en-US" sz="1200" noProof="0">
                  <a:solidFill>
                    <a:srgbClr val="00AB99"/>
                  </a:solidFill>
                  <a:highlight>
                    <a:srgbClr val="00FFFF"/>
                  </a:highlight>
                  <a:latin typeface="Poppins" panose="00000500000000000000" pitchFamily="2" charset="0"/>
                  <a:ea typeface="Verdana" panose="020B0604030504040204" pitchFamily="34" charset="0"/>
                  <a:cs typeface="Poppins" panose="00000500000000000000" pitchFamily="2" charset="0"/>
                </a:endParaRPr>
              </a:p>
              <a:p>
                <a:endParaRPr lang="en-US" sz="1200" noProof="0">
                  <a:solidFill>
                    <a:srgbClr val="00AB99"/>
                  </a:solidFill>
                  <a:highlight>
                    <a:srgbClr val="00FFFF"/>
                  </a:highlight>
                  <a:latin typeface="Poppins" panose="00000500000000000000" pitchFamily="2" charset="0"/>
                  <a:ea typeface="Verdana" panose="020B0604030504040204" pitchFamily="34" charset="0"/>
                  <a:cs typeface="Poppins" panose="00000500000000000000" pitchFamily="2" charset="0"/>
                </a:endParaRPr>
              </a:p>
              <a:p>
                <a:endParaRPr lang="en-US" sz="700" noProof="0">
                  <a:solidFill>
                    <a:srgbClr val="00AB99"/>
                  </a:solidFill>
                  <a:latin typeface="Poppins" panose="00000500000000000000" pitchFamily="2" charset="0"/>
                  <a:ea typeface="Verdana" panose="020B0604030504040204" pitchFamily="34" charset="0"/>
                  <a:cs typeface="Poppins" panose="00000500000000000000" pitchFamily="2" charset="0"/>
                </a:endParaRPr>
              </a:p>
              <a:p>
                <a:pPr marL="285750" indent="-285750">
                  <a:lnSpc>
                    <a:spcPts val="1800"/>
                  </a:lnSpc>
                  <a:spcAft>
                    <a:spcPts val="1800"/>
                  </a:spcAft>
                  <a:buFont typeface="Arial" panose="020B0604020202020204" pitchFamily="34" charset="0"/>
                  <a:buChar char="•"/>
                </a:pPr>
                <a:r>
                  <a:rPr lang="en-US" sz="1200" noProof="0">
                    <a:latin typeface="Poppins"/>
                    <a:ea typeface="Verdana"/>
                    <a:cs typeface="Poppins"/>
                  </a:rPr>
                  <a:t>The cross-country base FASTR rapid-cycle health facility phone survey tool was adapted for Sierra Leone by the Ministry of Health, the Global Financing Facility/World Bank, and </a:t>
                </a:r>
                <a:r>
                  <a:rPr lang="en-US" sz="1200" noProof="0" err="1">
                    <a:latin typeface="Poppins"/>
                    <a:ea typeface="Verdana"/>
                    <a:cs typeface="Poppins"/>
                  </a:rPr>
                  <a:t>NOIPolls</a:t>
                </a:r>
                <a:r>
                  <a:rPr lang="en-US" sz="1200" noProof="0">
                    <a:latin typeface="Poppins"/>
                    <a:ea typeface="Verdana"/>
                    <a:cs typeface="Poppins"/>
                  </a:rPr>
                  <a:t>.</a:t>
                </a:r>
              </a:p>
              <a:p>
                <a:pPr marL="742950" lvl="1" indent="-285750">
                  <a:lnSpc>
                    <a:spcPts val="1800"/>
                  </a:lnSpc>
                  <a:spcAft>
                    <a:spcPts val="1800"/>
                  </a:spcAft>
                  <a:buFont typeface="Arial" panose="020B0604020202020204" pitchFamily="34" charset="0"/>
                  <a:buChar char="•"/>
                </a:pPr>
                <a:r>
                  <a:rPr lang="en-US" sz="1200" noProof="0">
                    <a:latin typeface="Poppins"/>
                    <a:ea typeface="Verdana"/>
                    <a:cs typeface="Poppins"/>
                  </a:rPr>
                  <a:t>Standardized questions were included to enable comparisons with other large-scale surveys (e.g., HHFA, SARA, SDI, SPA).</a:t>
                </a:r>
              </a:p>
              <a:p>
                <a:pPr marL="742950" lvl="1" indent="-285750">
                  <a:lnSpc>
                    <a:spcPts val="1800"/>
                  </a:lnSpc>
                  <a:spcAft>
                    <a:spcPts val="1800"/>
                  </a:spcAft>
                  <a:buFont typeface="Arial" panose="020B0604020202020204" pitchFamily="34" charset="0"/>
                  <a:buChar char="•"/>
                </a:pPr>
                <a:r>
                  <a:rPr lang="en-US" sz="1200" noProof="0">
                    <a:latin typeface="Poppins"/>
                    <a:ea typeface="Verdana"/>
                    <a:cs typeface="Poppins"/>
                  </a:rPr>
                  <a:t>Tailored Sierra Leone-specific questions addressed unique country priorities.</a:t>
                </a:r>
              </a:p>
              <a:p>
                <a:pPr marL="285750" indent="-285750">
                  <a:lnSpc>
                    <a:spcPts val="1800"/>
                  </a:lnSpc>
                  <a:spcAft>
                    <a:spcPts val="1800"/>
                  </a:spcAft>
                  <a:buFont typeface="Arial" panose="020B0604020202020204" pitchFamily="34" charset="0"/>
                  <a:buChar char="•"/>
                </a:pPr>
                <a:r>
                  <a:rPr lang="en-US" sz="1200" noProof="0">
                    <a:latin typeface="Poppins"/>
                    <a:ea typeface="Verdana"/>
                    <a:cs typeface="Poppins"/>
                  </a:rPr>
                  <a:t>Two types of indicators are included: (1) annual indicators collected once and (2) quarterly indicators collected in all rounds.</a:t>
                </a:r>
                <a:r>
                  <a:rPr lang="en-US" sz="1200" noProof="0">
                    <a:solidFill>
                      <a:srgbClr val="FF0000"/>
                    </a:solidFill>
                    <a:latin typeface="Poppins"/>
                    <a:ea typeface="Verdana"/>
                    <a:cs typeface="Poppins"/>
                  </a:rPr>
                  <a:t> </a:t>
                </a:r>
              </a:p>
            </p:txBody>
          </p:sp>
          <p:sp>
            <p:nvSpPr>
              <p:cNvPr id="4" name="TextBox 3">
                <a:extLst>
                  <a:ext uri="{FF2B5EF4-FFF2-40B4-BE49-F238E27FC236}">
                    <a16:creationId xmlns:a16="http://schemas.microsoft.com/office/drawing/2014/main" id="{085125B9-75B9-A3DB-3F12-64ACDBCAE337}"/>
                  </a:ext>
                </a:extLst>
              </p:cNvPr>
              <p:cNvSpPr txBox="1"/>
              <p:nvPr/>
            </p:nvSpPr>
            <p:spPr>
              <a:xfrm>
                <a:off x="6142407" y="930057"/>
                <a:ext cx="5486400" cy="4399068"/>
              </a:xfrm>
              <a:prstGeom prst="rect">
                <a:avLst/>
              </a:prstGeom>
              <a:solidFill>
                <a:schemeClr val="bg1">
                  <a:lumMod val="95000"/>
                </a:schemeClr>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endParaRPr lang="en-US" sz="1200" b="1" noProof="0">
                  <a:solidFill>
                    <a:srgbClr val="00AB99"/>
                  </a:solidFill>
                  <a:latin typeface="Poppins" panose="00000500000000000000" pitchFamily="2" charset="0"/>
                  <a:ea typeface="Verdana" panose="020B0604030504040204" pitchFamily="34" charset="0"/>
                  <a:cs typeface="Poppins" panose="00000500000000000000" pitchFamily="2" charset="0"/>
                </a:endParaRPr>
              </a:p>
              <a:p>
                <a:endParaRPr lang="en-US" sz="1200" b="1" noProof="0">
                  <a:solidFill>
                    <a:srgbClr val="00AB99"/>
                  </a:solidFill>
                  <a:latin typeface="Poppins" panose="00000500000000000000" pitchFamily="2" charset="0"/>
                  <a:ea typeface="Verdana" panose="020B0604030504040204" pitchFamily="34" charset="0"/>
                  <a:cs typeface="Poppins" panose="00000500000000000000" pitchFamily="2" charset="0"/>
                </a:endParaRPr>
              </a:p>
              <a:p>
                <a:endParaRPr lang="en-US" sz="1200" b="1" noProof="0">
                  <a:solidFill>
                    <a:srgbClr val="00AB99"/>
                  </a:solidFill>
                  <a:latin typeface="Poppins" panose="00000500000000000000" pitchFamily="2" charset="0"/>
                  <a:ea typeface="Verdana" panose="020B0604030504040204" pitchFamily="34" charset="0"/>
                  <a:cs typeface="Poppins" panose="00000500000000000000" pitchFamily="2" charset="0"/>
                </a:endParaRPr>
              </a:p>
              <a:p>
                <a:endParaRPr lang="en-US" sz="600" b="1" noProof="0">
                  <a:solidFill>
                    <a:srgbClr val="00AB99"/>
                  </a:solidFill>
                  <a:latin typeface="Poppins" panose="00000500000000000000" pitchFamily="2" charset="0"/>
                  <a:ea typeface="Verdana" panose="020B0604030504040204" pitchFamily="34" charset="0"/>
                  <a:cs typeface="Poppins" panose="00000500000000000000" pitchFamily="2" charset="0"/>
                </a:endParaRPr>
              </a:p>
              <a:p>
                <a:pPr marL="285750" indent="-285750">
                  <a:lnSpc>
                    <a:spcPts val="1800"/>
                  </a:lnSpc>
                  <a:spcAft>
                    <a:spcPts val="1800"/>
                  </a:spcAft>
                  <a:buFont typeface="Arial" panose="020B0604020202020204" pitchFamily="34" charset="0"/>
                  <a:buChar char="•"/>
                  <a:defRPr/>
                </a:pPr>
                <a:r>
                  <a:rPr lang="en-US" sz="1200" noProof="0">
                    <a:solidFill>
                      <a:prstClr val="black"/>
                    </a:solidFill>
                    <a:latin typeface="Poppins"/>
                    <a:ea typeface="Verdana"/>
                    <a:cs typeface="Poppins"/>
                  </a:rPr>
                  <a:t>The final report will present results as</a:t>
                </a:r>
                <a:r>
                  <a:rPr lang="en-US" sz="1200" i="0" u="none" strike="noStrike" kern="1200" cap="none" spc="0" normalizeH="0" baseline="0" noProof="0">
                    <a:ln>
                      <a:noFill/>
                    </a:ln>
                    <a:solidFill>
                      <a:prstClr val="black"/>
                    </a:solidFill>
                    <a:effectLst/>
                    <a:uLnTx/>
                    <a:uFillTx/>
                    <a:latin typeface="Poppins"/>
                    <a:ea typeface="Verdana"/>
                    <a:cs typeface="Poppins"/>
                  </a:rPr>
                  <a:t> national estimates, disaggregated by facility type. Additional breakdowns</a:t>
                </a:r>
                <a:r>
                  <a:rPr lang="en-US" sz="1200" noProof="0">
                    <a:solidFill>
                      <a:prstClr val="black"/>
                    </a:solidFill>
                    <a:latin typeface="Poppins"/>
                    <a:ea typeface="Verdana"/>
                    <a:cs typeface="Poppins"/>
                  </a:rPr>
                  <a:t> by region will be </a:t>
                </a:r>
                <a:r>
                  <a:rPr lang="en-US" sz="1200" i="0" u="none" strike="noStrike" kern="1200" cap="none" spc="0" normalizeH="0" baseline="0" noProof="0">
                    <a:ln>
                      <a:noFill/>
                    </a:ln>
                    <a:solidFill>
                      <a:prstClr val="black"/>
                    </a:solidFill>
                    <a:effectLst/>
                    <a:uLnTx/>
                    <a:uFillTx/>
                    <a:latin typeface="Poppins"/>
                    <a:ea typeface="Verdana"/>
                    <a:cs typeface="Poppins"/>
                  </a:rPr>
                  <a:t>provided in the annex.</a:t>
                </a:r>
              </a:p>
              <a:p>
                <a:pPr marL="285750" indent="-285750">
                  <a:lnSpc>
                    <a:spcPts val="1800"/>
                  </a:lnSpc>
                  <a:spcAft>
                    <a:spcPts val="1800"/>
                  </a:spcAft>
                  <a:buFont typeface="Arial" panose="020B0604020202020204" pitchFamily="34" charset="0"/>
                  <a:buChar char="•"/>
                  <a:defRPr/>
                </a:pPr>
                <a:r>
                  <a:rPr lang="en-US" sz="1200" i="0" u="none" strike="noStrike" kern="1200" cap="none" spc="0" normalizeH="0" baseline="0" noProof="0">
                    <a:ln>
                      <a:noFill/>
                    </a:ln>
                    <a:solidFill>
                      <a:prstClr val="black"/>
                    </a:solidFill>
                    <a:effectLst/>
                    <a:uLnTx/>
                    <a:uFillTx/>
                    <a:latin typeface="Poppins"/>
                    <a:ea typeface="Verdana"/>
                    <a:cs typeface="Poppins"/>
                  </a:rPr>
                  <a:t>Annual indicators are reported as weighted cross-sectional descriptive statistics using survey sampling weights to ensure representativeness.</a:t>
                </a:r>
              </a:p>
              <a:p>
                <a:pPr marL="285750" indent="-285750">
                  <a:lnSpc>
                    <a:spcPts val="1800"/>
                  </a:lnSpc>
                  <a:spcAft>
                    <a:spcPts val="1800"/>
                  </a:spcAft>
                  <a:buFont typeface="Arial" panose="020B0604020202020204" pitchFamily="34" charset="0"/>
                  <a:buChar char="•"/>
                  <a:defRPr/>
                </a:pPr>
                <a:r>
                  <a:rPr lang="en-US" sz="1200" i="0" u="none" strike="noStrike" kern="1200" cap="none" spc="0" normalizeH="0" baseline="0" noProof="0">
                    <a:ln>
                      <a:noFill/>
                    </a:ln>
                    <a:solidFill>
                      <a:prstClr val="black"/>
                    </a:solidFill>
                    <a:effectLst/>
                    <a:uLnTx/>
                    <a:uFillTx/>
                    <a:latin typeface="Poppins"/>
                    <a:ea typeface="Verdana"/>
                    <a:cs typeface="Poppins"/>
                  </a:rPr>
                  <a:t>Quarterly indicators </a:t>
                </a:r>
                <a:r>
                  <a:rPr lang="en-US" sz="1200" noProof="0">
                    <a:solidFill>
                      <a:prstClr val="black"/>
                    </a:solidFill>
                    <a:latin typeface="Poppins"/>
                    <a:ea typeface="Verdana"/>
                    <a:cs typeface="Poppins"/>
                  </a:rPr>
                  <a:t>will be</a:t>
                </a:r>
                <a:r>
                  <a:rPr lang="en-US" sz="1200" i="0" u="none" strike="noStrike" kern="1200" cap="none" spc="0" normalizeH="0" baseline="0" noProof="0">
                    <a:ln>
                      <a:noFill/>
                    </a:ln>
                    <a:solidFill>
                      <a:prstClr val="black"/>
                    </a:solidFill>
                    <a:effectLst/>
                    <a:uLnTx/>
                    <a:uFillTx/>
                    <a:latin typeface="Poppins"/>
                    <a:ea typeface="Verdana"/>
                    <a:cs typeface="Poppins"/>
                  </a:rPr>
                  <a:t> presented separately for each survey round; statistical significance of differences between rounds has not been evaluated.</a:t>
                </a:r>
              </a:p>
              <a:p>
                <a:pPr marL="285750" indent="-285750">
                  <a:lnSpc>
                    <a:spcPts val="1800"/>
                  </a:lnSpc>
                  <a:spcAft>
                    <a:spcPts val="1800"/>
                  </a:spcAft>
                  <a:buFont typeface="Arial" panose="020B0604020202020204" pitchFamily="34" charset="0"/>
                  <a:buChar char="•"/>
                  <a:defRPr/>
                </a:pPr>
                <a:r>
                  <a:rPr lang="en-US" sz="1200" i="0" u="none" strike="noStrike" kern="1200" cap="none" spc="0" normalizeH="0" baseline="0" noProof="0">
                    <a:ln>
                      <a:noFill/>
                    </a:ln>
                    <a:solidFill>
                      <a:prstClr val="black"/>
                    </a:solidFill>
                    <a:effectLst/>
                    <a:uLnTx/>
                    <a:uFillTx/>
                    <a:latin typeface="Poppins"/>
                    <a:ea typeface="Verdana"/>
                    <a:cs typeface="Poppins"/>
                  </a:rPr>
                  <a:t>Summary scores are computed as the unweighted average of included indicators. Slides presenting summary scores also display individual indicator results below the index score.</a:t>
                </a:r>
              </a:p>
            </p:txBody>
          </p:sp>
        </p:grpSp>
        <p:sp>
          <p:nvSpPr>
            <p:cNvPr id="15" name="Rectangle 14">
              <a:extLst>
                <a:ext uri="{FF2B5EF4-FFF2-40B4-BE49-F238E27FC236}">
                  <a16:creationId xmlns:a16="http://schemas.microsoft.com/office/drawing/2014/main" id="{8D1967FB-A42F-A039-1A8D-3360D89D6FCC}"/>
                </a:ext>
              </a:extLst>
            </p:cNvPr>
            <p:cNvSpPr/>
            <p:nvPr/>
          </p:nvSpPr>
          <p:spPr>
            <a:xfrm>
              <a:off x="670562" y="1116804"/>
              <a:ext cx="5023682" cy="519886"/>
            </a:xfrm>
            <a:prstGeom prst="rect">
              <a:avLst/>
            </a:prstGeom>
            <a:solidFill>
              <a:srgbClr val="1899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FFFF"/>
                  </a:solidFill>
                  <a:effectLst/>
                  <a:uLnTx/>
                  <a:uFillTx/>
                  <a:latin typeface="Poppins" panose="00000500000000000000" pitchFamily="2" charset="0"/>
                  <a:ea typeface="Verdana" panose="020B0604030504040204" pitchFamily="34" charset="0"/>
                  <a:cs typeface="Poppins" panose="00000500000000000000" pitchFamily="2" charset="0"/>
                </a:rPr>
                <a:t>Survey Tool</a:t>
              </a:r>
            </a:p>
          </p:txBody>
        </p:sp>
        <p:sp>
          <p:nvSpPr>
            <p:cNvPr id="16" name="Rectangle 15">
              <a:extLst>
                <a:ext uri="{FF2B5EF4-FFF2-40B4-BE49-F238E27FC236}">
                  <a16:creationId xmlns:a16="http://schemas.microsoft.com/office/drawing/2014/main" id="{5DF823F9-50D3-7E82-B39D-EF04C1C8F5AF}"/>
                </a:ext>
              </a:extLst>
            </p:cNvPr>
            <p:cNvSpPr/>
            <p:nvPr/>
          </p:nvSpPr>
          <p:spPr>
            <a:xfrm>
              <a:off x="6206050" y="1116804"/>
              <a:ext cx="5315384" cy="519886"/>
            </a:xfrm>
            <a:prstGeom prst="rect">
              <a:avLst/>
            </a:prstGeom>
            <a:solidFill>
              <a:srgbClr val="1899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FFFF"/>
                  </a:solidFill>
                  <a:effectLst/>
                  <a:uLnTx/>
                  <a:uFillTx/>
                  <a:latin typeface="Poppins" panose="00000500000000000000" pitchFamily="2" charset="0"/>
                  <a:ea typeface="Verdana" panose="020B0604030504040204" pitchFamily="34" charset="0"/>
                  <a:cs typeface="Poppins" panose="00000500000000000000" pitchFamily="2" charset="0"/>
                </a:rPr>
                <a:t>Data analysis</a:t>
              </a:r>
            </a:p>
          </p:txBody>
        </p:sp>
      </p:grpSp>
      <p:sp>
        <p:nvSpPr>
          <p:cNvPr id="17" name="TextBox 16">
            <a:extLst>
              <a:ext uri="{FF2B5EF4-FFF2-40B4-BE49-F238E27FC236}">
                <a16:creationId xmlns:a16="http://schemas.microsoft.com/office/drawing/2014/main" id="{ECC22FDE-6A54-091A-8D56-3541F4714DB7}"/>
              </a:ext>
            </a:extLst>
          </p:cNvPr>
          <p:cNvSpPr txBox="1"/>
          <p:nvPr/>
        </p:nvSpPr>
        <p:spPr>
          <a:xfrm>
            <a:off x="631931" y="6167801"/>
            <a:ext cx="7759594" cy="307777"/>
          </a:xfrm>
          <a:prstGeom prst="rect">
            <a:avLst/>
          </a:prstGeom>
          <a:noFill/>
        </p:spPr>
        <p:txBody>
          <a:bodyPr wrap="square">
            <a:spAutoFit/>
          </a:bodyPr>
          <a:lstStyle/>
          <a:p>
            <a:r>
              <a:rPr lang="en-US" sz="1400" i="1" noProof="0"/>
              <a:t>For more information on the FASTR initiative:</a:t>
            </a:r>
            <a:r>
              <a:rPr lang="en-US" sz="1400" i="1" noProof="0">
                <a:solidFill>
                  <a:srgbClr val="954F72"/>
                </a:solidFill>
              </a:rPr>
              <a:t> </a:t>
            </a:r>
            <a:r>
              <a:rPr lang="en-US" sz="1400" i="1" noProof="0">
                <a:solidFill>
                  <a:srgbClr val="954F72"/>
                </a:solidFill>
                <a:hlinkClick r:id="rId3">
                  <a:extLst>
                    <a:ext uri="{A12FA001-AC4F-418D-AE19-62706E023703}">
                      <ahyp:hlinkClr xmlns:ahyp="http://schemas.microsoft.com/office/drawing/2018/hyperlinkcolor" val="tx"/>
                    </a:ext>
                  </a:extLst>
                </a:hlinkClick>
              </a:rPr>
              <a:t>https://data.gffportal.org/key-theme/FASTR</a:t>
            </a:r>
            <a:endParaRPr lang="en-US" sz="1400" i="1" noProof="0"/>
          </a:p>
        </p:txBody>
      </p:sp>
      <p:grpSp>
        <p:nvGrpSpPr>
          <p:cNvPr id="3" name="Group 2">
            <a:extLst>
              <a:ext uri="{FF2B5EF4-FFF2-40B4-BE49-F238E27FC236}">
                <a16:creationId xmlns:a16="http://schemas.microsoft.com/office/drawing/2014/main" id="{FA49154A-FD7F-CB17-A605-07863B190340}"/>
              </a:ext>
            </a:extLst>
          </p:cNvPr>
          <p:cNvGrpSpPr/>
          <p:nvPr/>
        </p:nvGrpSpPr>
        <p:grpSpPr>
          <a:xfrm>
            <a:off x="489066" y="201447"/>
            <a:ext cx="11343543" cy="557986"/>
            <a:chOff x="489066" y="201447"/>
            <a:chExt cx="11343543" cy="557986"/>
          </a:xfrm>
        </p:grpSpPr>
        <p:sp>
          <p:nvSpPr>
            <p:cNvPr id="6" name="TextBox 5">
              <a:extLst>
                <a:ext uri="{FF2B5EF4-FFF2-40B4-BE49-F238E27FC236}">
                  <a16:creationId xmlns:a16="http://schemas.microsoft.com/office/drawing/2014/main" id="{22E2B063-AE41-4933-AC76-41C6A2884B28}"/>
                </a:ext>
              </a:extLst>
            </p:cNvPr>
            <p:cNvSpPr txBox="1"/>
            <p:nvPr/>
          </p:nvSpPr>
          <p:spPr>
            <a:xfrm>
              <a:off x="1123690" y="201447"/>
              <a:ext cx="10708919" cy="519886"/>
            </a:xfrm>
            <a:prstGeom prst="rect">
              <a:avLst/>
            </a:prstGeom>
            <a:solidFill>
              <a:schemeClr val="bg1"/>
            </a:solidFill>
            <a:ln>
              <a:noFill/>
            </a:ln>
          </p:spPr>
          <p:txBody>
            <a:bodyPr wrap="square">
              <a:spAutoFit/>
            </a:bodyPr>
            <a:lstStyle/>
            <a:p>
              <a:pPr>
                <a:lnSpc>
                  <a:spcPts val="3400"/>
                </a:lnSpc>
              </a:pPr>
              <a:r>
                <a:rPr lang="en-US" sz="2800" b="1" noProof="0">
                  <a:solidFill>
                    <a:srgbClr val="08716C"/>
                  </a:solidFill>
                  <a:latin typeface="Poppins" panose="00000500000000000000" pitchFamily="2" charset="0"/>
                  <a:cs typeface="Poppins" panose="00000500000000000000" pitchFamily="2" charset="0"/>
                </a:rPr>
                <a:t>Methodology | Survey tool and data analysis</a:t>
              </a:r>
            </a:p>
          </p:txBody>
        </p:sp>
        <p:cxnSp>
          <p:nvCxnSpPr>
            <p:cNvPr id="7" name="Straight Connector 6">
              <a:extLst>
                <a:ext uri="{FF2B5EF4-FFF2-40B4-BE49-F238E27FC236}">
                  <a16:creationId xmlns:a16="http://schemas.microsoft.com/office/drawing/2014/main" id="{86276BA9-E4F0-65D6-5292-0CFCDE79ECEC}"/>
                </a:ext>
              </a:extLst>
            </p:cNvPr>
            <p:cNvCxnSpPr>
              <a:cxnSpLocks/>
            </p:cNvCxnSpPr>
            <p:nvPr/>
          </p:nvCxnSpPr>
          <p:spPr>
            <a:xfrm>
              <a:off x="489066" y="759433"/>
              <a:ext cx="7863840" cy="0"/>
            </a:xfrm>
            <a:prstGeom prst="line">
              <a:avLst/>
            </a:prstGeom>
            <a:ln>
              <a:solidFill>
                <a:srgbClr val="D0CB17"/>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1DC30B98-6F4E-C2D8-0F31-4222BFA8CA0E}"/>
                </a:ext>
              </a:extLst>
            </p:cNvPr>
            <p:cNvPicPr>
              <a:picLocks noChangeAspect="1"/>
            </p:cNvPicPr>
            <p:nvPr/>
          </p:nvPicPr>
          <p:blipFill>
            <a:blip r:embed="rId4"/>
            <a:stretch>
              <a:fillRect/>
            </a:stretch>
          </p:blipFill>
          <p:spPr>
            <a:xfrm>
              <a:off x="489066" y="225119"/>
              <a:ext cx="636193" cy="445335"/>
            </a:xfrm>
            <a:prstGeom prst="rect">
              <a:avLst/>
            </a:prstGeom>
          </p:spPr>
        </p:pic>
      </p:grpSp>
    </p:spTree>
    <p:extLst>
      <p:ext uri="{BB962C8B-B14F-4D97-AF65-F5344CB8AC3E}">
        <p14:creationId xmlns:p14="http://schemas.microsoft.com/office/powerpoint/2010/main" val="1748612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F962C6D-B2EE-DD72-37C3-A03615F78052}"/>
              </a:ext>
            </a:extLst>
          </p:cNvPr>
          <p:cNvGrpSpPr/>
          <p:nvPr/>
        </p:nvGrpSpPr>
        <p:grpSpPr>
          <a:xfrm>
            <a:off x="637675" y="1174058"/>
            <a:ext cx="10563725" cy="5206525"/>
            <a:chOff x="506973" y="1061762"/>
            <a:chExt cx="10493124" cy="5206525"/>
          </a:xfrm>
        </p:grpSpPr>
        <p:grpSp>
          <p:nvGrpSpPr>
            <p:cNvPr id="11" name="Group 10">
              <a:extLst>
                <a:ext uri="{FF2B5EF4-FFF2-40B4-BE49-F238E27FC236}">
                  <a16:creationId xmlns:a16="http://schemas.microsoft.com/office/drawing/2014/main" id="{705BA74E-DC48-55DC-5C05-F79EE1F94214}"/>
                </a:ext>
              </a:extLst>
            </p:cNvPr>
            <p:cNvGrpSpPr/>
            <p:nvPr/>
          </p:nvGrpSpPr>
          <p:grpSpPr>
            <a:xfrm>
              <a:off x="509871" y="1061762"/>
              <a:ext cx="10490226" cy="5206525"/>
              <a:chOff x="262960" y="878882"/>
              <a:chExt cx="5486400" cy="5206525"/>
            </a:xfrm>
          </p:grpSpPr>
          <p:sp>
            <p:nvSpPr>
              <p:cNvPr id="8" name="Rectangle 7">
                <a:extLst>
                  <a:ext uri="{FF2B5EF4-FFF2-40B4-BE49-F238E27FC236}">
                    <a16:creationId xmlns:a16="http://schemas.microsoft.com/office/drawing/2014/main" id="{C09D8E00-CB4A-3ABF-6277-C6049A2E5880}"/>
                  </a:ext>
                </a:extLst>
              </p:cNvPr>
              <p:cNvSpPr/>
              <p:nvPr/>
            </p:nvSpPr>
            <p:spPr>
              <a:xfrm>
                <a:off x="262960" y="878882"/>
                <a:ext cx="5486400" cy="5206525"/>
              </a:xfrm>
              <a:prstGeom prst="rect">
                <a:avLst/>
              </a:prstGeom>
              <a:solidFill>
                <a:srgbClr val="EAEAEA">
                  <a:alpha val="57647"/>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900"/>
                  </a:lnSpc>
                </a:pPr>
                <a:endParaRPr lang="en-US" noProof="0"/>
              </a:p>
            </p:txBody>
          </p:sp>
          <p:sp>
            <p:nvSpPr>
              <p:cNvPr id="2" name="TextBox 1">
                <a:extLst>
                  <a:ext uri="{FF2B5EF4-FFF2-40B4-BE49-F238E27FC236}">
                    <a16:creationId xmlns:a16="http://schemas.microsoft.com/office/drawing/2014/main" id="{16B69795-512D-2EDA-0F03-6D302E6C7DFB}"/>
                  </a:ext>
                </a:extLst>
              </p:cNvPr>
              <p:cNvSpPr txBox="1"/>
              <p:nvPr/>
            </p:nvSpPr>
            <p:spPr>
              <a:xfrm>
                <a:off x="323979" y="1054324"/>
                <a:ext cx="5362846" cy="486256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285750" indent="-285750">
                  <a:lnSpc>
                    <a:spcPts val="1900"/>
                  </a:lnSpc>
                  <a:spcAft>
                    <a:spcPts val="1800"/>
                  </a:spcAft>
                  <a:buFont typeface="Arial" panose="020B0604020202020204" pitchFamily="34" charset="0"/>
                  <a:buChar char="•"/>
                </a:pPr>
                <a:endParaRPr lang="en-US" sz="1200" b="1" noProof="0">
                  <a:solidFill>
                    <a:srgbClr val="00AB99"/>
                  </a:solidFill>
                  <a:highlight>
                    <a:srgbClr val="00FFFF"/>
                  </a:highlight>
                  <a:latin typeface="Poppins" panose="00000500000000000000" pitchFamily="2" charset="0"/>
                  <a:ea typeface="Verdana" panose="020B0604030504040204" pitchFamily="34" charset="0"/>
                  <a:cs typeface="Poppins" panose="00000500000000000000" pitchFamily="2" charset="0"/>
                </a:endParaRPr>
              </a:p>
              <a:p>
                <a:pPr marL="285750" indent="-285750">
                  <a:lnSpc>
                    <a:spcPts val="1900"/>
                  </a:lnSpc>
                  <a:spcAft>
                    <a:spcPts val="1800"/>
                  </a:spcAft>
                  <a:buFont typeface="Arial" panose="020B0604020202020204" pitchFamily="34" charset="0"/>
                  <a:buChar char="•"/>
                </a:pPr>
                <a:r>
                  <a:rPr lang="en-US" sz="1200" b="1" noProof="0">
                    <a:latin typeface="Poppins"/>
                    <a:ea typeface="Verdana"/>
                    <a:cs typeface="Poppins"/>
                  </a:rPr>
                  <a:t>Sampling Frame:</a:t>
                </a:r>
                <a:r>
                  <a:rPr lang="en-US" sz="1200" noProof="0">
                    <a:latin typeface="Poppins"/>
                    <a:ea typeface="Verdana"/>
                    <a:cs typeface="Poppins"/>
                  </a:rPr>
                  <a:t> Primary health care (PHC) facilities in Sierra Leone were included (community health centers, community heath posts, hospitals, and maternal and child healthcare posts.</a:t>
                </a:r>
              </a:p>
              <a:p>
                <a:pPr marL="285750" indent="-285750">
                  <a:lnSpc>
                    <a:spcPts val="1900"/>
                  </a:lnSpc>
                  <a:spcAft>
                    <a:spcPts val="1800"/>
                  </a:spcAft>
                  <a:buFont typeface="Arial" panose="020B0604020202020204" pitchFamily="34" charset="0"/>
                  <a:buChar char="•"/>
                </a:pPr>
                <a:r>
                  <a:rPr lang="en-US" sz="1200" b="1" noProof="0">
                    <a:latin typeface="Poppins"/>
                    <a:ea typeface="Verdana"/>
                    <a:cs typeface="Poppins"/>
                  </a:rPr>
                  <a:t>Stratified Sampling: </a:t>
                </a:r>
                <a:r>
                  <a:rPr lang="en-US" sz="1200" noProof="0">
                    <a:latin typeface="Poppins"/>
                    <a:ea typeface="Verdana"/>
                    <a:cs typeface="Poppins"/>
                  </a:rPr>
                  <a:t>Stratified by region and facility level to form a total of 19 strata. A sample of facilities were selected with equal probability from each stratum.</a:t>
                </a:r>
              </a:p>
              <a:p>
                <a:pPr marL="285750" indent="-285750">
                  <a:lnSpc>
                    <a:spcPts val="1900"/>
                  </a:lnSpc>
                  <a:spcAft>
                    <a:spcPts val="1800"/>
                  </a:spcAft>
                  <a:buFont typeface="Arial" panose="020B0604020202020204" pitchFamily="34" charset="0"/>
                  <a:buChar char="•"/>
                </a:pPr>
                <a:r>
                  <a:rPr lang="en-US" sz="1200" b="1" noProof="0">
                    <a:latin typeface="Poppins"/>
                    <a:ea typeface="Verdana"/>
                    <a:cs typeface="Poppins"/>
                  </a:rPr>
                  <a:t>Sample Size:</a:t>
                </a:r>
                <a:r>
                  <a:rPr lang="en-US" sz="1200" noProof="0">
                    <a:latin typeface="Poppins"/>
                    <a:ea typeface="Verdana"/>
                    <a:cs typeface="Poppins"/>
                  </a:rPr>
                  <a:t> Targeted 330 facilities for the FASTR survey to ensure representativeness at national and regional levels and by facility type. </a:t>
                </a:r>
                <a:endParaRPr lang="en-US" sz="1200" b="1" noProof="0">
                  <a:highlight>
                    <a:srgbClr val="00FFFF"/>
                  </a:highlight>
                  <a:latin typeface="Poppins"/>
                  <a:ea typeface="Verdana"/>
                  <a:cs typeface="Poppins"/>
                </a:endParaRPr>
              </a:p>
            </p:txBody>
          </p:sp>
        </p:grpSp>
        <p:sp>
          <p:nvSpPr>
            <p:cNvPr id="3" name="Rectangle 2">
              <a:extLst>
                <a:ext uri="{FF2B5EF4-FFF2-40B4-BE49-F238E27FC236}">
                  <a16:creationId xmlns:a16="http://schemas.microsoft.com/office/drawing/2014/main" id="{50497466-1197-C8A3-E7AA-EFDF3E99FEA3}"/>
                </a:ext>
              </a:extLst>
            </p:cNvPr>
            <p:cNvSpPr/>
            <p:nvPr/>
          </p:nvSpPr>
          <p:spPr>
            <a:xfrm>
              <a:off x="506973" y="1068678"/>
              <a:ext cx="10490225" cy="519886"/>
            </a:xfrm>
            <a:prstGeom prst="rect">
              <a:avLst/>
            </a:prstGeom>
            <a:solidFill>
              <a:srgbClr val="1899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panose="00000500000000000000" pitchFamily="2" charset="0"/>
                  <a:ea typeface="Verdana" panose="020B0604030504040204" pitchFamily="34" charset="0"/>
                  <a:cs typeface="Poppins" panose="00000500000000000000" pitchFamily="2" charset="0"/>
                </a:rPr>
                <a:t>Survey sampling and weighting</a:t>
              </a:r>
            </a:p>
          </p:txBody>
        </p:sp>
      </p:grpSp>
      <p:grpSp>
        <p:nvGrpSpPr>
          <p:cNvPr id="7" name="Group 6">
            <a:extLst>
              <a:ext uri="{FF2B5EF4-FFF2-40B4-BE49-F238E27FC236}">
                <a16:creationId xmlns:a16="http://schemas.microsoft.com/office/drawing/2014/main" id="{7859DA63-C3FC-A3E8-65BF-A6E3E710FB76}"/>
              </a:ext>
            </a:extLst>
          </p:cNvPr>
          <p:cNvGrpSpPr/>
          <p:nvPr/>
        </p:nvGrpSpPr>
        <p:grpSpPr>
          <a:xfrm>
            <a:off x="489066" y="201447"/>
            <a:ext cx="11343543" cy="557986"/>
            <a:chOff x="489066" y="201447"/>
            <a:chExt cx="11343543" cy="557986"/>
          </a:xfrm>
        </p:grpSpPr>
        <p:sp>
          <p:nvSpPr>
            <p:cNvPr id="9" name="TextBox 8">
              <a:extLst>
                <a:ext uri="{FF2B5EF4-FFF2-40B4-BE49-F238E27FC236}">
                  <a16:creationId xmlns:a16="http://schemas.microsoft.com/office/drawing/2014/main" id="{682CD28B-FBD7-181E-DC83-1A1D2951732C}"/>
                </a:ext>
              </a:extLst>
            </p:cNvPr>
            <p:cNvSpPr txBox="1"/>
            <p:nvPr/>
          </p:nvSpPr>
          <p:spPr>
            <a:xfrm>
              <a:off x="1123690" y="201447"/>
              <a:ext cx="10708919" cy="519886"/>
            </a:xfrm>
            <a:prstGeom prst="rect">
              <a:avLst/>
            </a:prstGeom>
            <a:solidFill>
              <a:schemeClr val="bg1"/>
            </a:solidFill>
            <a:ln>
              <a:noFill/>
            </a:ln>
          </p:spPr>
          <p:txBody>
            <a:bodyPr wrap="square">
              <a:spAutoFit/>
            </a:bodyPr>
            <a:lstStyle/>
            <a:p>
              <a:pPr>
                <a:lnSpc>
                  <a:spcPts val="3400"/>
                </a:lnSpc>
              </a:pPr>
              <a:r>
                <a:rPr lang="en-US" sz="2800" b="1" noProof="0">
                  <a:solidFill>
                    <a:srgbClr val="08716C"/>
                  </a:solidFill>
                  <a:latin typeface="Poppins" panose="00000500000000000000" pitchFamily="2" charset="0"/>
                  <a:cs typeface="Poppins" panose="00000500000000000000" pitchFamily="2" charset="0"/>
                </a:rPr>
                <a:t>Methodology | Sampling and weighting</a:t>
              </a:r>
            </a:p>
          </p:txBody>
        </p:sp>
        <p:cxnSp>
          <p:nvCxnSpPr>
            <p:cNvPr id="10" name="Straight Connector 9">
              <a:extLst>
                <a:ext uri="{FF2B5EF4-FFF2-40B4-BE49-F238E27FC236}">
                  <a16:creationId xmlns:a16="http://schemas.microsoft.com/office/drawing/2014/main" id="{7366B708-953F-311D-A382-FD3B952C2FB0}"/>
                </a:ext>
              </a:extLst>
            </p:cNvPr>
            <p:cNvCxnSpPr>
              <a:cxnSpLocks/>
            </p:cNvCxnSpPr>
            <p:nvPr/>
          </p:nvCxnSpPr>
          <p:spPr>
            <a:xfrm>
              <a:off x="489066" y="759433"/>
              <a:ext cx="7863840" cy="0"/>
            </a:xfrm>
            <a:prstGeom prst="line">
              <a:avLst/>
            </a:prstGeom>
            <a:ln>
              <a:solidFill>
                <a:srgbClr val="D0CB17"/>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42E25919-584A-3DA2-57B7-AB762CBCF516}"/>
                </a:ext>
              </a:extLst>
            </p:cNvPr>
            <p:cNvPicPr>
              <a:picLocks noChangeAspect="1"/>
            </p:cNvPicPr>
            <p:nvPr/>
          </p:nvPicPr>
          <p:blipFill>
            <a:blip r:embed="rId3"/>
            <a:stretch>
              <a:fillRect/>
            </a:stretch>
          </p:blipFill>
          <p:spPr>
            <a:xfrm>
              <a:off x="489066" y="225119"/>
              <a:ext cx="636193" cy="445335"/>
            </a:xfrm>
            <a:prstGeom prst="rect">
              <a:avLst/>
            </a:prstGeom>
          </p:spPr>
        </p:pic>
      </p:grpSp>
    </p:spTree>
    <p:extLst>
      <p:ext uri="{BB962C8B-B14F-4D97-AF65-F5344CB8AC3E}">
        <p14:creationId xmlns:p14="http://schemas.microsoft.com/office/powerpoint/2010/main" val="2201533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D2B5886-5986-1633-841A-D93AE2FC7A83}"/>
              </a:ext>
            </a:extLst>
          </p:cNvPr>
          <p:cNvGrpSpPr/>
          <p:nvPr/>
        </p:nvGrpSpPr>
        <p:grpSpPr>
          <a:xfrm>
            <a:off x="7614521" y="253816"/>
            <a:ext cx="4572564" cy="730247"/>
            <a:chOff x="409575" y="917409"/>
            <a:chExt cx="2688272" cy="1415078"/>
          </a:xfrm>
        </p:grpSpPr>
        <p:sp>
          <p:nvSpPr>
            <p:cNvPr id="42" name="Rectangle 41">
              <a:extLst>
                <a:ext uri="{FF2B5EF4-FFF2-40B4-BE49-F238E27FC236}">
                  <a16:creationId xmlns:a16="http://schemas.microsoft.com/office/drawing/2014/main" id="{43EDFA53-AC7F-9739-AD0A-8AE80E37B71F}"/>
                </a:ext>
              </a:extLst>
            </p:cNvPr>
            <p:cNvSpPr/>
            <p:nvPr/>
          </p:nvSpPr>
          <p:spPr>
            <a:xfrm>
              <a:off x="409575" y="917409"/>
              <a:ext cx="2497396" cy="1415078"/>
            </a:xfrm>
            <a:prstGeom prst="rect">
              <a:avLst/>
            </a:prstGeom>
            <a:solidFill>
              <a:schemeClr val="bg1">
                <a:lumMod val="85000"/>
              </a:schemeClr>
            </a:solidFill>
            <a:ln>
              <a:solidFill>
                <a:srgbClr val="18999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noProof="0"/>
            </a:p>
          </p:txBody>
        </p:sp>
        <p:sp>
          <p:nvSpPr>
            <p:cNvPr id="37" name="TextBox 36">
              <a:extLst>
                <a:ext uri="{FF2B5EF4-FFF2-40B4-BE49-F238E27FC236}">
                  <a16:creationId xmlns:a16="http://schemas.microsoft.com/office/drawing/2014/main" id="{DAEE6506-3830-43AE-25DF-92864DF098C5}"/>
                </a:ext>
              </a:extLst>
            </p:cNvPr>
            <p:cNvSpPr txBox="1"/>
            <p:nvPr/>
          </p:nvSpPr>
          <p:spPr>
            <a:xfrm>
              <a:off x="531298" y="934772"/>
              <a:ext cx="2566549" cy="984079"/>
            </a:xfrm>
            <a:prstGeom prst="rect">
              <a:avLst/>
            </a:prstGeom>
            <a:noFill/>
          </p:spPr>
          <p:txBody>
            <a:bodyPr wrap="square" rtlCol="0">
              <a:spAutoFit/>
            </a:bodyPr>
            <a:lstStyle/>
            <a:p>
              <a:r>
                <a:rPr lang="en-US" sz="1600" b="1" noProof="0">
                  <a:latin typeface="Arial Black" panose="020B0A04020102020204" pitchFamily="34" charset="0"/>
                  <a:ea typeface="Roboto" panose="02000000000000000000" pitchFamily="2" charset="0"/>
                  <a:cs typeface="Poppins" panose="00000500000000000000" pitchFamily="2" charset="0"/>
                </a:rPr>
                <a:t>*</a:t>
              </a:r>
              <a:r>
                <a:rPr lang="en-US" sz="1200" b="1" noProof="0">
                  <a:latin typeface="Arial Black" panose="020B0A04020102020204" pitchFamily="34" charset="0"/>
                  <a:ea typeface="Roboto" panose="02000000000000000000" pitchFamily="2" charset="0"/>
                  <a:cs typeface="Poppins" panose="00000500000000000000" pitchFamily="2" charset="0"/>
                </a:rPr>
                <a:t>Two summary scores for each domain</a:t>
              </a:r>
            </a:p>
            <a:p>
              <a:endParaRPr lang="en-US" sz="1100" noProof="0">
                <a:latin typeface="Proxima Nova Lt" panose="02000506030000020004" pitchFamily="50" charset="0"/>
              </a:endParaRPr>
            </a:p>
          </p:txBody>
        </p:sp>
        <p:sp>
          <p:nvSpPr>
            <p:cNvPr id="39" name="TextBox 38">
              <a:extLst>
                <a:ext uri="{FF2B5EF4-FFF2-40B4-BE49-F238E27FC236}">
                  <a16:creationId xmlns:a16="http://schemas.microsoft.com/office/drawing/2014/main" id="{454C9835-8B78-85A7-AA20-3ECF28132773}"/>
                </a:ext>
              </a:extLst>
            </p:cNvPr>
            <p:cNvSpPr txBox="1"/>
            <p:nvPr/>
          </p:nvSpPr>
          <p:spPr>
            <a:xfrm>
              <a:off x="531297" y="1476784"/>
              <a:ext cx="2281911" cy="715694"/>
            </a:xfrm>
            <a:prstGeom prst="rect">
              <a:avLst/>
            </a:prstGeom>
            <a:noFill/>
          </p:spPr>
          <p:txBody>
            <a:bodyPr wrap="square">
              <a:spAutoFit/>
            </a:bodyPr>
            <a:lstStyle/>
            <a:p>
              <a:pPr marL="171450" indent="-171450">
                <a:buFont typeface="Arial" panose="020B0604020202020204" pitchFamily="34" charset="0"/>
                <a:buChar char="•"/>
              </a:pPr>
              <a:r>
                <a:rPr lang="en-US" sz="900" noProof="0">
                  <a:latin typeface="Poppins" panose="00000500000000000000" pitchFamily="2" charset="0"/>
                  <a:ea typeface="Roboto" panose="02000000000000000000" pitchFamily="2" charset="0"/>
                  <a:cs typeface="Poppins" panose="00000500000000000000" pitchFamily="2" charset="0"/>
                </a:rPr>
                <a:t>Average percentage of tracer supplies available at facilities</a:t>
              </a:r>
            </a:p>
            <a:p>
              <a:pPr marL="171450" indent="-171450">
                <a:buFont typeface="Arial" panose="020B0604020202020204" pitchFamily="34" charset="0"/>
                <a:buChar char="•"/>
              </a:pPr>
              <a:r>
                <a:rPr lang="en-US" sz="900" noProof="0">
                  <a:latin typeface="Poppins" panose="00000500000000000000" pitchFamily="2" charset="0"/>
                  <a:ea typeface="Roboto" panose="02000000000000000000" pitchFamily="2" charset="0"/>
                  <a:cs typeface="Poppins" panose="00000500000000000000" pitchFamily="2" charset="0"/>
                </a:rPr>
                <a:t>Percentage of facilities that have all tracer supplies</a:t>
              </a:r>
            </a:p>
          </p:txBody>
        </p:sp>
      </p:grpSp>
      <p:cxnSp>
        <p:nvCxnSpPr>
          <p:cNvPr id="24" name="Straight Connector 23">
            <a:extLst>
              <a:ext uri="{FF2B5EF4-FFF2-40B4-BE49-F238E27FC236}">
                <a16:creationId xmlns:a16="http://schemas.microsoft.com/office/drawing/2014/main" id="{A53E01B3-C955-CC47-D561-28472E9C263A}"/>
              </a:ext>
            </a:extLst>
          </p:cNvPr>
          <p:cNvCxnSpPr>
            <a:cxnSpLocks/>
            <a:stCxn id="9" idx="3"/>
            <a:endCxn id="15" idx="1"/>
          </p:cNvCxnSpPr>
          <p:nvPr/>
        </p:nvCxnSpPr>
        <p:spPr>
          <a:xfrm flipV="1">
            <a:off x="5320880" y="3070923"/>
            <a:ext cx="562461" cy="207862"/>
          </a:xfrm>
          <a:prstGeom prst="line">
            <a:avLst/>
          </a:prstGeom>
          <a:ln w="9525">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10D2163-E9CF-A701-7A9F-FEB8AC0C53F4}"/>
              </a:ext>
            </a:extLst>
          </p:cNvPr>
          <p:cNvCxnSpPr>
            <a:cxnSpLocks/>
            <a:stCxn id="8" idx="3"/>
            <a:endCxn id="17" idx="1"/>
          </p:cNvCxnSpPr>
          <p:nvPr/>
        </p:nvCxnSpPr>
        <p:spPr>
          <a:xfrm flipV="1">
            <a:off x="5321424" y="2104270"/>
            <a:ext cx="575952" cy="267101"/>
          </a:xfrm>
          <a:prstGeom prst="line">
            <a:avLst/>
          </a:prstGeom>
          <a:ln w="9525">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780385-2FCA-8EBD-4740-BC801F3E9D2F}"/>
              </a:ext>
            </a:extLst>
          </p:cNvPr>
          <p:cNvCxnSpPr>
            <a:cxnSpLocks/>
            <a:stCxn id="12" idx="3"/>
            <a:endCxn id="14" idx="1"/>
          </p:cNvCxnSpPr>
          <p:nvPr/>
        </p:nvCxnSpPr>
        <p:spPr>
          <a:xfrm flipV="1">
            <a:off x="5321424" y="4083696"/>
            <a:ext cx="561918" cy="115724"/>
          </a:xfrm>
          <a:prstGeom prst="line">
            <a:avLst/>
          </a:prstGeom>
          <a:ln w="9525">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9015E67-5563-1E4C-308C-56CF1E7B8076}"/>
              </a:ext>
            </a:extLst>
          </p:cNvPr>
          <p:cNvCxnSpPr>
            <a:cxnSpLocks/>
            <a:stCxn id="11" idx="3"/>
            <a:endCxn id="13" idx="1"/>
          </p:cNvCxnSpPr>
          <p:nvPr/>
        </p:nvCxnSpPr>
        <p:spPr>
          <a:xfrm>
            <a:off x="5321424" y="5051809"/>
            <a:ext cx="561918" cy="9523"/>
          </a:xfrm>
          <a:prstGeom prst="line">
            <a:avLst/>
          </a:prstGeom>
          <a:ln w="9525">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8934820-EB09-8457-8DE7-9326FB2BA6B6}"/>
              </a:ext>
            </a:extLst>
          </p:cNvPr>
          <p:cNvCxnSpPr>
            <a:cxnSpLocks/>
            <a:stCxn id="10" idx="3"/>
            <a:endCxn id="16" idx="1"/>
          </p:cNvCxnSpPr>
          <p:nvPr/>
        </p:nvCxnSpPr>
        <p:spPr>
          <a:xfrm flipV="1">
            <a:off x="5321424" y="5872718"/>
            <a:ext cx="561919" cy="40852"/>
          </a:xfrm>
          <a:prstGeom prst="line">
            <a:avLst/>
          </a:prstGeom>
          <a:ln w="9525">
            <a:solidFill>
              <a:srgbClr val="189992"/>
            </a:solidFill>
            <a:prstDash val="soli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7437258-FC04-1567-653D-9A8CE944E296}"/>
              </a:ext>
            </a:extLst>
          </p:cNvPr>
          <p:cNvGrpSpPr/>
          <p:nvPr/>
        </p:nvGrpSpPr>
        <p:grpSpPr>
          <a:xfrm>
            <a:off x="419357" y="1346445"/>
            <a:ext cx="11289680" cy="5211998"/>
            <a:chOff x="621374" y="1378344"/>
            <a:chExt cx="11289680" cy="5211998"/>
          </a:xfrm>
        </p:grpSpPr>
        <p:grpSp>
          <p:nvGrpSpPr>
            <p:cNvPr id="73" name="Group 72">
              <a:extLst>
                <a:ext uri="{FF2B5EF4-FFF2-40B4-BE49-F238E27FC236}">
                  <a16:creationId xmlns:a16="http://schemas.microsoft.com/office/drawing/2014/main" id="{3EB43E47-3949-DBEF-6DB2-0FCCFBF02F14}"/>
                </a:ext>
              </a:extLst>
            </p:cNvPr>
            <p:cNvGrpSpPr/>
            <p:nvPr/>
          </p:nvGrpSpPr>
          <p:grpSpPr>
            <a:xfrm>
              <a:off x="621374" y="1378344"/>
              <a:ext cx="11289680" cy="5211998"/>
              <a:chOff x="580430" y="985250"/>
              <a:chExt cx="11289680" cy="5211998"/>
            </a:xfrm>
          </p:grpSpPr>
          <p:grpSp>
            <p:nvGrpSpPr>
              <p:cNvPr id="44" name="Group 43">
                <a:extLst>
                  <a:ext uri="{FF2B5EF4-FFF2-40B4-BE49-F238E27FC236}">
                    <a16:creationId xmlns:a16="http://schemas.microsoft.com/office/drawing/2014/main" id="{5D314902-6933-81D1-F0CE-8A6368A0F068}"/>
                  </a:ext>
                </a:extLst>
              </p:cNvPr>
              <p:cNvGrpSpPr/>
              <p:nvPr/>
            </p:nvGrpSpPr>
            <p:grpSpPr>
              <a:xfrm>
                <a:off x="3272348" y="1143677"/>
                <a:ext cx="8597762" cy="4771402"/>
                <a:chOff x="3558949" y="778631"/>
                <a:chExt cx="8361319" cy="4590931"/>
              </a:xfrm>
            </p:grpSpPr>
            <p:sp>
              <p:nvSpPr>
                <p:cNvPr id="8" name="Rectangle 7">
                  <a:extLst>
                    <a:ext uri="{FF2B5EF4-FFF2-40B4-BE49-F238E27FC236}">
                      <a16:creationId xmlns:a16="http://schemas.microsoft.com/office/drawing/2014/main" id="{276853A0-8754-F801-2C69-50E38F3E667A}"/>
                    </a:ext>
                  </a:extLst>
                </p:cNvPr>
                <p:cNvSpPr/>
                <p:nvPr/>
              </p:nvSpPr>
              <p:spPr>
                <a:xfrm>
                  <a:off x="3558949" y="1341324"/>
                  <a:ext cx="2149369" cy="542065"/>
                </a:xfrm>
                <a:prstGeom prst="rect">
                  <a:avLst/>
                </a:prstGeom>
                <a:solidFill>
                  <a:schemeClr val="bg1">
                    <a:lumMod val="85000"/>
                  </a:schemeClr>
                </a:solidFill>
                <a:ln>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Poppins" panose="00000500000000000000" pitchFamily="2" charset="0"/>
                      <a:ea typeface="Verdana" panose="020B0604030504040204" pitchFamily="34" charset="0"/>
                      <a:cs typeface="Poppins" panose="00000500000000000000" pitchFamily="2" charset="0"/>
                    </a:rPr>
                    <a:t>EQUIPMENT SCORE*</a:t>
                  </a:r>
                </a:p>
              </p:txBody>
            </p:sp>
            <p:sp>
              <p:nvSpPr>
                <p:cNvPr id="9" name="Rectangle 8">
                  <a:extLst>
                    <a:ext uri="{FF2B5EF4-FFF2-40B4-BE49-F238E27FC236}">
                      <a16:creationId xmlns:a16="http://schemas.microsoft.com/office/drawing/2014/main" id="{C1FB243D-BA65-C52B-D5A3-C6522ECE043C}"/>
                    </a:ext>
                  </a:extLst>
                </p:cNvPr>
                <p:cNvSpPr/>
                <p:nvPr/>
              </p:nvSpPr>
              <p:spPr>
                <a:xfrm>
                  <a:off x="3558949" y="2215701"/>
                  <a:ext cx="2148840" cy="539496"/>
                </a:xfrm>
                <a:prstGeom prst="rect">
                  <a:avLst/>
                </a:prstGeom>
                <a:solidFill>
                  <a:schemeClr val="bg1">
                    <a:lumMod val="85000"/>
                  </a:schemeClr>
                </a:solidFill>
                <a:ln>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Poppins" panose="00000500000000000000" pitchFamily="2" charset="0"/>
                      <a:ea typeface="Verdana" panose="020B0604030504040204" pitchFamily="34" charset="0"/>
                      <a:cs typeface="Poppins" panose="00000500000000000000" pitchFamily="2" charset="0"/>
                    </a:rPr>
                    <a:t>PPE SCORE*</a:t>
                  </a:r>
                  <a:endParaRPr kumimoji="0" lang="en-US" sz="1200"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endParaRPr>
                </a:p>
              </p:txBody>
            </p:sp>
            <p:sp>
              <p:nvSpPr>
                <p:cNvPr id="10" name="Rectangle 9">
                  <a:extLst>
                    <a:ext uri="{FF2B5EF4-FFF2-40B4-BE49-F238E27FC236}">
                      <a16:creationId xmlns:a16="http://schemas.microsoft.com/office/drawing/2014/main" id="{2054766A-5DBA-70D3-B615-8F8DB1191CA1}"/>
                    </a:ext>
                  </a:extLst>
                </p:cNvPr>
                <p:cNvSpPr/>
                <p:nvPr/>
              </p:nvSpPr>
              <p:spPr>
                <a:xfrm>
                  <a:off x="3558949" y="4750829"/>
                  <a:ext cx="2149369" cy="539496"/>
                </a:xfrm>
                <a:prstGeom prst="rect">
                  <a:avLst/>
                </a:prstGeom>
                <a:solidFill>
                  <a:schemeClr val="bg1">
                    <a:lumMod val="85000"/>
                  </a:schemeClr>
                </a:solidFill>
                <a:ln>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Poppins" panose="00000500000000000000" pitchFamily="2" charset="0"/>
                      <a:ea typeface="Verdana" panose="020B0604030504040204" pitchFamily="34" charset="0"/>
                      <a:cs typeface="Poppins" panose="00000500000000000000" pitchFamily="2" charset="0"/>
                    </a:rPr>
                    <a:t>DIAGNOSTICS SCORE*</a:t>
                  </a:r>
                  <a:endParaRPr kumimoji="0" lang="en-US" sz="1200"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endParaRPr>
                </a:p>
              </p:txBody>
            </p:sp>
            <p:sp>
              <p:nvSpPr>
                <p:cNvPr id="11" name="Rectangle 10">
                  <a:extLst>
                    <a:ext uri="{FF2B5EF4-FFF2-40B4-BE49-F238E27FC236}">
                      <a16:creationId xmlns:a16="http://schemas.microsoft.com/office/drawing/2014/main" id="{23DE3056-2076-7652-2B32-C128B1F2FAF3}"/>
                    </a:ext>
                  </a:extLst>
                </p:cNvPr>
                <p:cNvSpPr/>
                <p:nvPr/>
              </p:nvSpPr>
              <p:spPr>
                <a:xfrm>
                  <a:off x="3558949" y="3921663"/>
                  <a:ext cx="2149369" cy="539496"/>
                </a:xfrm>
                <a:prstGeom prst="rect">
                  <a:avLst/>
                </a:prstGeom>
                <a:solidFill>
                  <a:schemeClr val="bg1">
                    <a:lumMod val="85000"/>
                  </a:schemeClr>
                </a:solidFill>
                <a:ln>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schemeClr val="tx1"/>
                      </a:solidFill>
                      <a:latin typeface="Poppins" panose="00000500000000000000" pitchFamily="2" charset="0"/>
                      <a:ea typeface="Verdana" panose="020B0604030504040204" pitchFamily="34" charset="0"/>
                      <a:cs typeface="Poppins" panose="00000500000000000000" pitchFamily="2" charset="0"/>
                    </a:rPr>
                    <a:t>VACCINES SCORE*</a:t>
                  </a:r>
                  <a:endParaRPr kumimoji="0" lang="en-US" sz="1200"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endParaRPr>
                </a:p>
              </p:txBody>
            </p:sp>
            <p:sp>
              <p:nvSpPr>
                <p:cNvPr id="12" name="Rectangle 11">
                  <a:extLst>
                    <a:ext uri="{FF2B5EF4-FFF2-40B4-BE49-F238E27FC236}">
                      <a16:creationId xmlns:a16="http://schemas.microsoft.com/office/drawing/2014/main" id="{F083ADF8-5750-A0C2-7235-AB5F2F0852D3}"/>
                    </a:ext>
                  </a:extLst>
                </p:cNvPr>
                <p:cNvSpPr/>
                <p:nvPr/>
              </p:nvSpPr>
              <p:spPr>
                <a:xfrm>
                  <a:off x="3558949" y="3101514"/>
                  <a:ext cx="2149369" cy="539496"/>
                </a:xfrm>
                <a:prstGeom prst="rect">
                  <a:avLst/>
                </a:prstGeom>
                <a:solidFill>
                  <a:schemeClr val="bg1">
                    <a:lumMod val="85000"/>
                  </a:schemeClr>
                </a:solidFill>
                <a:ln>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rPr>
                    <a:t>MEDICINES SCORE</a:t>
                  </a:r>
                  <a:r>
                    <a:rPr lang="en-US" sz="1200" b="1" noProof="0">
                      <a:solidFill>
                        <a:schemeClr val="tx1"/>
                      </a:solidFill>
                      <a:latin typeface="Poppins" panose="00000500000000000000" pitchFamily="2" charset="0"/>
                      <a:ea typeface="Verdana" panose="020B0604030504040204" pitchFamily="34" charset="0"/>
                      <a:cs typeface="Poppins" panose="00000500000000000000" pitchFamily="2" charset="0"/>
                    </a:rPr>
                    <a:t>*</a:t>
                  </a:r>
                  <a:endParaRPr kumimoji="0" lang="en-US" sz="1200"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endParaRPr>
                </a:p>
              </p:txBody>
            </p:sp>
            <p:sp>
              <p:nvSpPr>
                <p:cNvPr id="13" name="Rectangle 12">
                  <a:extLst>
                    <a:ext uri="{FF2B5EF4-FFF2-40B4-BE49-F238E27FC236}">
                      <a16:creationId xmlns:a16="http://schemas.microsoft.com/office/drawing/2014/main" id="{9605D62D-B2EC-681A-BA90-C7FA0EE033EF}"/>
                    </a:ext>
                  </a:extLst>
                </p:cNvPr>
                <p:cNvSpPr/>
                <p:nvPr/>
              </p:nvSpPr>
              <p:spPr>
                <a:xfrm>
                  <a:off x="6254783" y="3974902"/>
                  <a:ext cx="5665474" cy="451345"/>
                </a:xfrm>
                <a:prstGeom prst="rect">
                  <a:avLst/>
                </a:prstGeom>
                <a:solidFill>
                  <a:schemeClr val="bg1">
                    <a:lumMod val="9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Measles and rubella vaccine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Penta (DPT + HiB + HepB) vaccine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BCG vaccine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Polio vaccine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PCV (pneumococcal vaccine)</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50" i="0" u="none" strike="noStrike" kern="1200" cap="none" spc="0" normalizeH="0" baseline="0" noProof="0">
                      <a:ln>
                        <a:noFill/>
                      </a:ln>
                      <a:solidFill>
                        <a:schemeClr val="tx1"/>
                      </a:solidFill>
                      <a:effectLst/>
                      <a:uLnTx/>
                      <a:uFillTx/>
                      <a:latin typeface="DejaVu Sans" panose="020B0603030804020204" pitchFamily="34" charset="0"/>
                      <a:ea typeface="DejaVu Sans" panose="020B0603030804020204" pitchFamily="34" charset="0"/>
                      <a:cs typeface="DejaVu Sans" panose="020B0603030804020204" pitchFamily="34" charset="0"/>
                    </a:rPr>
                    <a:t>Human papilloma vaccine (HPV) injection</a:t>
                  </a:r>
                </a:p>
              </p:txBody>
            </p:sp>
            <p:sp>
              <p:nvSpPr>
                <p:cNvPr id="15" name="Rectangle 14">
                  <a:extLst>
                    <a:ext uri="{FF2B5EF4-FFF2-40B4-BE49-F238E27FC236}">
                      <a16:creationId xmlns:a16="http://schemas.microsoft.com/office/drawing/2014/main" id="{C5521D38-E243-06D1-BEBF-E85473416191}"/>
                    </a:ext>
                  </a:extLst>
                </p:cNvPr>
                <p:cNvSpPr/>
                <p:nvPr/>
              </p:nvSpPr>
              <p:spPr>
                <a:xfrm>
                  <a:off x="6254782" y="2070656"/>
                  <a:ext cx="5651829" cy="429586"/>
                </a:xfrm>
                <a:prstGeom prst="rect">
                  <a:avLst/>
                </a:prstGeom>
                <a:solidFill>
                  <a:schemeClr val="bg1">
                    <a:lumMod val="9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Respirator masks (N95, FFP2)</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Surgical or medical masks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Disposable latex gloves</a:t>
                  </a:r>
                  <a:endParaRPr kumimoji="0" lang="en-US" sz="950" i="0" u="none" strike="noStrike" kern="1200" cap="none" spc="0" normalizeH="0" baseline="0" noProof="0">
                    <a:ln>
                      <a:noFill/>
                    </a:ln>
                    <a:solidFill>
                      <a:schemeClr val="tx1"/>
                    </a:solidFill>
                    <a:effectLst/>
                    <a:uLnTx/>
                    <a:uFillTx/>
                    <a:latin typeface="DejaVu Sans" panose="020B0603030804020204" pitchFamily="34" charset="0"/>
                    <a:ea typeface="DejaVu Sans" panose="020B0603030804020204" pitchFamily="34" charset="0"/>
                    <a:cs typeface="DejaVu Sans" panose="020B0603030804020204" pitchFamily="34" charset="0"/>
                  </a:endParaRPr>
                </a:p>
              </p:txBody>
            </p:sp>
            <p:sp>
              <p:nvSpPr>
                <p:cNvPr id="16" name="Rectangle 15">
                  <a:extLst>
                    <a:ext uri="{FF2B5EF4-FFF2-40B4-BE49-F238E27FC236}">
                      <a16:creationId xmlns:a16="http://schemas.microsoft.com/office/drawing/2014/main" id="{ECE1C48D-52C1-EC56-B6F8-D98C5C0EC21E}"/>
                    </a:ext>
                  </a:extLst>
                </p:cNvPr>
                <p:cNvSpPr/>
                <p:nvPr/>
              </p:nvSpPr>
              <p:spPr>
                <a:xfrm>
                  <a:off x="6254784" y="4592978"/>
                  <a:ext cx="5665471" cy="776584"/>
                </a:xfrm>
                <a:prstGeom prst="rect">
                  <a:avLst/>
                </a:prstGeom>
                <a:solidFill>
                  <a:schemeClr val="bg1">
                    <a:lumMod val="9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Urine dipstick testing (glucose, protein, ketone)</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Onsite blood glucose testing</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Onsite malaria diagnostic testing</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Onsite HIV diagnostic testing </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Pregnancy test kit</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Syphilis diagnostic testing (rapid test kit or specific assay kit – syphilis serology)</a:t>
                  </a:r>
                  <a:endParaRPr kumimoji="0" lang="en-US" sz="950" i="0" u="none" strike="noStrike" kern="1200" cap="none" spc="0" normalizeH="0" baseline="0" noProof="0">
                    <a:ln>
                      <a:noFill/>
                    </a:ln>
                    <a:solidFill>
                      <a:schemeClr val="tx1"/>
                    </a:solidFill>
                    <a:effectLst/>
                    <a:uLnTx/>
                    <a:uFillTx/>
                    <a:latin typeface="DejaVu Sans" panose="020B0603030804020204" pitchFamily="34" charset="0"/>
                    <a:ea typeface="DejaVu Sans" panose="020B0603030804020204" pitchFamily="34" charset="0"/>
                    <a:cs typeface="DejaVu Sans" panose="020B0603030804020204" pitchFamily="34" charset="0"/>
                  </a:endParaRPr>
                </a:p>
              </p:txBody>
            </p:sp>
            <p:sp>
              <p:nvSpPr>
                <p:cNvPr id="17" name="Rectangle 16">
                  <a:extLst>
                    <a:ext uri="{FF2B5EF4-FFF2-40B4-BE49-F238E27FC236}">
                      <a16:creationId xmlns:a16="http://schemas.microsoft.com/office/drawing/2014/main" id="{209A7633-6661-BAD2-F5A5-89D9C73B4658}"/>
                    </a:ext>
                  </a:extLst>
                </p:cNvPr>
                <p:cNvSpPr/>
                <p:nvPr/>
              </p:nvSpPr>
              <p:spPr>
                <a:xfrm>
                  <a:off x="6268431" y="778631"/>
                  <a:ext cx="5651829" cy="1153454"/>
                </a:xfrm>
                <a:prstGeom prst="rect">
                  <a:avLst/>
                </a:prstGeom>
                <a:solidFill>
                  <a:schemeClr val="bg1">
                    <a:lumMod val="9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Thermometer </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Child weighing scale</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Height measuring board</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Blood pressure apparatus</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Oxygen delivery device</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Speculum</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Equipment to collect pap smear specimen (spatula, endocervical brushes)</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Refrigerator with continuous temperature monitoring</a:t>
                  </a:r>
                </a:p>
                <a:p>
                  <a:pPr marL="228600" marR="0" lvl="0" indent="-2286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Cold box / vaccine carrier with ice packs</a:t>
                  </a:r>
                </a:p>
              </p:txBody>
            </p:sp>
            <p:sp>
              <p:nvSpPr>
                <p:cNvPr id="14" name="Rectangle 13">
                  <a:extLst>
                    <a:ext uri="{FF2B5EF4-FFF2-40B4-BE49-F238E27FC236}">
                      <a16:creationId xmlns:a16="http://schemas.microsoft.com/office/drawing/2014/main" id="{09E4EF66-1053-ED45-FF38-DA6B80A6E0DD}"/>
                    </a:ext>
                  </a:extLst>
                </p:cNvPr>
                <p:cNvSpPr/>
                <p:nvPr/>
              </p:nvSpPr>
              <p:spPr>
                <a:xfrm>
                  <a:off x="6254783" y="2696421"/>
                  <a:ext cx="5665485" cy="1126990"/>
                </a:xfrm>
                <a:prstGeom prst="rect">
                  <a:avLst/>
                </a:prstGeom>
                <a:solidFill>
                  <a:schemeClr val="bg1">
                    <a:lumMod val="95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numCol="3" rtlCol="0" anchor="ctr"/>
                <a:lstStyle/>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Amoxicillin or gentamicin</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Oral rehydration salts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Zinc sulphate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Oxytocin or other uterotonic</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Magnesium sulphate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Iron folic acid</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Chlorohexidine</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Long-acting reversible contraception methods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Short-acting reversible contraception methods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Metformin, insulin injection, or another hypoglycemic agent</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First-line anti-hypertensives</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Anti-</a:t>
                  </a:r>
                  <a:r>
                    <a:rPr lang="en-US" sz="950" noProof="0" err="1">
                      <a:solidFill>
                        <a:schemeClr val="tx1"/>
                      </a:solidFill>
                      <a:latin typeface="DejaVu Sans" panose="020B0603030804020204" pitchFamily="34" charset="0"/>
                      <a:ea typeface="DejaVu Sans" panose="020B0603030804020204" pitchFamily="34" charset="0"/>
                      <a:cs typeface="DejaVu Sans" panose="020B0603030804020204" pitchFamily="34" charset="0"/>
                    </a:rPr>
                    <a:t>malarials</a:t>
                  </a:r>
                  <a:endPar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endParaRP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Ready-to-use therapeutic food</a:t>
                  </a:r>
                </a:p>
                <a:p>
                  <a:pPr marL="171450" marR="0" lvl="0" indent="-1714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50" noProof="0">
                      <a:solidFill>
                        <a:schemeClr val="tx1"/>
                      </a:solidFill>
                      <a:latin typeface="DejaVu Sans" panose="020B0603030804020204" pitchFamily="34" charset="0"/>
                      <a:ea typeface="DejaVu Sans" panose="020B0603030804020204" pitchFamily="34" charset="0"/>
                      <a:cs typeface="DejaVu Sans" panose="020B0603030804020204" pitchFamily="34" charset="0"/>
                    </a:rPr>
                    <a:t>Vitamin A</a:t>
                  </a:r>
                </a:p>
              </p:txBody>
            </p:sp>
          </p:grpSp>
          <p:grpSp>
            <p:nvGrpSpPr>
              <p:cNvPr id="72" name="Group 71">
                <a:extLst>
                  <a:ext uri="{FF2B5EF4-FFF2-40B4-BE49-F238E27FC236}">
                    <a16:creationId xmlns:a16="http://schemas.microsoft.com/office/drawing/2014/main" id="{70FC206A-6E7E-B2D7-97E4-E84205381CCF}"/>
                  </a:ext>
                </a:extLst>
              </p:cNvPr>
              <p:cNvGrpSpPr/>
              <p:nvPr/>
            </p:nvGrpSpPr>
            <p:grpSpPr>
              <a:xfrm>
                <a:off x="580430" y="985250"/>
                <a:ext cx="7658363" cy="5211998"/>
                <a:chOff x="580430" y="985250"/>
                <a:chExt cx="7658363" cy="5211998"/>
              </a:xfrm>
            </p:grpSpPr>
            <p:sp>
              <p:nvSpPr>
                <p:cNvPr id="7" name="Rectangle 6">
                  <a:extLst>
                    <a:ext uri="{FF2B5EF4-FFF2-40B4-BE49-F238E27FC236}">
                      <a16:creationId xmlns:a16="http://schemas.microsoft.com/office/drawing/2014/main" id="{1EB8E3FE-6581-A602-9682-ADB1127371A0}"/>
                    </a:ext>
                  </a:extLst>
                </p:cNvPr>
                <p:cNvSpPr/>
                <p:nvPr/>
              </p:nvSpPr>
              <p:spPr>
                <a:xfrm>
                  <a:off x="580430" y="2890749"/>
                  <a:ext cx="2149369" cy="1840878"/>
                </a:xfrm>
                <a:prstGeom prst="rect">
                  <a:avLst/>
                </a:prstGeom>
                <a:solidFill>
                  <a:schemeClr val="bg1">
                    <a:lumMod val="85000"/>
                  </a:schemeClr>
                </a:solidFill>
                <a:ln w="19050">
                  <a:solidFill>
                    <a:srgbClr val="1899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Poppins" panose="00000500000000000000" pitchFamily="2" charset="0"/>
                      <a:ea typeface="Verdana" panose="020B0604030504040204" pitchFamily="34" charset="0"/>
                      <a:cs typeface="Poppins" panose="00000500000000000000" pitchFamily="2" charset="0"/>
                    </a:rPr>
                    <a:t>MEDICAL SUPPLIES SCORE*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i="1" noProof="0">
                      <a:solidFill>
                        <a:schemeClr val="tx1"/>
                      </a:solidFill>
                      <a:latin typeface="Avenir Next LT Pro" panose="020B0504020202020204" pitchFamily="34" charset="0"/>
                      <a:ea typeface="Verdana" panose="020B0604030504040204" pitchFamily="34" charset="0"/>
                      <a:cs typeface="Poppins" panose="00000500000000000000" pitchFamily="2" charset="0"/>
                    </a:rPr>
                    <a:t>Based on </a:t>
                  </a:r>
                  <a:r>
                    <a:rPr kumimoji="0" lang="en-US" sz="1100" i="1" u="none" strike="noStrike" kern="1200" cap="none" spc="0" normalizeH="0" baseline="0" noProof="0">
                      <a:ln>
                        <a:noFill/>
                      </a:ln>
                      <a:solidFill>
                        <a:schemeClr val="tx1"/>
                      </a:solidFill>
                      <a:effectLst/>
                      <a:uLnTx/>
                      <a:uFillTx/>
                      <a:latin typeface="Avenir Next LT Pro" panose="020B0504020202020204" pitchFamily="34" charset="0"/>
                      <a:ea typeface="Verdana" panose="020B0604030504040204" pitchFamily="34" charset="0"/>
                      <a:cs typeface="Poppins" panose="00000500000000000000" pitchFamily="2" charset="0"/>
                    </a:rPr>
                    <a:t>the full set of tracer medical supplies</a:t>
                  </a:r>
                  <a:endParaRPr kumimoji="0" lang="en-US" sz="1400" i="1" u="none" strike="noStrike" kern="1200" cap="none" spc="0" normalizeH="0" baseline="0" noProof="0">
                    <a:ln>
                      <a:noFill/>
                    </a:ln>
                    <a:solidFill>
                      <a:schemeClr val="tx1"/>
                    </a:solidFill>
                    <a:effectLst/>
                    <a:uLnTx/>
                    <a:uFillTx/>
                    <a:latin typeface="Avenir Next LT Pro" panose="020B0504020202020204" pitchFamily="34" charset="0"/>
                    <a:ea typeface="Verdana" panose="020B0604030504040204" pitchFamily="34" charset="0"/>
                    <a:cs typeface="Poppins" panose="00000500000000000000" pitchFamily="2" charset="0"/>
                  </a:endParaRPr>
                </a:p>
              </p:txBody>
            </p:sp>
            <p:grpSp>
              <p:nvGrpSpPr>
                <p:cNvPr id="71" name="Group 70">
                  <a:extLst>
                    <a:ext uri="{FF2B5EF4-FFF2-40B4-BE49-F238E27FC236}">
                      <a16:creationId xmlns:a16="http://schemas.microsoft.com/office/drawing/2014/main" id="{D38C22CF-0B9B-53CB-F4C6-3018BC6B06E3}"/>
                    </a:ext>
                  </a:extLst>
                </p:cNvPr>
                <p:cNvGrpSpPr/>
                <p:nvPr/>
              </p:nvGrpSpPr>
              <p:grpSpPr>
                <a:xfrm>
                  <a:off x="1633829" y="985250"/>
                  <a:ext cx="6604964" cy="5211998"/>
                  <a:chOff x="1633829" y="985250"/>
                  <a:chExt cx="6604964" cy="5211998"/>
                </a:xfrm>
              </p:grpSpPr>
              <p:grpSp>
                <p:nvGrpSpPr>
                  <p:cNvPr id="69" name="Group 68">
                    <a:extLst>
                      <a:ext uri="{FF2B5EF4-FFF2-40B4-BE49-F238E27FC236}">
                        <a16:creationId xmlns:a16="http://schemas.microsoft.com/office/drawing/2014/main" id="{C6DED96E-0898-B05B-D538-2A69FDBB0C62}"/>
                      </a:ext>
                    </a:extLst>
                  </p:cNvPr>
                  <p:cNvGrpSpPr/>
                  <p:nvPr/>
                </p:nvGrpSpPr>
                <p:grpSpPr>
                  <a:xfrm>
                    <a:off x="1633829" y="985250"/>
                    <a:ext cx="6604964" cy="5211998"/>
                    <a:chOff x="1633829" y="985250"/>
                    <a:chExt cx="6604964" cy="5211998"/>
                  </a:xfrm>
                </p:grpSpPr>
                <p:cxnSp>
                  <p:nvCxnSpPr>
                    <p:cNvPr id="60" name="Straight Connector 59">
                      <a:extLst>
                        <a:ext uri="{FF2B5EF4-FFF2-40B4-BE49-F238E27FC236}">
                          <a16:creationId xmlns:a16="http://schemas.microsoft.com/office/drawing/2014/main" id="{5D4CB825-04F4-4856-1810-FDA8569D11DF}"/>
                        </a:ext>
                      </a:extLst>
                    </p:cNvPr>
                    <p:cNvCxnSpPr>
                      <a:cxnSpLocks/>
                    </p:cNvCxnSpPr>
                    <p:nvPr/>
                  </p:nvCxnSpPr>
                  <p:spPr>
                    <a:xfrm>
                      <a:off x="1655113" y="985250"/>
                      <a:ext cx="6583680" cy="0"/>
                    </a:xfrm>
                    <a:prstGeom prst="line">
                      <a:avLst/>
                    </a:prstGeom>
                    <a:ln w="12700">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30E3E1A-BC58-98B0-6613-397470DEF4C4}"/>
                        </a:ext>
                      </a:extLst>
                    </p:cNvPr>
                    <p:cNvCxnSpPr/>
                    <p:nvPr/>
                  </p:nvCxnSpPr>
                  <p:spPr>
                    <a:xfrm>
                      <a:off x="1641465" y="6197248"/>
                      <a:ext cx="6583680" cy="0"/>
                    </a:xfrm>
                    <a:prstGeom prst="line">
                      <a:avLst/>
                    </a:prstGeom>
                    <a:ln w="12700">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E3458DF-C1CE-165B-F62E-3F17E8239C9F}"/>
                        </a:ext>
                      </a:extLst>
                    </p:cNvPr>
                    <p:cNvCxnSpPr>
                      <a:cxnSpLocks/>
                    </p:cNvCxnSpPr>
                    <p:nvPr/>
                  </p:nvCxnSpPr>
                  <p:spPr>
                    <a:xfrm>
                      <a:off x="1655115" y="1001151"/>
                      <a:ext cx="0" cy="1828800"/>
                    </a:xfrm>
                    <a:prstGeom prst="line">
                      <a:avLst/>
                    </a:prstGeom>
                    <a:ln w="12700">
                      <a:solidFill>
                        <a:srgbClr val="189992"/>
                      </a:solidFill>
                      <a:prstDash val="soli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AE90BAF-EF05-38A9-6777-9E52DD3D2C46}"/>
                        </a:ext>
                      </a:extLst>
                    </p:cNvPr>
                    <p:cNvCxnSpPr>
                      <a:cxnSpLocks/>
                    </p:cNvCxnSpPr>
                    <p:nvPr/>
                  </p:nvCxnSpPr>
                  <p:spPr>
                    <a:xfrm>
                      <a:off x="1633829" y="4821403"/>
                      <a:ext cx="0" cy="1371600"/>
                    </a:xfrm>
                    <a:prstGeom prst="line">
                      <a:avLst/>
                    </a:prstGeom>
                    <a:ln w="12700">
                      <a:solidFill>
                        <a:srgbClr val="189992"/>
                      </a:solidFill>
                      <a:prstDash val="solid"/>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537C3BB5-CEC1-AA52-6F47-0BB808882116}"/>
                      </a:ext>
                    </a:extLst>
                  </p:cNvPr>
                  <p:cNvCxnSpPr>
                    <a:cxnSpLocks/>
                  </p:cNvCxnSpPr>
                  <p:nvPr/>
                </p:nvCxnSpPr>
                <p:spPr>
                  <a:xfrm>
                    <a:off x="8219780" y="6105085"/>
                    <a:ext cx="0" cy="91440"/>
                  </a:xfrm>
                  <a:prstGeom prst="line">
                    <a:avLst/>
                  </a:prstGeom>
                  <a:ln w="12700">
                    <a:solidFill>
                      <a:srgbClr val="189992"/>
                    </a:solidFill>
                  </a:ln>
                </p:spPr>
                <p:style>
                  <a:lnRef idx="1">
                    <a:schemeClr val="accent1"/>
                  </a:lnRef>
                  <a:fillRef idx="0">
                    <a:schemeClr val="accent1"/>
                  </a:fillRef>
                  <a:effectRef idx="0">
                    <a:schemeClr val="accent1"/>
                  </a:effectRef>
                  <a:fontRef idx="minor">
                    <a:schemeClr val="tx1"/>
                  </a:fontRef>
                </p:style>
              </p:cxnSp>
            </p:grpSp>
          </p:grpSp>
        </p:grpSp>
        <p:cxnSp>
          <p:nvCxnSpPr>
            <p:cNvPr id="75" name="Straight Connector 74">
              <a:extLst>
                <a:ext uri="{FF2B5EF4-FFF2-40B4-BE49-F238E27FC236}">
                  <a16:creationId xmlns:a16="http://schemas.microsoft.com/office/drawing/2014/main" id="{D50E744A-759D-2740-3D25-F908BBB82671}"/>
                </a:ext>
              </a:extLst>
            </p:cNvPr>
            <p:cNvCxnSpPr>
              <a:cxnSpLocks/>
            </p:cNvCxnSpPr>
            <p:nvPr/>
          </p:nvCxnSpPr>
          <p:spPr>
            <a:xfrm>
              <a:off x="8277744" y="1387967"/>
              <a:ext cx="0" cy="91440"/>
            </a:xfrm>
            <a:prstGeom prst="line">
              <a:avLst/>
            </a:prstGeom>
            <a:ln w="12700">
              <a:solidFill>
                <a:srgbClr val="189992"/>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90DD5130-9A6F-2268-0E1D-31D3105111C3}"/>
              </a:ext>
            </a:extLst>
          </p:cNvPr>
          <p:cNvGrpSpPr/>
          <p:nvPr/>
        </p:nvGrpSpPr>
        <p:grpSpPr>
          <a:xfrm>
            <a:off x="489066" y="201447"/>
            <a:ext cx="7017203" cy="557986"/>
            <a:chOff x="489066" y="201447"/>
            <a:chExt cx="7017203" cy="557986"/>
          </a:xfrm>
        </p:grpSpPr>
        <p:sp>
          <p:nvSpPr>
            <p:cNvPr id="6" name="TextBox 5">
              <a:extLst>
                <a:ext uri="{FF2B5EF4-FFF2-40B4-BE49-F238E27FC236}">
                  <a16:creationId xmlns:a16="http://schemas.microsoft.com/office/drawing/2014/main" id="{24B27DBA-7689-B5C4-00B5-DBD925CDA134}"/>
                </a:ext>
              </a:extLst>
            </p:cNvPr>
            <p:cNvSpPr txBox="1"/>
            <p:nvPr/>
          </p:nvSpPr>
          <p:spPr>
            <a:xfrm>
              <a:off x="1123690" y="201447"/>
              <a:ext cx="6382579" cy="519886"/>
            </a:xfrm>
            <a:prstGeom prst="rect">
              <a:avLst/>
            </a:prstGeom>
            <a:solidFill>
              <a:schemeClr val="bg1"/>
            </a:solidFill>
            <a:ln>
              <a:noFill/>
            </a:ln>
          </p:spPr>
          <p:txBody>
            <a:bodyPr wrap="square">
              <a:spAutoFit/>
            </a:bodyPr>
            <a:lstStyle/>
            <a:p>
              <a:pPr>
                <a:lnSpc>
                  <a:spcPts val="3400"/>
                </a:lnSpc>
              </a:pPr>
              <a:r>
                <a:rPr lang="en-US" sz="2800" b="1" noProof="0">
                  <a:solidFill>
                    <a:srgbClr val="08716C"/>
                  </a:solidFill>
                  <a:latin typeface="Poppins" panose="00000500000000000000" pitchFamily="2" charset="0"/>
                  <a:cs typeface="Poppins" panose="00000500000000000000" pitchFamily="2" charset="0"/>
                </a:rPr>
                <a:t>Index Scores | Medical Supplies</a:t>
              </a:r>
            </a:p>
          </p:txBody>
        </p:sp>
        <p:cxnSp>
          <p:nvCxnSpPr>
            <p:cNvPr id="18" name="Straight Connector 17">
              <a:extLst>
                <a:ext uri="{FF2B5EF4-FFF2-40B4-BE49-F238E27FC236}">
                  <a16:creationId xmlns:a16="http://schemas.microsoft.com/office/drawing/2014/main" id="{58858E16-2B68-9520-2BB5-7973019479E8}"/>
                </a:ext>
              </a:extLst>
            </p:cNvPr>
            <p:cNvCxnSpPr>
              <a:cxnSpLocks/>
            </p:cNvCxnSpPr>
            <p:nvPr/>
          </p:nvCxnSpPr>
          <p:spPr>
            <a:xfrm>
              <a:off x="489066" y="759433"/>
              <a:ext cx="6309360" cy="0"/>
            </a:xfrm>
            <a:prstGeom prst="line">
              <a:avLst/>
            </a:prstGeom>
            <a:ln>
              <a:solidFill>
                <a:srgbClr val="D0CB17"/>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268E9A93-B517-DDE6-BD3D-5EF0FF98976E}"/>
                </a:ext>
              </a:extLst>
            </p:cNvPr>
            <p:cNvPicPr>
              <a:picLocks noChangeAspect="1"/>
            </p:cNvPicPr>
            <p:nvPr/>
          </p:nvPicPr>
          <p:blipFill>
            <a:blip r:embed="rId3"/>
            <a:stretch>
              <a:fillRect/>
            </a:stretch>
          </p:blipFill>
          <p:spPr>
            <a:xfrm>
              <a:off x="489066" y="225119"/>
              <a:ext cx="636193" cy="445335"/>
            </a:xfrm>
            <a:prstGeom prst="rect">
              <a:avLst/>
            </a:prstGeom>
          </p:spPr>
        </p:pic>
      </p:grpSp>
    </p:spTree>
    <p:extLst>
      <p:ext uri="{BB962C8B-B14F-4D97-AF65-F5344CB8AC3E}">
        <p14:creationId xmlns:p14="http://schemas.microsoft.com/office/powerpoint/2010/main" val="941575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275ED-04AB-C67E-25C7-FDF570B8695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DBBC208-5EC0-3B2E-209F-D532CB1E2767}"/>
              </a:ext>
            </a:extLst>
          </p:cNvPr>
          <p:cNvSpPr/>
          <p:nvPr/>
        </p:nvSpPr>
        <p:spPr>
          <a:xfrm>
            <a:off x="-2271" y="0"/>
            <a:ext cx="12194271" cy="6857999"/>
          </a:xfrm>
          <a:prstGeom prst="rect">
            <a:avLst/>
          </a:prstGeom>
          <a:solidFill>
            <a:srgbClr val="09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10" name="TextBox 9">
            <a:extLst>
              <a:ext uri="{FF2B5EF4-FFF2-40B4-BE49-F238E27FC236}">
                <a16:creationId xmlns:a16="http://schemas.microsoft.com/office/drawing/2014/main" id="{8AC12CB7-7DB0-53F6-71C1-42560B297F70}"/>
              </a:ext>
            </a:extLst>
          </p:cNvPr>
          <p:cNvSpPr txBox="1"/>
          <p:nvPr/>
        </p:nvSpPr>
        <p:spPr>
          <a:xfrm>
            <a:off x="6535454" y="640391"/>
            <a:ext cx="5563905" cy="646331"/>
          </a:xfrm>
          <a:prstGeom prst="rect">
            <a:avLst/>
          </a:prstGeom>
          <a:noFill/>
          <a:ln>
            <a:noFill/>
          </a:ln>
        </p:spPr>
        <p:txBody>
          <a:bodyPr wrap="square">
            <a:spAutoFit/>
          </a:bodyPr>
          <a:lstStyle/>
          <a:p>
            <a:r>
              <a:rPr lang="en-US" sz="3600" b="1" noProof="0">
                <a:solidFill>
                  <a:schemeClr val="bg1"/>
                </a:solidFill>
                <a:latin typeface="Poppins"/>
                <a:cs typeface="Poppins"/>
              </a:rPr>
              <a:t>Contents</a:t>
            </a:r>
            <a:endParaRPr lang="en-US" sz="2800" b="1" noProof="0">
              <a:solidFill>
                <a:schemeClr val="bg1"/>
              </a:solidFill>
              <a:latin typeface="Poppins"/>
              <a:cs typeface="Poppins"/>
            </a:endParaRPr>
          </a:p>
        </p:txBody>
      </p:sp>
      <p:sp>
        <p:nvSpPr>
          <p:cNvPr id="17" name="TextBox 16">
            <a:extLst>
              <a:ext uri="{FF2B5EF4-FFF2-40B4-BE49-F238E27FC236}">
                <a16:creationId xmlns:a16="http://schemas.microsoft.com/office/drawing/2014/main" id="{9E452E7B-6CF9-02A8-D3E6-041D03F8801A}"/>
              </a:ext>
            </a:extLst>
          </p:cNvPr>
          <p:cNvSpPr txBox="1"/>
          <p:nvPr/>
        </p:nvSpPr>
        <p:spPr>
          <a:xfrm>
            <a:off x="6661614" y="1098388"/>
            <a:ext cx="5367747" cy="5423792"/>
          </a:xfrm>
          <a:prstGeom prst="rect">
            <a:avLst/>
          </a:prstGeom>
          <a:noFill/>
        </p:spPr>
        <p:txBody>
          <a:bodyPr wrap="square" lIns="91440" tIns="45720" rIns="91440" bIns="45720" rtlCol="0" anchor="t">
            <a:spAutoFit/>
          </a:bodyPr>
          <a:lstStyle/>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Overview</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Primary Health Care (PHC) Assessment</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Delivery Challenges</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Availability</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Infrastructure</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Medical Supplies</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Methodology 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lang="en-US" b="1" noProof="0">
                <a:solidFill>
                  <a:srgbClr val="D5D16E"/>
                </a:solidFill>
                <a:latin typeface="Poppins" panose="00000500000000000000" pitchFamily="2" charset="0"/>
                <a:ea typeface="Inter" panose="02000503000000020004" pitchFamily="2" charset="0"/>
                <a:cs typeface="Poppins" panose="00000500000000000000" pitchFamily="2" charset="0"/>
              </a:rPr>
              <a:t>Annex Tables</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0" i="0" u="none" strike="noStrike" kern="1200" cap="none" spc="0" normalizeH="0" baseline="0" noProof="0">
                <a:ln>
                  <a:noFill/>
                </a:ln>
                <a:solidFill>
                  <a:prstClr val="white"/>
                </a:solidFill>
                <a:effectLst/>
                <a:uLnTx/>
                <a:uFillTx/>
                <a:latin typeface="Poppins" panose="00000500000000000000" pitchFamily="2" charset="0"/>
                <a:ea typeface="Inter" panose="02000503000000020004" pitchFamily="2" charset="0"/>
                <a:cs typeface="Poppins" panose="00000500000000000000" pitchFamily="2" charset="0"/>
              </a:rPr>
              <a:t>Background on the FASTR initiative</a:t>
            </a:r>
          </a:p>
          <a:p>
            <a:pPr marL="342900" indent="-342900">
              <a:lnSpc>
                <a:spcPts val="3000"/>
              </a:lnSpc>
              <a:spcAft>
                <a:spcPts val="600"/>
              </a:spcAft>
              <a:buAutoNum type="arabicPeriod"/>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p:txBody>
      </p:sp>
      <p:sp>
        <p:nvSpPr>
          <p:cNvPr id="6" name="Rectangle 5">
            <a:extLst>
              <a:ext uri="{FF2B5EF4-FFF2-40B4-BE49-F238E27FC236}">
                <a16:creationId xmlns:a16="http://schemas.microsoft.com/office/drawing/2014/main" id="{11182C24-2745-8B14-30EF-5F163FA0AE79}"/>
              </a:ext>
            </a:extLst>
          </p:cNvPr>
          <p:cNvSpPr/>
          <p:nvPr/>
        </p:nvSpPr>
        <p:spPr>
          <a:xfrm>
            <a:off x="6535454" y="1268434"/>
            <a:ext cx="3660111" cy="27432"/>
          </a:xfrm>
          <a:prstGeom prst="rect">
            <a:avLst/>
          </a:prstGeom>
          <a:solidFill>
            <a:srgbClr val="D5D16E"/>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8" name="Picture 7">
            <a:extLst>
              <a:ext uri="{FF2B5EF4-FFF2-40B4-BE49-F238E27FC236}">
                <a16:creationId xmlns:a16="http://schemas.microsoft.com/office/drawing/2014/main" id="{D1DEE439-6E3F-0469-E579-C47253CE23EC}"/>
              </a:ext>
            </a:extLst>
          </p:cNvPr>
          <p:cNvPicPr>
            <a:picLocks noChangeAspect="1"/>
          </p:cNvPicPr>
          <p:nvPr/>
        </p:nvPicPr>
        <p:blipFill>
          <a:blip r:embed="rId3">
            <a:extLst>
              <a:ext uri="{28A0092B-C50C-407E-A947-70E740481C1C}">
                <a14:useLocalDpi xmlns:a14="http://schemas.microsoft.com/office/drawing/2010/main" val="0"/>
              </a:ext>
            </a:extLst>
          </a:blip>
          <a:srcRect l="29215" r="9554"/>
          <a:stretch>
            <a:fillRect/>
          </a:stretch>
        </p:blipFill>
        <p:spPr>
          <a:xfrm>
            <a:off x="6813" y="0"/>
            <a:ext cx="6298738" cy="6858000"/>
          </a:xfrm>
          <a:prstGeom prst="flowChartDelay">
            <a:avLst/>
          </a:prstGeom>
        </p:spPr>
      </p:pic>
      <p:sp>
        <p:nvSpPr>
          <p:cNvPr id="3" name="TextBox 2">
            <a:extLst>
              <a:ext uri="{FF2B5EF4-FFF2-40B4-BE49-F238E27FC236}">
                <a16:creationId xmlns:a16="http://schemas.microsoft.com/office/drawing/2014/main" id="{BCBCA8E5-F012-9844-6AB5-837E3A25359A}"/>
              </a:ext>
            </a:extLst>
          </p:cNvPr>
          <p:cNvSpPr txBox="1"/>
          <p:nvPr/>
        </p:nvSpPr>
        <p:spPr>
          <a:xfrm>
            <a:off x="162639" y="6465585"/>
            <a:ext cx="3827017" cy="261610"/>
          </a:xfrm>
          <a:prstGeom prst="rect">
            <a:avLst/>
          </a:prstGeom>
          <a:noFill/>
        </p:spPr>
        <p:txBody>
          <a:bodyPr wrap="square">
            <a:spAutoFit/>
          </a:bodyPr>
          <a:lstStyle/>
          <a:p>
            <a:r>
              <a:rPr lang="en-US" sz="1100" noProof="0">
                <a:solidFill>
                  <a:schemeClr val="bg1"/>
                </a:solidFill>
                <a:latin typeface="Poppins" panose="00000500000000000000" pitchFamily="2" charset="0"/>
                <a:cs typeface="Poppins" panose="00000500000000000000" pitchFamily="2" charset="0"/>
              </a:rPr>
              <a:t>@ UNICEF Sierra Leone/2016/Mason</a:t>
            </a:r>
          </a:p>
        </p:txBody>
      </p:sp>
    </p:spTree>
    <p:extLst>
      <p:ext uri="{BB962C8B-B14F-4D97-AF65-F5344CB8AC3E}">
        <p14:creationId xmlns:p14="http://schemas.microsoft.com/office/powerpoint/2010/main" val="3412819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510442-0D46-3ADA-171F-B6477C839997}"/>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632529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1D377C-F6F3-1614-0CE1-8A70A9ECB24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2996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8A3F1A-56BD-7390-55CD-FA7589E1B53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44914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EE9283-163C-40B4-0C69-1BCD49CD14B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348074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41B2D6-1A98-0142-D766-4577E3F59D4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93795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E62B54-5D0E-E7BC-EE2E-344B1BCFE2C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64118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005000-CE3B-CD10-1C94-C48DD4F47EF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40747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84725E-EF98-009C-D5F7-ECADC7C88F5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86400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289FB3-8717-C206-54D3-CE84B6D7FC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04360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49C5ED-22FE-60AB-7E20-5BC354B0C9F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98221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3CBC17-501D-FBF1-F3DB-E7F8863BE0F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75996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4405-6510-AE25-6C7C-AD3E0B9BEF3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03BCFDF-98A5-4118-FB72-E629383B14CA}"/>
              </a:ext>
            </a:extLst>
          </p:cNvPr>
          <p:cNvSpPr/>
          <p:nvPr/>
        </p:nvSpPr>
        <p:spPr>
          <a:xfrm>
            <a:off x="-2271" y="0"/>
            <a:ext cx="12194271" cy="6857999"/>
          </a:xfrm>
          <a:prstGeom prst="rect">
            <a:avLst/>
          </a:prstGeom>
          <a:solidFill>
            <a:srgbClr val="0954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bg1"/>
              </a:solidFill>
            </a:endParaRPr>
          </a:p>
        </p:txBody>
      </p:sp>
      <p:sp>
        <p:nvSpPr>
          <p:cNvPr id="10" name="TextBox 9">
            <a:extLst>
              <a:ext uri="{FF2B5EF4-FFF2-40B4-BE49-F238E27FC236}">
                <a16:creationId xmlns:a16="http://schemas.microsoft.com/office/drawing/2014/main" id="{140D7336-C99D-C1E1-2A62-8911DBC5C299}"/>
              </a:ext>
            </a:extLst>
          </p:cNvPr>
          <p:cNvSpPr txBox="1"/>
          <p:nvPr/>
        </p:nvSpPr>
        <p:spPr>
          <a:xfrm>
            <a:off x="6535454" y="640391"/>
            <a:ext cx="5563905" cy="646331"/>
          </a:xfrm>
          <a:prstGeom prst="rect">
            <a:avLst/>
          </a:prstGeom>
          <a:noFill/>
          <a:ln>
            <a:noFill/>
          </a:ln>
        </p:spPr>
        <p:txBody>
          <a:bodyPr wrap="square">
            <a:spAutoFit/>
          </a:bodyPr>
          <a:lstStyle/>
          <a:p>
            <a:r>
              <a:rPr lang="en-US" sz="3600" b="1" noProof="0">
                <a:solidFill>
                  <a:schemeClr val="bg1"/>
                </a:solidFill>
                <a:latin typeface="Poppins"/>
                <a:cs typeface="Poppins"/>
              </a:rPr>
              <a:t>Contents</a:t>
            </a:r>
            <a:endParaRPr lang="en-US" sz="2800" b="1" noProof="0">
              <a:solidFill>
                <a:schemeClr val="bg1"/>
              </a:solidFill>
              <a:latin typeface="Poppins"/>
              <a:cs typeface="Poppins"/>
            </a:endParaRPr>
          </a:p>
        </p:txBody>
      </p:sp>
      <p:sp>
        <p:nvSpPr>
          <p:cNvPr id="17" name="TextBox 16">
            <a:extLst>
              <a:ext uri="{FF2B5EF4-FFF2-40B4-BE49-F238E27FC236}">
                <a16:creationId xmlns:a16="http://schemas.microsoft.com/office/drawing/2014/main" id="{691996D1-E2A5-7B0F-741D-76DA4E243A5B}"/>
              </a:ext>
            </a:extLst>
          </p:cNvPr>
          <p:cNvSpPr txBox="1"/>
          <p:nvPr/>
        </p:nvSpPr>
        <p:spPr>
          <a:xfrm>
            <a:off x="6661614" y="1098388"/>
            <a:ext cx="5367747" cy="5423792"/>
          </a:xfrm>
          <a:prstGeom prst="rect">
            <a:avLst/>
          </a:prstGeom>
          <a:noFill/>
        </p:spPr>
        <p:txBody>
          <a:bodyPr wrap="square" lIns="91440" tIns="45720" rIns="91440" bIns="45720" rtlCol="0" anchor="t">
            <a:spAutoFit/>
          </a:bodyPr>
          <a:lstStyle/>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Overview</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Primary Health Care (PHC) Assessment</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Delivery Challenges</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Service Availability</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Infrastructure</a:t>
            </a:r>
          </a:p>
          <a:p>
            <a:pPr lvl="1" indent="-285750">
              <a:lnSpc>
                <a:spcPts val="3000"/>
              </a:lnSpc>
              <a:buFont typeface="Arial" panose="020B0604020202020204" pitchFamily="34" charset="0"/>
              <a:buChar cha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Medical Supplies</a:t>
            </a:r>
          </a:p>
          <a:p>
            <a:pPr marL="342900" indent="-342900">
              <a:lnSpc>
                <a:spcPts val="3000"/>
              </a:lnSpc>
              <a:spcAft>
                <a:spcPts val="600"/>
              </a:spcAft>
              <a:buAutoNum type="arabicPeriod"/>
            </a:pPr>
            <a:r>
              <a:rPr lang="en-US" b="1" noProof="0">
                <a:solidFill>
                  <a:schemeClr val="bg1"/>
                </a:solidFill>
                <a:latin typeface="Poppins" panose="00000500000000000000" pitchFamily="2" charset="0"/>
                <a:ea typeface="Inter" panose="02000503000000020004" pitchFamily="2" charset="0"/>
                <a:cs typeface="Poppins" panose="00000500000000000000" pitchFamily="2" charset="0"/>
              </a:rPr>
              <a:t>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i="0" u="none" strike="noStrike" kern="1200" cap="none" spc="0" normalizeH="0" baseline="0" noProof="0">
                <a:ln>
                  <a:noFill/>
                </a:ln>
                <a:solidFill>
                  <a:schemeClr val="bg1"/>
                </a:solidFill>
                <a:effectLst/>
                <a:uLnTx/>
                <a:uFillTx/>
                <a:latin typeface="Poppins" panose="00000500000000000000" pitchFamily="2" charset="0"/>
                <a:ea typeface="Inter" panose="02000503000000020004" pitchFamily="2" charset="0"/>
                <a:cs typeface="Poppins" panose="00000500000000000000" pitchFamily="2" charset="0"/>
              </a:rPr>
              <a:t>Methodology Annex</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lang="en-US" noProof="0">
                <a:solidFill>
                  <a:schemeClr val="bg1"/>
                </a:solidFill>
                <a:latin typeface="Poppins" panose="00000500000000000000" pitchFamily="2" charset="0"/>
                <a:ea typeface="Inter" panose="02000503000000020004" pitchFamily="2" charset="0"/>
                <a:cs typeface="Poppins" panose="00000500000000000000" pitchFamily="2" charset="0"/>
              </a:rPr>
              <a:t>Annex Tables</a:t>
            </a:r>
          </a:p>
          <a:p>
            <a:pPr marL="571500" marR="0" lvl="1" indent="-400050" defTabSz="914400" rtl="0" eaLnBrk="1" fontAlgn="auto" latinLnBrk="0" hangingPunct="1">
              <a:lnSpc>
                <a:spcPts val="3000"/>
              </a:lnSpc>
              <a:spcBef>
                <a:spcPts val="0"/>
              </a:spcBef>
              <a:spcAft>
                <a:spcPts val="0"/>
              </a:spcAft>
              <a:buClrTx/>
              <a:buSzTx/>
              <a:buFont typeface="+mj-lt"/>
              <a:buAutoNum type="romanUcPeriod"/>
              <a:tabLst/>
              <a:defRPr/>
            </a:pPr>
            <a:r>
              <a:rPr kumimoji="0" lang="en-US" b="1" i="0" u="none" strike="noStrike" kern="1200" cap="none" spc="0" normalizeH="0" baseline="0" noProof="0">
                <a:ln>
                  <a:noFill/>
                </a:ln>
                <a:solidFill>
                  <a:srgbClr val="D5D16E"/>
                </a:solidFill>
                <a:effectLst/>
                <a:uLnTx/>
                <a:uFillTx/>
                <a:latin typeface="Poppins" panose="00000500000000000000" pitchFamily="2" charset="0"/>
                <a:ea typeface="Inter" panose="02000503000000020004" pitchFamily="2" charset="0"/>
                <a:cs typeface="Poppins" panose="00000500000000000000" pitchFamily="2" charset="0"/>
              </a:rPr>
              <a:t>Background on the FASTR initiative</a:t>
            </a:r>
          </a:p>
          <a:p>
            <a:pPr marL="342900" indent="-342900">
              <a:lnSpc>
                <a:spcPts val="3000"/>
              </a:lnSpc>
              <a:spcAft>
                <a:spcPts val="600"/>
              </a:spcAft>
              <a:buAutoNum type="arabicPeriod"/>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a:lnSpc>
                <a:spcPct val="150000"/>
              </a:lnSpc>
            </a:pPr>
            <a:endParaRPr lang="en-US" b="1" noProof="0">
              <a:solidFill>
                <a:schemeClr val="bg1"/>
              </a:solidFill>
              <a:latin typeface="Poppins" panose="00000500000000000000" pitchFamily="2" charset="0"/>
              <a:ea typeface="Inter" panose="02000503000000020004" pitchFamily="2" charset="0"/>
              <a:cs typeface="Poppins" panose="00000500000000000000" pitchFamily="2" charset="0"/>
            </a:endParaRPr>
          </a:p>
        </p:txBody>
      </p:sp>
      <p:sp>
        <p:nvSpPr>
          <p:cNvPr id="6" name="Rectangle 5">
            <a:extLst>
              <a:ext uri="{FF2B5EF4-FFF2-40B4-BE49-F238E27FC236}">
                <a16:creationId xmlns:a16="http://schemas.microsoft.com/office/drawing/2014/main" id="{03B3CFA1-DC2D-5D8B-78DD-C174BBB87B43}"/>
              </a:ext>
            </a:extLst>
          </p:cNvPr>
          <p:cNvSpPr/>
          <p:nvPr/>
        </p:nvSpPr>
        <p:spPr>
          <a:xfrm>
            <a:off x="6535454" y="1268434"/>
            <a:ext cx="3660111" cy="27432"/>
          </a:xfrm>
          <a:prstGeom prst="rect">
            <a:avLst/>
          </a:prstGeom>
          <a:solidFill>
            <a:srgbClr val="D5D16E"/>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8" name="Picture 7">
            <a:extLst>
              <a:ext uri="{FF2B5EF4-FFF2-40B4-BE49-F238E27FC236}">
                <a16:creationId xmlns:a16="http://schemas.microsoft.com/office/drawing/2014/main" id="{157699A9-BB45-D02C-B169-EAA9FE05310D}"/>
              </a:ext>
            </a:extLst>
          </p:cNvPr>
          <p:cNvPicPr>
            <a:picLocks noChangeAspect="1"/>
          </p:cNvPicPr>
          <p:nvPr/>
        </p:nvPicPr>
        <p:blipFill>
          <a:blip r:embed="rId3">
            <a:extLst>
              <a:ext uri="{28A0092B-C50C-407E-A947-70E740481C1C}">
                <a14:useLocalDpi xmlns:a14="http://schemas.microsoft.com/office/drawing/2010/main" val="0"/>
              </a:ext>
            </a:extLst>
          </a:blip>
          <a:srcRect l="29215" r="9554"/>
          <a:stretch>
            <a:fillRect/>
          </a:stretch>
        </p:blipFill>
        <p:spPr>
          <a:xfrm>
            <a:off x="6813" y="0"/>
            <a:ext cx="6298738" cy="6858000"/>
          </a:xfrm>
          <a:prstGeom prst="flowChartDelay">
            <a:avLst/>
          </a:prstGeom>
        </p:spPr>
      </p:pic>
      <p:sp>
        <p:nvSpPr>
          <p:cNvPr id="3" name="TextBox 2">
            <a:extLst>
              <a:ext uri="{FF2B5EF4-FFF2-40B4-BE49-F238E27FC236}">
                <a16:creationId xmlns:a16="http://schemas.microsoft.com/office/drawing/2014/main" id="{F778DBFE-7348-A22E-C0A0-AF46645F582E}"/>
              </a:ext>
            </a:extLst>
          </p:cNvPr>
          <p:cNvSpPr txBox="1"/>
          <p:nvPr/>
        </p:nvSpPr>
        <p:spPr>
          <a:xfrm>
            <a:off x="162639" y="6465585"/>
            <a:ext cx="3827017" cy="261610"/>
          </a:xfrm>
          <a:prstGeom prst="rect">
            <a:avLst/>
          </a:prstGeom>
          <a:noFill/>
        </p:spPr>
        <p:txBody>
          <a:bodyPr wrap="square">
            <a:spAutoFit/>
          </a:bodyPr>
          <a:lstStyle/>
          <a:p>
            <a:r>
              <a:rPr lang="en-US" sz="1100" noProof="0">
                <a:solidFill>
                  <a:schemeClr val="bg1"/>
                </a:solidFill>
                <a:latin typeface="Poppins" panose="00000500000000000000" pitchFamily="2" charset="0"/>
                <a:cs typeface="Poppins" panose="00000500000000000000" pitchFamily="2" charset="0"/>
              </a:rPr>
              <a:t>@ UNICEF Sierra Leone/2016/Mason</a:t>
            </a:r>
          </a:p>
        </p:txBody>
      </p:sp>
    </p:spTree>
    <p:extLst>
      <p:ext uri="{BB962C8B-B14F-4D97-AF65-F5344CB8AC3E}">
        <p14:creationId xmlns:p14="http://schemas.microsoft.com/office/powerpoint/2010/main" val="2232380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7D415-CF53-EF58-A621-2F7BBD42FAF8}"/>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1E3ADA33-0BF0-EE33-AA13-214B5B864B14}"/>
              </a:ext>
            </a:extLst>
          </p:cNvPr>
          <p:cNvSpPr/>
          <p:nvPr/>
        </p:nvSpPr>
        <p:spPr>
          <a:xfrm>
            <a:off x="-4033" y="-30738"/>
            <a:ext cx="596219" cy="1097280"/>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8" name="Title 1">
            <a:extLst>
              <a:ext uri="{FF2B5EF4-FFF2-40B4-BE49-F238E27FC236}">
                <a16:creationId xmlns:a16="http://schemas.microsoft.com/office/drawing/2014/main" id="{4B45D5A7-44CA-4766-5DF4-3E77AB89D823}"/>
              </a:ext>
            </a:extLst>
          </p:cNvPr>
          <p:cNvSpPr>
            <a:spLocks noGrp="1"/>
          </p:cNvSpPr>
          <p:nvPr>
            <p:ph type="title"/>
          </p:nvPr>
        </p:nvSpPr>
        <p:spPr>
          <a:xfrm>
            <a:off x="592186" y="-48456"/>
            <a:ext cx="11599814" cy="1097280"/>
          </a:xfrm>
          <a:solidFill>
            <a:srgbClr val="ECF4F3">
              <a:alpha val="80000"/>
            </a:srgbClr>
          </a:solidFill>
        </p:spPr>
        <p:txBody>
          <a:bodyPr>
            <a:noAutofit/>
          </a:bodyPr>
          <a:lstStyle/>
          <a:p>
            <a:pPr marL="182880">
              <a:lnSpc>
                <a:spcPct val="100000"/>
              </a:lnSpc>
            </a:pPr>
            <a:r>
              <a:rPr lang="en-US" sz="2600" noProof="0">
                <a:solidFill>
                  <a:srgbClr val="095457"/>
                </a:solidFill>
                <a:latin typeface="Poppins Bold" panose="00000800000000000000" pitchFamily="2" charset="0"/>
                <a:ea typeface="Inter" panose="02000503000000020004" pitchFamily="2" charset="0"/>
                <a:cs typeface="Poppins Bold" panose="00000800000000000000" pitchFamily="2" charset="0"/>
              </a:rPr>
              <a:t>The goal? </a:t>
            </a:r>
            <a:r>
              <a:rPr lang="en-US" sz="2300" noProof="0">
                <a:solidFill>
                  <a:srgbClr val="065B57"/>
                </a:solidFill>
                <a:latin typeface="Poppins" panose="00000500000000000000" pitchFamily="2" charset="0"/>
                <a:ea typeface="Inter" panose="02000503000000020004" pitchFamily="2" charset="0"/>
                <a:cs typeface="Poppins" panose="00000500000000000000" pitchFamily="2" charset="0"/>
              </a:rPr>
              <a:t>Rapid cycle analytics accelerates improvements in RMNCAH-N outcomes by increasing the systematic use of data for decision making</a:t>
            </a:r>
            <a:endParaRPr lang="en-US" sz="2300" noProof="0">
              <a:latin typeface="Poppins" panose="00000500000000000000" pitchFamily="2" charset="0"/>
              <a:ea typeface="Inter" panose="02000503000000020004" pitchFamily="2" charset="0"/>
              <a:cs typeface="Poppins" panose="00000500000000000000" pitchFamily="2" charset="0"/>
            </a:endParaRPr>
          </a:p>
        </p:txBody>
      </p:sp>
      <p:grpSp>
        <p:nvGrpSpPr>
          <p:cNvPr id="2" name="Group 1">
            <a:extLst>
              <a:ext uri="{FF2B5EF4-FFF2-40B4-BE49-F238E27FC236}">
                <a16:creationId xmlns:a16="http://schemas.microsoft.com/office/drawing/2014/main" id="{06C329A9-99B6-48FF-F06F-28DCA4B428D0}"/>
              </a:ext>
            </a:extLst>
          </p:cNvPr>
          <p:cNvGrpSpPr/>
          <p:nvPr/>
        </p:nvGrpSpPr>
        <p:grpSpPr>
          <a:xfrm>
            <a:off x="3" y="6586157"/>
            <a:ext cx="12192000" cy="271843"/>
            <a:chOff x="3" y="6586157"/>
            <a:chExt cx="12192000" cy="271843"/>
          </a:xfrm>
        </p:grpSpPr>
        <p:sp>
          <p:nvSpPr>
            <p:cNvPr id="69" name="Rectangle 68">
              <a:extLst>
                <a:ext uri="{FF2B5EF4-FFF2-40B4-BE49-F238E27FC236}">
                  <a16:creationId xmlns:a16="http://schemas.microsoft.com/office/drawing/2014/main" id="{3363EC15-A933-B45E-EE8A-576BD4E7C1EF}"/>
                </a:ext>
              </a:extLst>
            </p:cNvPr>
            <p:cNvSpPr/>
            <p:nvPr/>
          </p:nvSpPr>
          <p:spPr>
            <a:xfrm>
              <a:off x="3" y="6586157"/>
              <a:ext cx="12192000" cy="271843"/>
            </a:xfrm>
            <a:prstGeom prst="rect">
              <a:avLst/>
            </a:prstGeom>
            <a:solidFill>
              <a:srgbClr val="095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70" name="Graphic 69">
              <a:extLst>
                <a:ext uri="{FF2B5EF4-FFF2-40B4-BE49-F238E27FC236}">
                  <a16:creationId xmlns:a16="http://schemas.microsoft.com/office/drawing/2014/main" id="{2B1A466D-C579-3901-96C1-E00F906E36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2440" y="6586157"/>
              <a:ext cx="945720" cy="251092"/>
            </a:xfrm>
            <a:prstGeom prst="rect">
              <a:avLst/>
            </a:prstGeom>
          </p:spPr>
        </p:pic>
      </p:grpSp>
      <p:grpSp>
        <p:nvGrpSpPr>
          <p:cNvPr id="3" name="Group 2">
            <a:extLst>
              <a:ext uri="{FF2B5EF4-FFF2-40B4-BE49-F238E27FC236}">
                <a16:creationId xmlns:a16="http://schemas.microsoft.com/office/drawing/2014/main" id="{A70CC3D0-A71A-3AA5-381D-ADC4952FB724}"/>
              </a:ext>
            </a:extLst>
          </p:cNvPr>
          <p:cNvGrpSpPr/>
          <p:nvPr/>
        </p:nvGrpSpPr>
        <p:grpSpPr>
          <a:xfrm>
            <a:off x="289271" y="1552077"/>
            <a:ext cx="10888246" cy="4440008"/>
            <a:chOff x="-150548" y="1455825"/>
            <a:chExt cx="10920147" cy="4661891"/>
          </a:xfrm>
        </p:grpSpPr>
        <p:grpSp>
          <p:nvGrpSpPr>
            <p:cNvPr id="4" name="Group 3">
              <a:extLst>
                <a:ext uri="{FF2B5EF4-FFF2-40B4-BE49-F238E27FC236}">
                  <a16:creationId xmlns:a16="http://schemas.microsoft.com/office/drawing/2014/main" id="{C1FC21B1-48FF-8D4B-DD4B-D32F1454BA28}"/>
                </a:ext>
              </a:extLst>
            </p:cNvPr>
            <p:cNvGrpSpPr/>
            <p:nvPr/>
          </p:nvGrpSpPr>
          <p:grpSpPr>
            <a:xfrm>
              <a:off x="972729" y="1464402"/>
              <a:ext cx="5442653" cy="4646659"/>
              <a:chOff x="972729" y="1464402"/>
              <a:chExt cx="5442653" cy="4646659"/>
            </a:xfrm>
          </p:grpSpPr>
          <p:sp>
            <p:nvSpPr>
              <p:cNvPr id="25" name="Arrow: Circular 24">
                <a:extLst>
                  <a:ext uri="{FF2B5EF4-FFF2-40B4-BE49-F238E27FC236}">
                    <a16:creationId xmlns:a16="http://schemas.microsoft.com/office/drawing/2014/main" id="{AFB75D05-0FF0-1A09-885E-4B5C47495F54}"/>
                  </a:ext>
                </a:extLst>
              </p:cNvPr>
              <p:cNvSpPr/>
              <p:nvPr/>
            </p:nvSpPr>
            <p:spPr>
              <a:xfrm rot="10800000">
                <a:off x="972729" y="2214249"/>
                <a:ext cx="3896812" cy="3896812"/>
              </a:xfrm>
              <a:prstGeom prst="circularArrow">
                <a:avLst>
                  <a:gd name="adj1" fmla="val 7280"/>
                  <a:gd name="adj2" fmla="val 1142319"/>
                  <a:gd name="adj3" fmla="val 20482628"/>
                  <a:gd name="adj4" fmla="val 10800000"/>
                  <a:gd name="adj5" fmla="val 7538"/>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26" name="Rectangle 25">
                <a:extLst>
                  <a:ext uri="{FF2B5EF4-FFF2-40B4-BE49-F238E27FC236}">
                    <a16:creationId xmlns:a16="http://schemas.microsoft.com/office/drawing/2014/main" id="{1DF30099-E38F-9D31-D639-9ECE72E21357}"/>
                  </a:ext>
                </a:extLst>
              </p:cNvPr>
              <p:cNvSpPr/>
              <p:nvPr/>
            </p:nvSpPr>
            <p:spPr>
              <a:xfrm>
                <a:off x="1052258" y="3843566"/>
                <a:ext cx="3737751" cy="146818"/>
              </a:xfrm>
              <a:prstGeom prst="rect">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grpSp>
            <p:nvGrpSpPr>
              <p:cNvPr id="27" name="Group 26">
                <a:extLst>
                  <a:ext uri="{FF2B5EF4-FFF2-40B4-BE49-F238E27FC236}">
                    <a16:creationId xmlns:a16="http://schemas.microsoft.com/office/drawing/2014/main" id="{1BCC6EA3-A8E9-32A8-C0F7-1A518B5B9B1B}"/>
                  </a:ext>
                </a:extLst>
              </p:cNvPr>
              <p:cNvGrpSpPr/>
              <p:nvPr/>
            </p:nvGrpSpPr>
            <p:grpSpPr>
              <a:xfrm>
                <a:off x="972730" y="1464402"/>
                <a:ext cx="5442652" cy="4149768"/>
                <a:chOff x="972730" y="1464402"/>
                <a:chExt cx="5442652" cy="4149768"/>
              </a:xfrm>
            </p:grpSpPr>
            <p:grpSp>
              <p:nvGrpSpPr>
                <p:cNvPr id="29" name="Group 28">
                  <a:extLst>
                    <a:ext uri="{FF2B5EF4-FFF2-40B4-BE49-F238E27FC236}">
                      <a16:creationId xmlns:a16="http://schemas.microsoft.com/office/drawing/2014/main" id="{A860471A-A49D-5F84-7966-211B739A8B4E}"/>
                    </a:ext>
                  </a:extLst>
                </p:cNvPr>
                <p:cNvGrpSpPr/>
                <p:nvPr/>
              </p:nvGrpSpPr>
              <p:grpSpPr>
                <a:xfrm>
                  <a:off x="972730" y="1464402"/>
                  <a:ext cx="3896812" cy="4149768"/>
                  <a:chOff x="972730" y="1464402"/>
                  <a:chExt cx="3896812" cy="4149768"/>
                </a:xfrm>
              </p:grpSpPr>
              <p:sp>
                <p:nvSpPr>
                  <p:cNvPr id="31" name="Arrow: Circular 30">
                    <a:extLst>
                      <a:ext uri="{FF2B5EF4-FFF2-40B4-BE49-F238E27FC236}">
                        <a16:creationId xmlns:a16="http://schemas.microsoft.com/office/drawing/2014/main" id="{7C21B8EC-5DB6-20D8-189B-3CBF582ADB40}"/>
                      </a:ext>
                    </a:extLst>
                  </p:cNvPr>
                  <p:cNvSpPr/>
                  <p:nvPr/>
                </p:nvSpPr>
                <p:spPr>
                  <a:xfrm>
                    <a:off x="972730" y="1717358"/>
                    <a:ext cx="3896812" cy="3896812"/>
                  </a:xfrm>
                  <a:prstGeom prst="circularArrow">
                    <a:avLst>
                      <a:gd name="adj1" fmla="val 7280"/>
                      <a:gd name="adj2" fmla="val 1142319"/>
                      <a:gd name="adj3" fmla="val 20482628"/>
                      <a:gd name="adj4" fmla="val 10800000"/>
                      <a:gd name="adj5" fmla="val 7538"/>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32" name="TextBox 31">
                    <a:extLst>
                      <a:ext uri="{FF2B5EF4-FFF2-40B4-BE49-F238E27FC236}">
                        <a16:creationId xmlns:a16="http://schemas.microsoft.com/office/drawing/2014/main" id="{C25156BD-8F0B-0B8C-B04F-C8929347A665}"/>
                      </a:ext>
                    </a:extLst>
                  </p:cNvPr>
                  <p:cNvSpPr txBox="1"/>
                  <p:nvPr/>
                </p:nvSpPr>
                <p:spPr>
                  <a:xfrm>
                    <a:off x="1699156" y="1464402"/>
                    <a:ext cx="2443954" cy="338554"/>
                  </a:xfrm>
                  <a:prstGeom prst="rect">
                    <a:avLst/>
                  </a:prstGeom>
                  <a:noFill/>
                </p:spPr>
                <p:txBody>
                  <a:bodyPr wrap="square">
                    <a:spAutoFit/>
                  </a:bodyPr>
                  <a:lstStyle/>
                  <a:p>
                    <a:pPr algn="ctr"/>
                    <a:r>
                      <a:rPr lang="en-US" sz="1600" b="1" noProof="0">
                        <a:latin typeface="Roboto" panose="02000000000000000000" pitchFamily="2" charset="0"/>
                        <a:ea typeface="Roboto" panose="02000000000000000000" pitchFamily="2" charset="0"/>
                        <a:cs typeface="Poppins SemiBold"/>
                      </a:rPr>
                      <a:t>In person surveys</a:t>
                    </a:r>
                    <a:endParaRPr lang="en-US" sz="1600" b="1" noProof="0">
                      <a:latin typeface="Roboto" panose="02000000000000000000" pitchFamily="2" charset="0"/>
                      <a:ea typeface="Roboto" panose="02000000000000000000" pitchFamily="2" charset="0"/>
                    </a:endParaRPr>
                  </a:p>
                </p:txBody>
              </p:sp>
            </p:grpSp>
            <p:sp>
              <p:nvSpPr>
                <p:cNvPr id="30" name="TextBox 29">
                  <a:extLst>
                    <a:ext uri="{FF2B5EF4-FFF2-40B4-BE49-F238E27FC236}">
                      <a16:creationId xmlns:a16="http://schemas.microsoft.com/office/drawing/2014/main" id="{6450B707-68FC-C3BA-9206-305D9E71DC50}"/>
                    </a:ext>
                  </a:extLst>
                </p:cNvPr>
                <p:cNvSpPr txBox="1"/>
                <p:nvPr/>
              </p:nvSpPr>
              <p:spPr>
                <a:xfrm>
                  <a:off x="3971428" y="3732309"/>
                  <a:ext cx="2443954" cy="369332"/>
                </a:xfrm>
                <a:prstGeom prst="rect">
                  <a:avLst/>
                </a:prstGeom>
                <a:noFill/>
              </p:spPr>
              <p:txBody>
                <a:bodyPr wrap="square">
                  <a:spAutoFit/>
                </a:bodyPr>
                <a:lstStyle/>
                <a:p>
                  <a:pPr algn="ctr"/>
                  <a:r>
                    <a:rPr lang="en-US" sz="1800" b="1" noProof="0">
                      <a:solidFill>
                        <a:sysClr val="windowText" lastClr="000000"/>
                      </a:solidFill>
                      <a:latin typeface="Roboto" panose="02000000000000000000" pitchFamily="2" charset="0"/>
                      <a:ea typeface="Roboto" panose="02000000000000000000" pitchFamily="2" charset="0"/>
                      <a:cs typeface="Poppins SemiBold"/>
                    </a:rPr>
                    <a:t>Year 5</a:t>
                  </a:r>
                  <a:endParaRPr lang="en-US" noProof="0">
                    <a:solidFill>
                      <a:sysClr val="windowText" lastClr="000000"/>
                    </a:solidFill>
                    <a:latin typeface="Roboto" panose="02000000000000000000" pitchFamily="2" charset="0"/>
                    <a:ea typeface="Roboto" panose="02000000000000000000" pitchFamily="2" charset="0"/>
                  </a:endParaRPr>
                </a:p>
              </p:txBody>
            </p:sp>
          </p:grpSp>
          <p:pic>
            <p:nvPicPr>
              <p:cNvPr id="28" name="Graphic 27" descr="Question Mark with solid fill">
                <a:extLst>
                  <a:ext uri="{FF2B5EF4-FFF2-40B4-BE49-F238E27FC236}">
                    <a16:creationId xmlns:a16="http://schemas.microsoft.com/office/drawing/2014/main" id="{818C80C0-4E3F-95F1-BBEB-E5DA2B348C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37928" y="2821233"/>
                <a:ext cx="1022333" cy="1022333"/>
              </a:xfrm>
              <a:prstGeom prst="rect">
                <a:avLst/>
              </a:prstGeom>
            </p:spPr>
          </p:pic>
        </p:grpSp>
        <p:grpSp>
          <p:nvGrpSpPr>
            <p:cNvPr id="5" name="Group 4">
              <a:extLst>
                <a:ext uri="{FF2B5EF4-FFF2-40B4-BE49-F238E27FC236}">
                  <a16:creationId xmlns:a16="http://schemas.microsoft.com/office/drawing/2014/main" id="{1317CC13-01C0-F74E-3E59-7122042F310A}"/>
                </a:ext>
              </a:extLst>
            </p:cNvPr>
            <p:cNvGrpSpPr/>
            <p:nvPr/>
          </p:nvGrpSpPr>
          <p:grpSpPr>
            <a:xfrm>
              <a:off x="5768531" y="1455825"/>
              <a:ext cx="5001068" cy="4661891"/>
              <a:chOff x="5768531" y="1455825"/>
              <a:chExt cx="5001068" cy="4661891"/>
            </a:xfrm>
          </p:grpSpPr>
          <p:sp>
            <p:nvSpPr>
              <p:cNvPr id="7" name="Rectangle 6">
                <a:extLst>
                  <a:ext uri="{FF2B5EF4-FFF2-40B4-BE49-F238E27FC236}">
                    <a16:creationId xmlns:a16="http://schemas.microsoft.com/office/drawing/2014/main" id="{3696F1AE-885A-40E6-B44E-5FBE59F68072}"/>
                  </a:ext>
                </a:extLst>
              </p:cNvPr>
              <p:cNvSpPr/>
              <p:nvPr/>
            </p:nvSpPr>
            <p:spPr>
              <a:xfrm>
                <a:off x="6952315" y="3849494"/>
                <a:ext cx="3737751" cy="146818"/>
              </a:xfrm>
              <a:prstGeom prst="rect">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Roboto" panose="02000000000000000000" pitchFamily="2" charset="0"/>
                  <a:ea typeface="Roboto" panose="02000000000000000000" pitchFamily="2" charset="0"/>
                </a:endParaRPr>
              </a:p>
            </p:txBody>
          </p:sp>
          <p:sp>
            <p:nvSpPr>
              <p:cNvPr id="8" name="Arrow: Curved Down 7">
                <a:extLst>
                  <a:ext uri="{FF2B5EF4-FFF2-40B4-BE49-F238E27FC236}">
                    <a16:creationId xmlns:a16="http://schemas.microsoft.com/office/drawing/2014/main" id="{2A6AE5E0-6A1D-9E22-6AF6-E2B4B0BEDA5A}"/>
                  </a:ext>
                </a:extLst>
              </p:cNvPr>
              <p:cNvSpPr/>
              <p:nvPr/>
            </p:nvSpPr>
            <p:spPr>
              <a:xfrm>
                <a:off x="7133326" y="3387525"/>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9" name="Arrow: Curved Down 8">
                <a:extLst>
                  <a:ext uri="{FF2B5EF4-FFF2-40B4-BE49-F238E27FC236}">
                    <a16:creationId xmlns:a16="http://schemas.microsoft.com/office/drawing/2014/main" id="{2E8CA56E-49E2-77CF-0328-C291B0DD47E7}"/>
                  </a:ext>
                </a:extLst>
              </p:cNvPr>
              <p:cNvSpPr/>
              <p:nvPr/>
            </p:nvSpPr>
            <p:spPr>
              <a:xfrm rot="10800000">
                <a:off x="7133326" y="4055461"/>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0" name="Arrow: Curved Down 9">
                <a:extLst>
                  <a:ext uri="{FF2B5EF4-FFF2-40B4-BE49-F238E27FC236}">
                    <a16:creationId xmlns:a16="http://schemas.microsoft.com/office/drawing/2014/main" id="{5F91F002-2447-5BB9-F6F5-B99109CD782D}"/>
                  </a:ext>
                </a:extLst>
              </p:cNvPr>
              <p:cNvSpPr/>
              <p:nvPr/>
            </p:nvSpPr>
            <p:spPr>
              <a:xfrm>
                <a:off x="7839153" y="3387525"/>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1" name="Arrow: Curved Down 10">
                <a:extLst>
                  <a:ext uri="{FF2B5EF4-FFF2-40B4-BE49-F238E27FC236}">
                    <a16:creationId xmlns:a16="http://schemas.microsoft.com/office/drawing/2014/main" id="{0C00FE29-E82E-E6FB-E1EA-0D205C3C8868}"/>
                  </a:ext>
                </a:extLst>
              </p:cNvPr>
              <p:cNvSpPr/>
              <p:nvPr/>
            </p:nvSpPr>
            <p:spPr>
              <a:xfrm rot="10800000">
                <a:off x="7839153" y="4055461"/>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2" name="Arrow: Curved Down 11">
                <a:extLst>
                  <a:ext uri="{FF2B5EF4-FFF2-40B4-BE49-F238E27FC236}">
                    <a16:creationId xmlns:a16="http://schemas.microsoft.com/office/drawing/2014/main" id="{D672A8DE-0FBF-97C1-25DD-28097094FE37}"/>
                  </a:ext>
                </a:extLst>
              </p:cNvPr>
              <p:cNvSpPr/>
              <p:nvPr/>
            </p:nvSpPr>
            <p:spPr>
              <a:xfrm>
                <a:off x="8537938" y="3387525"/>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3" name="Arrow: Curved Down 12">
                <a:extLst>
                  <a:ext uri="{FF2B5EF4-FFF2-40B4-BE49-F238E27FC236}">
                    <a16:creationId xmlns:a16="http://schemas.microsoft.com/office/drawing/2014/main" id="{91124B57-49E2-572E-E7D7-50EA3007909D}"/>
                  </a:ext>
                </a:extLst>
              </p:cNvPr>
              <p:cNvSpPr/>
              <p:nvPr/>
            </p:nvSpPr>
            <p:spPr>
              <a:xfrm rot="10800000">
                <a:off x="8537938" y="4055461"/>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4" name="Arrow: Curved Down 13">
                <a:extLst>
                  <a:ext uri="{FF2B5EF4-FFF2-40B4-BE49-F238E27FC236}">
                    <a16:creationId xmlns:a16="http://schemas.microsoft.com/office/drawing/2014/main" id="{CDAD7935-565E-13D2-2AD5-FD6BA6D2C71F}"/>
                  </a:ext>
                </a:extLst>
              </p:cNvPr>
              <p:cNvSpPr/>
              <p:nvPr/>
            </p:nvSpPr>
            <p:spPr>
              <a:xfrm>
                <a:off x="9236723" y="3387525"/>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5" name="Arrow: Curved Down 14">
                <a:extLst>
                  <a:ext uri="{FF2B5EF4-FFF2-40B4-BE49-F238E27FC236}">
                    <a16:creationId xmlns:a16="http://schemas.microsoft.com/office/drawing/2014/main" id="{22917D79-0C53-B6F5-5D8A-8D6BC0B2CD07}"/>
                  </a:ext>
                </a:extLst>
              </p:cNvPr>
              <p:cNvSpPr/>
              <p:nvPr/>
            </p:nvSpPr>
            <p:spPr>
              <a:xfrm rot="10800000">
                <a:off x="9236723" y="4055461"/>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6" name="TextBox 15">
                <a:extLst>
                  <a:ext uri="{FF2B5EF4-FFF2-40B4-BE49-F238E27FC236}">
                    <a16:creationId xmlns:a16="http://schemas.microsoft.com/office/drawing/2014/main" id="{2D69A768-5680-0CEE-6A1E-6E6F3BD23E05}"/>
                  </a:ext>
                </a:extLst>
              </p:cNvPr>
              <p:cNvSpPr txBox="1"/>
              <p:nvPr/>
            </p:nvSpPr>
            <p:spPr>
              <a:xfrm>
                <a:off x="7588463" y="2987932"/>
                <a:ext cx="2443954" cy="338554"/>
              </a:xfrm>
              <a:prstGeom prst="rect">
                <a:avLst/>
              </a:prstGeom>
              <a:noFill/>
            </p:spPr>
            <p:txBody>
              <a:bodyPr wrap="square">
                <a:spAutoFit/>
              </a:bodyPr>
              <a:lstStyle>
                <a:defPPr>
                  <a:defRPr lang="en-US"/>
                </a:defPPr>
                <a:lvl1pPr algn="ctr">
                  <a:defRPr sz="1400" b="1">
                    <a:latin typeface="Roboto" panose="02000000000000000000" pitchFamily="2" charset="0"/>
                    <a:ea typeface="Roboto" panose="02000000000000000000" pitchFamily="2" charset="0"/>
                    <a:cs typeface="Poppins SemiBold"/>
                  </a:defRPr>
                </a:lvl1pPr>
              </a:lstStyle>
              <a:p>
                <a:r>
                  <a:rPr lang="en-US" sz="1600" noProof="0"/>
                  <a:t>Timely, rapid-cycle data </a:t>
                </a:r>
              </a:p>
            </p:txBody>
          </p:sp>
          <p:sp>
            <p:nvSpPr>
              <p:cNvPr id="17" name="TextBox 16">
                <a:extLst>
                  <a:ext uri="{FF2B5EF4-FFF2-40B4-BE49-F238E27FC236}">
                    <a16:creationId xmlns:a16="http://schemas.microsoft.com/office/drawing/2014/main" id="{61855FBE-BB8E-8E86-18E7-91FCB99B7781}"/>
                  </a:ext>
                </a:extLst>
              </p:cNvPr>
              <p:cNvSpPr txBox="1"/>
              <p:nvPr/>
            </p:nvSpPr>
            <p:spPr>
              <a:xfrm>
                <a:off x="7656321" y="4525814"/>
                <a:ext cx="2443954" cy="338555"/>
              </a:xfrm>
              <a:prstGeom prst="rect">
                <a:avLst/>
              </a:prstGeom>
              <a:noFill/>
            </p:spPr>
            <p:txBody>
              <a:bodyPr wrap="square">
                <a:spAutoFit/>
              </a:bodyPr>
              <a:lstStyle>
                <a:defPPr>
                  <a:defRPr lang="en-US"/>
                </a:defPPr>
                <a:lvl1pPr algn="ctr">
                  <a:defRPr sz="1400" b="1">
                    <a:latin typeface="Roboto" panose="02000000000000000000" pitchFamily="2" charset="0"/>
                    <a:ea typeface="Roboto" panose="02000000000000000000" pitchFamily="2" charset="0"/>
                    <a:cs typeface="Poppins SemiBold"/>
                  </a:defRPr>
                </a:lvl1pPr>
              </a:lstStyle>
              <a:p>
                <a:r>
                  <a:rPr lang="en-US" sz="1600" noProof="0"/>
                  <a:t>Continuous data use </a:t>
                </a:r>
              </a:p>
            </p:txBody>
          </p:sp>
          <p:sp>
            <p:nvSpPr>
              <p:cNvPr id="18" name="Arrow: Curved Down 17">
                <a:extLst>
                  <a:ext uri="{FF2B5EF4-FFF2-40B4-BE49-F238E27FC236}">
                    <a16:creationId xmlns:a16="http://schemas.microsoft.com/office/drawing/2014/main" id="{75FDE959-7151-E933-6C7A-E60DC38EEBF2}"/>
                  </a:ext>
                </a:extLst>
              </p:cNvPr>
              <p:cNvSpPr/>
              <p:nvPr/>
            </p:nvSpPr>
            <p:spPr>
              <a:xfrm>
                <a:off x="9931841" y="3383983"/>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19" name="Arrow: Curved Down 18">
                <a:extLst>
                  <a:ext uri="{FF2B5EF4-FFF2-40B4-BE49-F238E27FC236}">
                    <a16:creationId xmlns:a16="http://schemas.microsoft.com/office/drawing/2014/main" id="{D55709D6-2C1A-BBF5-494D-87A0E9205ECF}"/>
                  </a:ext>
                </a:extLst>
              </p:cNvPr>
              <p:cNvSpPr/>
              <p:nvPr/>
            </p:nvSpPr>
            <p:spPr>
              <a:xfrm rot="10800000">
                <a:off x="9931841" y="4051919"/>
                <a:ext cx="625792" cy="409575"/>
              </a:xfrm>
              <a:prstGeom prst="curvedDownArrow">
                <a:avLst>
                  <a:gd name="adj1" fmla="val 29332"/>
                  <a:gd name="adj2" fmla="val 50000"/>
                  <a:gd name="adj3" fmla="val 25000"/>
                </a:avLst>
              </a:prstGeom>
              <a:solidFill>
                <a:srgbClr val="08716C"/>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grpSp>
            <p:nvGrpSpPr>
              <p:cNvPr id="20" name="Group 19">
                <a:extLst>
                  <a:ext uri="{FF2B5EF4-FFF2-40B4-BE49-F238E27FC236}">
                    <a16:creationId xmlns:a16="http://schemas.microsoft.com/office/drawing/2014/main" id="{262A4D4B-A675-6D47-035B-79DCF533EE14}"/>
                  </a:ext>
                </a:extLst>
              </p:cNvPr>
              <p:cNvGrpSpPr/>
              <p:nvPr/>
            </p:nvGrpSpPr>
            <p:grpSpPr>
              <a:xfrm>
                <a:off x="5768531" y="1455825"/>
                <a:ext cx="5001068" cy="4661891"/>
                <a:chOff x="5768531" y="1455825"/>
                <a:chExt cx="5001068" cy="4661891"/>
              </a:xfrm>
            </p:grpSpPr>
            <p:sp>
              <p:nvSpPr>
                <p:cNvPr id="21" name="Arrow: Circular 20">
                  <a:extLst>
                    <a:ext uri="{FF2B5EF4-FFF2-40B4-BE49-F238E27FC236}">
                      <a16:creationId xmlns:a16="http://schemas.microsoft.com/office/drawing/2014/main" id="{64E3F9AD-9BE8-08B6-E557-573D5FF0D810}"/>
                    </a:ext>
                  </a:extLst>
                </p:cNvPr>
                <p:cNvSpPr/>
                <p:nvPr/>
              </p:nvSpPr>
              <p:spPr>
                <a:xfrm>
                  <a:off x="6872787" y="1724013"/>
                  <a:ext cx="3896812" cy="3155871"/>
                </a:xfrm>
                <a:prstGeom prst="circularArrow">
                  <a:avLst>
                    <a:gd name="adj1" fmla="val 7280"/>
                    <a:gd name="adj2" fmla="val 1142319"/>
                    <a:gd name="adj3" fmla="val 20482628"/>
                    <a:gd name="adj4" fmla="val 10800000"/>
                    <a:gd name="adj5" fmla="val 7538"/>
                  </a:avLst>
                </a:prstGeom>
                <a:solidFill>
                  <a:srgbClr val="08716C">
                    <a:alpha val="7843"/>
                  </a:srgbClr>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22" name="Arrow: Circular 21">
                  <a:extLst>
                    <a:ext uri="{FF2B5EF4-FFF2-40B4-BE49-F238E27FC236}">
                      <a16:creationId xmlns:a16="http://schemas.microsoft.com/office/drawing/2014/main" id="{7226930E-D5C3-6409-501B-D29ADD339256}"/>
                    </a:ext>
                  </a:extLst>
                </p:cNvPr>
                <p:cNvSpPr/>
                <p:nvPr/>
              </p:nvSpPr>
              <p:spPr>
                <a:xfrm rot="10800000">
                  <a:off x="6872786" y="2903764"/>
                  <a:ext cx="3896812" cy="3213952"/>
                </a:xfrm>
                <a:prstGeom prst="circularArrow">
                  <a:avLst>
                    <a:gd name="adj1" fmla="val 7280"/>
                    <a:gd name="adj2" fmla="val 1142319"/>
                    <a:gd name="adj3" fmla="val 20482628"/>
                    <a:gd name="adj4" fmla="val 10800000"/>
                    <a:gd name="adj5" fmla="val 7538"/>
                  </a:avLst>
                </a:prstGeom>
                <a:solidFill>
                  <a:srgbClr val="08716C">
                    <a:alpha val="7843"/>
                  </a:srgbClr>
                </a:solidFill>
                <a:ln>
                  <a:solidFill>
                    <a:srgbClr val="0871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latin typeface="Roboto" panose="02000000000000000000" pitchFamily="2" charset="0"/>
                    <a:ea typeface="Roboto" panose="02000000000000000000" pitchFamily="2" charset="0"/>
                  </a:endParaRPr>
                </a:p>
              </p:txBody>
            </p:sp>
            <p:sp>
              <p:nvSpPr>
                <p:cNvPr id="23" name="TextBox 22">
                  <a:extLst>
                    <a:ext uri="{FF2B5EF4-FFF2-40B4-BE49-F238E27FC236}">
                      <a16:creationId xmlns:a16="http://schemas.microsoft.com/office/drawing/2014/main" id="{D57BD964-E8A3-89C6-B962-BD84ABB193FB}"/>
                    </a:ext>
                  </a:extLst>
                </p:cNvPr>
                <p:cNvSpPr txBox="1"/>
                <p:nvPr/>
              </p:nvSpPr>
              <p:spPr>
                <a:xfrm>
                  <a:off x="7599213" y="1455825"/>
                  <a:ext cx="2443954" cy="338554"/>
                </a:xfrm>
                <a:prstGeom prst="rect">
                  <a:avLst/>
                </a:prstGeom>
                <a:noFill/>
              </p:spPr>
              <p:txBody>
                <a:bodyPr wrap="square">
                  <a:spAutoFit/>
                </a:bodyPr>
                <a:lstStyle/>
                <a:p>
                  <a:pPr algn="ctr"/>
                  <a:r>
                    <a:rPr lang="en-US" sz="1600" b="1" noProof="0">
                      <a:latin typeface="Roboto" panose="02000000000000000000" pitchFamily="2" charset="0"/>
                      <a:ea typeface="Roboto" panose="02000000000000000000" pitchFamily="2" charset="0"/>
                      <a:cs typeface="Poppins SemiBold"/>
                    </a:rPr>
                    <a:t>In person surveys</a:t>
                  </a:r>
                  <a:endParaRPr lang="en-US" sz="1600" b="1" noProof="0">
                    <a:latin typeface="Roboto" panose="02000000000000000000" pitchFamily="2" charset="0"/>
                    <a:ea typeface="Roboto" panose="02000000000000000000" pitchFamily="2" charset="0"/>
                  </a:endParaRPr>
                </a:p>
              </p:txBody>
            </p:sp>
            <p:sp>
              <p:nvSpPr>
                <p:cNvPr id="24" name="Isosceles Triangle 23">
                  <a:extLst>
                    <a:ext uri="{FF2B5EF4-FFF2-40B4-BE49-F238E27FC236}">
                      <a16:creationId xmlns:a16="http://schemas.microsoft.com/office/drawing/2014/main" id="{EC8134D8-88A2-48F1-B413-1823B74B47CE}"/>
                    </a:ext>
                  </a:extLst>
                </p:cNvPr>
                <p:cNvSpPr/>
                <p:nvPr/>
              </p:nvSpPr>
              <p:spPr>
                <a:xfrm rot="5400000">
                  <a:off x="4177700" y="3483781"/>
                  <a:ext cx="4096817" cy="915156"/>
                </a:xfrm>
                <a:prstGeom prst="triangle">
                  <a:avLst/>
                </a:prstGeom>
                <a:solidFill>
                  <a:srgbClr val="E7E6E6">
                    <a:alpha val="4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Roboto" panose="02000000000000000000" pitchFamily="2" charset="0"/>
                    <a:ea typeface="Roboto" panose="02000000000000000000" pitchFamily="2" charset="0"/>
                  </a:endParaRPr>
                </a:p>
              </p:txBody>
            </p:sp>
          </p:grpSp>
        </p:grpSp>
        <p:sp>
          <p:nvSpPr>
            <p:cNvPr id="6" name="TextBox 5">
              <a:extLst>
                <a:ext uri="{FF2B5EF4-FFF2-40B4-BE49-F238E27FC236}">
                  <a16:creationId xmlns:a16="http://schemas.microsoft.com/office/drawing/2014/main" id="{2621BAE6-C770-D8C8-5BDC-F8558C16C0AA}"/>
                </a:ext>
              </a:extLst>
            </p:cNvPr>
            <p:cNvSpPr txBox="1"/>
            <p:nvPr/>
          </p:nvSpPr>
          <p:spPr>
            <a:xfrm>
              <a:off x="-150548" y="3727935"/>
              <a:ext cx="1668049" cy="369332"/>
            </a:xfrm>
            <a:prstGeom prst="rect">
              <a:avLst/>
            </a:prstGeom>
            <a:noFill/>
          </p:spPr>
          <p:txBody>
            <a:bodyPr wrap="square">
              <a:spAutoFit/>
            </a:bodyPr>
            <a:lstStyle/>
            <a:p>
              <a:pPr algn="ctr"/>
              <a:r>
                <a:rPr lang="en-US" sz="1800" b="1" noProof="0">
                  <a:solidFill>
                    <a:sysClr val="windowText" lastClr="000000"/>
                  </a:solidFill>
                  <a:latin typeface="Roboto" panose="02000000000000000000" pitchFamily="2" charset="0"/>
                  <a:ea typeface="Roboto" panose="02000000000000000000" pitchFamily="2" charset="0"/>
                  <a:cs typeface="Poppins SemiBold"/>
                </a:rPr>
                <a:t>Year </a:t>
              </a:r>
              <a:r>
                <a:rPr lang="en-US" b="1" noProof="0">
                  <a:solidFill>
                    <a:sysClr val="windowText" lastClr="000000"/>
                  </a:solidFill>
                  <a:latin typeface="Roboto" panose="02000000000000000000" pitchFamily="2" charset="0"/>
                  <a:ea typeface="Roboto" panose="02000000000000000000" pitchFamily="2" charset="0"/>
                  <a:cs typeface="Poppins SemiBold"/>
                </a:rPr>
                <a:t>1</a:t>
              </a:r>
              <a:endParaRPr lang="en-US" noProof="0">
                <a:solidFill>
                  <a:sysClr val="windowText" lastClr="000000"/>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1354928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2A20-0268-CA95-58CF-12DE638A6F89}"/>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FA74FA36-BB94-918B-2E06-A82E6F95C492}"/>
              </a:ext>
            </a:extLst>
          </p:cNvPr>
          <p:cNvSpPr/>
          <p:nvPr/>
        </p:nvSpPr>
        <p:spPr>
          <a:xfrm>
            <a:off x="-4033" y="-30739"/>
            <a:ext cx="596219" cy="1417955"/>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8" name="Title 1">
            <a:extLst>
              <a:ext uri="{FF2B5EF4-FFF2-40B4-BE49-F238E27FC236}">
                <a16:creationId xmlns:a16="http://schemas.microsoft.com/office/drawing/2014/main" id="{4859D1CB-763E-1EA4-226A-0F66DBED7A95}"/>
              </a:ext>
            </a:extLst>
          </p:cNvPr>
          <p:cNvSpPr>
            <a:spLocks noGrp="1"/>
          </p:cNvSpPr>
          <p:nvPr>
            <p:ph type="title"/>
          </p:nvPr>
        </p:nvSpPr>
        <p:spPr>
          <a:xfrm>
            <a:off x="592186" y="-48457"/>
            <a:ext cx="11599814" cy="1417955"/>
          </a:xfrm>
          <a:solidFill>
            <a:srgbClr val="ECF4F3">
              <a:alpha val="80000"/>
            </a:srgbClr>
          </a:solidFill>
        </p:spPr>
        <p:txBody>
          <a:bodyPr>
            <a:noAutofit/>
          </a:bodyPr>
          <a:lstStyle/>
          <a:p>
            <a:pPr marL="182880">
              <a:lnSpc>
                <a:spcPct val="100000"/>
              </a:lnSpc>
            </a:pPr>
            <a:r>
              <a:rPr lang="en-US" sz="2400" noProof="0">
                <a:solidFill>
                  <a:srgbClr val="095457"/>
                </a:solidFill>
                <a:latin typeface="Poppins Bold" panose="00000800000000000000" pitchFamily="2" charset="0"/>
                <a:ea typeface="Inter" panose="02000503000000020004" pitchFamily="2" charset="0"/>
                <a:cs typeface="Poppins Bold" panose="00000800000000000000" pitchFamily="2" charset="0"/>
              </a:rPr>
              <a:t>What is FASTR? </a:t>
            </a:r>
            <a:r>
              <a:rPr lang="en-US" sz="2300" noProof="0">
                <a:solidFill>
                  <a:srgbClr val="095457"/>
                </a:solidFill>
                <a:latin typeface="Poppins" panose="00000500000000000000" pitchFamily="2" charset="0"/>
                <a:ea typeface="Inter" panose="02000503000000020004" pitchFamily="2" charset="0"/>
                <a:cs typeface="Poppins" panose="00000500000000000000" pitchFamily="2" charset="0"/>
              </a:rPr>
              <a:t>An approach to catalyzing continuous ‘analyze, learn, strengthen, act’ cycles to drive the systematic use of timely data for decision making</a:t>
            </a:r>
          </a:p>
        </p:txBody>
      </p:sp>
      <p:pic>
        <p:nvPicPr>
          <p:cNvPr id="70" name="Graphic 69">
            <a:extLst>
              <a:ext uri="{FF2B5EF4-FFF2-40B4-BE49-F238E27FC236}">
                <a16:creationId xmlns:a16="http://schemas.microsoft.com/office/drawing/2014/main" id="{7E486748-ACA1-8AF5-E86D-8EFEFA1BC9F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grpSp>
        <p:nvGrpSpPr>
          <p:cNvPr id="4" name="Group 3">
            <a:extLst>
              <a:ext uri="{FF2B5EF4-FFF2-40B4-BE49-F238E27FC236}">
                <a16:creationId xmlns:a16="http://schemas.microsoft.com/office/drawing/2014/main" id="{99668599-3C80-A23F-E513-65B9FEAC6B3B}"/>
              </a:ext>
            </a:extLst>
          </p:cNvPr>
          <p:cNvGrpSpPr/>
          <p:nvPr/>
        </p:nvGrpSpPr>
        <p:grpSpPr>
          <a:xfrm>
            <a:off x="3" y="6586157"/>
            <a:ext cx="12192000" cy="271843"/>
            <a:chOff x="3" y="6586157"/>
            <a:chExt cx="12192000" cy="271843"/>
          </a:xfrm>
        </p:grpSpPr>
        <p:sp>
          <p:nvSpPr>
            <p:cNvPr id="5" name="Rectangle 4">
              <a:extLst>
                <a:ext uri="{FF2B5EF4-FFF2-40B4-BE49-F238E27FC236}">
                  <a16:creationId xmlns:a16="http://schemas.microsoft.com/office/drawing/2014/main" id="{78D98B97-FA66-AE4E-CC5A-511C2CBCFD6B}"/>
                </a:ext>
              </a:extLst>
            </p:cNvPr>
            <p:cNvSpPr/>
            <p:nvPr/>
          </p:nvSpPr>
          <p:spPr>
            <a:xfrm>
              <a:off x="3" y="6586157"/>
              <a:ext cx="12192000" cy="271843"/>
            </a:xfrm>
            <a:prstGeom prst="rect">
              <a:avLst/>
            </a:prstGeom>
            <a:solidFill>
              <a:srgbClr val="095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6" name="Graphic 5">
              <a:extLst>
                <a:ext uri="{FF2B5EF4-FFF2-40B4-BE49-F238E27FC236}">
                  <a16:creationId xmlns:a16="http://schemas.microsoft.com/office/drawing/2014/main" id="{48FA4223-D45C-BC84-4419-35F59ABC8A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2440" y="6586157"/>
              <a:ext cx="945720" cy="251092"/>
            </a:xfrm>
            <a:prstGeom prst="rect">
              <a:avLst/>
            </a:prstGeom>
          </p:spPr>
        </p:pic>
      </p:grpSp>
      <p:grpSp>
        <p:nvGrpSpPr>
          <p:cNvPr id="2" name="Group 1">
            <a:extLst>
              <a:ext uri="{FF2B5EF4-FFF2-40B4-BE49-F238E27FC236}">
                <a16:creationId xmlns:a16="http://schemas.microsoft.com/office/drawing/2014/main" id="{A4BBF9C5-15EE-F175-9ADF-50D27E3E6FDB}"/>
              </a:ext>
            </a:extLst>
          </p:cNvPr>
          <p:cNvGrpSpPr/>
          <p:nvPr/>
        </p:nvGrpSpPr>
        <p:grpSpPr>
          <a:xfrm>
            <a:off x="857868" y="1341228"/>
            <a:ext cx="8640974" cy="4851013"/>
            <a:chOff x="344019" y="1320077"/>
            <a:chExt cx="9036422" cy="5147539"/>
          </a:xfrm>
        </p:grpSpPr>
        <p:pic>
          <p:nvPicPr>
            <p:cNvPr id="7" name="Picture 6">
              <a:extLst>
                <a:ext uri="{FF2B5EF4-FFF2-40B4-BE49-F238E27FC236}">
                  <a16:creationId xmlns:a16="http://schemas.microsoft.com/office/drawing/2014/main" id="{C4FF2935-9001-82B3-A533-E26252711897}"/>
                </a:ext>
              </a:extLst>
            </p:cNvPr>
            <p:cNvPicPr>
              <a:picLocks noChangeAspect="1"/>
            </p:cNvPicPr>
            <p:nvPr/>
          </p:nvPicPr>
          <p:blipFill rotWithShape="1">
            <a:blip r:embed="rId5"/>
            <a:srcRect l="9950" t="8766" r="13853" b="3110"/>
            <a:stretch/>
          </p:blipFill>
          <p:spPr>
            <a:xfrm>
              <a:off x="2811559" y="1320077"/>
              <a:ext cx="6568882" cy="5147539"/>
            </a:xfrm>
            <a:prstGeom prst="rect">
              <a:avLst/>
            </a:prstGeom>
          </p:spPr>
        </p:pic>
        <p:pic>
          <p:nvPicPr>
            <p:cNvPr id="8" name="Picture 7">
              <a:extLst>
                <a:ext uri="{FF2B5EF4-FFF2-40B4-BE49-F238E27FC236}">
                  <a16:creationId xmlns:a16="http://schemas.microsoft.com/office/drawing/2014/main" id="{D106209E-58EA-6995-6678-D402C2BC9CF6}"/>
                </a:ext>
              </a:extLst>
            </p:cNvPr>
            <p:cNvPicPr>
              <a:picLocks noChangeAspect="1"/>
            </p:cNvPicPr>
            <p:nvPr/>
          </p:nvPicPr>
          <p:blipFill rotWithShape="1">
            <a:blip r:embed="rId6"/>
            <a:srcRect l="11223" t="6769" r="11351"/>
            <a:stretch/>
          </p:blipFill>
          <p:spPr>
            <a:xfrm>
              <a:off x="344019" y="4269545"/>
              <a:ext cx="2504335" cy="1926359"/>
            </a:xfrm>
            <a:prstGeom prst="rect">
              <a:avLst/>
            </a:prstGeom>
          </p:spPr>
        </p:pic>
        <p:cxnSp>
          <p:nvCxnSpPr>
            <p:cNvPr id="9" name="Straight Connector 8">
              <a:extLst>
                <a:ext uri="{FF2B5EF4-FFF2-40B4-BE49-F238E27FC236}">
                  <a16:creationId xmlns:a16="http://schemas.microsoft.com/office/drawing/2014/main" id="{32EC3512-73EE-EF70-C55A-B90293D0C52E}"/>
                </a:ext>
              </a:extLst>
            </p:cNvPr>
            <p:cNvCxnSpPr>
              <a:cxnSpLocks/>
              <a:stCxn id="7" idx="1"/>
              <a:endCxn id="8" idx="0"/>
            </p:cNvCxnSpPr>
            <p:nvPr/>
          </p:nvCxnSpPr>
          <p:spPr>
            <a:xfrm flipH="1">
              <a:off x="1596187" y="3893847"/>
              <a:ext cx="1215372" cy="375699"/>
            </a:xfrm>
            <a:prstGeom prst="line">
              <a:avLst/>
            </a:prstGeom>
            <a:ln w="38100">
              <a:solidFill>
                <a:srgbClr val="08716C"/>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371541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BE6C-4570-C8D0-3218-EF69FE91979F}"/>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2FA3FD08-E85A-BF4C-3CD6-3A4F4B0B7B1B}"/>
              </a:ext>
            </a:extLst>
          </p:cNvPr>
          <p:cNvSpPr/>
          <p:nvPr/>
        </p:nvSpPr>
        <p:spPr>
          <a:xfrm>
            <a:off x="-4033" y="-30740"/>
            <a:ext cx="596219" cy="1417320"/>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8" name="Title 1">
            <a:extLst>
              <a:ext uri="{FF2B5EF4-FFF2-40B4-BE49-F238E27FC236}">
                <a16:creationId xmlns:a16="http://schemas.microsoft.com/office/drawing/2014/main" id="{AF847CEB-AA7E-8BA8-3ADD-ABA9E2B6E56E}"/>
              </a:ext>
            </a:extLst>
          </p:cNvPr>
          <p:cNvSpPr>
            <a:spLocks noGrp="1"/>
          </p:cNvSpPr>
          <p:nvPr>
            <p:ph type="title"/>
          </p:nvPr>
        </p:nvSpPr>
        <p:spPr>
          <a:xfrm>
            <a:off x="592186" y="-48458"/>
            <a:ext cx="11599814" cy="1417320"/>
          </a:xfrm>
          <a:solidFill>
            <a:srgbClr val="ECF4F3">
              <a:alpha val="80000"/>
            </a:srgbClr>
          </a:solidFill>
        </p:spPr>
        <p:txBody>
          <a:bodyPr>
            <a:noAutofit/>
          </a:bodyPr>
          <a:lstStyle/>
          <a:p>
            <a:pPr marL="182880">
              <a:lnSpc>
                <a:spcPct val="100000"/>
              </a:lnSpc>
            </a:pPr>
            <a:r>
              <a:rPr lang="en-US" sz="2300" noProof="0">
                <a:solidFill>
                  <a:srgbClr val="095457"/>
                </a:solidFill>
                <a:latin typeface="Poppins Bold" panose="00000800000000000000" pitchFamily="2" charset="0"/>
                <a:ea typeface="Inter" panose="02000503000000020004" pitchFamily="2" charset="0"/>
                <a:cs typeface="Poppins Bold" panose="00000800000000000000" pitchFamily="2" charset="0"/>
              </a:rPr>
              <a:t>How can this be achieved? </a:t>
            </a:r>
            <a:r>
              <a:rPr lang="en-US" sz="2300" noProof="0">
                <a:solidFill>
                  <a:srgbClr val="095457"/>
                </a:solidFill>
                <a:latin typeface="Poppins" panose="00000500000000000000" pitchFamily="2" charset="0"/>
                <a:ea typeface="Inter" panose="02000503000000020004" pitchFamily="2" charset="0"/>
                <a:cs typeface="Poppins" panose="00000500000000000000" pitchFamily="2" charset="0"/>
              </a:rPr>
              <a:t>Timely, rigorous, and low-cost approaches to monitoring PHC systems, underpinned by capacity building and data use support aligned with country demand and needs​</a:t>
            </a:r>
          </a:p>
        </p:txBody>
      </p:sp>
      <p:pic>
        <p:nvPicPr>
          <p:cNvPr id="70" name="Graphic 69">
            <a:extLst>
              <a:ext uri="{FF2B5EF4-FFF2-40B4-BE49-F238E27FC236}">
                <a16:creationId xmlns:a16="http://schemas.microsoft.com/office/drawing/2014/main" id="{ED5E54A0-9E7F-4198-4716-1FB9512410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sp>
        <p:nvSpPr>
          <p:cNvPr id="25" name="Rectangle: Rounded Corners 24">
            <a:extLst>
              <a:ext uri="{FF2B5EF4-FFF2-40B4-BE49-F238E27FC236}">
                <a16:creationId xmlns:a16="http://schemas.microsoft.com/office/drawing/2014/main" id="{13E12C77-EE3D-A1FB-D0AF-83F4F426A112}"/>
              </a:ext>
            </a:extLst>
          </p:cNvPr>
          <p:cNvSpPr/>
          <p:nvPr/>
        </p:nvSpPr>
        <p:spPr>
          <a:xfrm>
            <a:off x="592186" y="4662168"/>
            <a:ext cx="10882752" cy="1645012"/>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001524"/>
              </a:solidFill>
            </a:endParaRPr>
          </a:p>
        </p:txBody>
      </p:sp>
      <p:sp>
        <p:nvSpPr>
          <p:cNvPr id="71" name="TextBox 70">
            <a:extLst>
              <a:ext uri="{FF2B5EF4-FFF2-40B4-BE49-F238E27FC236}">
                <a16:creationId xmlns:a16="http://schemas.microsoft.com/office/drawing/2014/main" id="{BB626A56-87D2-9665-EAA2-82FF3A782820}"/>
              </a:ext>
            </a:extLst>
          </p:cNvPr>
          <p:cNvSpPr txBox="1"/>
          <p:nvPr/>
        </p:nvSpPr>
        <p:spPr>
          <a:xfrm>
            <a:off x="592186" y="5418438"/>
            <a:ext cx="10882752" cy="602571"/>
          </a:xfrm>
          <a:prstGeom prst="rect">
            <a:avLst/>
          </a:prstGeom>
          <a:noFill/>
        </p:spPr>
        <p:txBody>
          <a:bodyPr wrap="square" lIns="91440" tIns="45720" rIns="91440" bIns="4572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Poppins"/>
                <a:ea typeface="+mn-ea"/>
                <a:cs typeface="Poppins"/>
              </a:rPr>
              <a:t>Build capacity + data use support </a:t>
            </a:r>
            <a:br>
              <a:rPr kumimoji="0" lang="en-US" sz="20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rPr>
            </a:br>
            <a:r>
              <a:rPr kumimoji="0" lang="en-US" sz="1200" b="0" i="0" u="none" strike="noStrike" kern="1200" cap="none" spc="0" normalizeH="0" baseline="0" noProof="0">
                <a:ln>
                  <a:noFill/>
                </a:ln>
                <a:solidFill>
                  <a:prstClr val="black"/>
                </a:solidFill>
                <a:effectLst/>
                <a:uLnTx/>
                <a:uFillTx/>
                <a:latin typeface="Poppins"/>
                <a:ea typeface="+mn-ea"/>
                <a:cs typeface="Poppins"/>
              </a:rPr>
              <a:t>Building within-country capacity for data collection, analysis, and use, with a focus on Ministry of Health leadership and partner alignment.</a:t>
            </a:r>
          </a:p>
        </p:txBody>
      </p:sp>
      <p:grpSp>
        <p:nvGrpSpPr>
          <p:cNvPr id="88" name="Group 87">
            <a:extLst>
              <a:ext uri="{FF2B5EF4-FFF2-40B4-BE49-F238E27FC236}">
                <a16:creationId xmlns:a16="http://schemas.microsoft.com/office/drawing/2014/main" id="{5D3A2ACD-7D3E-99CA-C909-F0635291C5F8}"/>
              </a:ext>
            </a:extLst>
          </p:cNvPr>
          <p:cNvGrpSpPr/>
          <p:nvPr/>
        </p:nvGrpSpPr>
        <p:grpSpPr>
          <a:xfrm>
            <a:off x="3" y="6586157"/>
            <a:ext cx="12192000" cy="271843"/>
            <a:chOff x="3" y="6586157"/>
            <a:chExt cx="12192000" cy="271843"/>
          </a:xfrm>
        </p:grpSpPr>
        <p:sp>
          <p:nvSpPr>
            <p:cNvPr id="89" name="Rectangle 88">
              <a:extLst>
                <a:ext uri="{FF2B5EF4-FFF2-40B4-BE49-F238E27FC236}">
                  <a16:creationId xmlns:a16="http://schemas.microsoft.com/office/drawing/2014/main" id="{DB8C2A7E-C659-565F-DE38-50722290895D}"/>
                </a:ext>
              </a:extLst>
            </p:cNvPr>
            <p:cNvSpPr/>
            <p:nvPr/>
          </p:nvSpPr>
          <p:spPr>
            <a:xfrm>
              <a:off x="3" y="6586157"/>
              <a:ext cx="12192000" cy="271843"/>
            </a:xfrm>
            <a:prstGeom prst="rect">
              <a:avLst/>
            </a:prstGeom>
            <a:solidFill>
              <a:srgbClr val="095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90" name="Graphic 89">
              <a:extLst>
                <a:ext uri="{FF2B5EF4-FFF2-40B4-BE49-F238E27FC236}">
                  <a16:creationId xmlns:a16="http://schemas.microsoft.com/office/drawing/2014/main" id="{A08ABCC1-B5DA-804B-0F8E-D39952B4ED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2440" y="6586157"/>
              <a:ext cx="945720" cy="251092"/>
            </a:xfrm>
            <a:prstGeom prst="rect">
              <a:avLst/>
            </a:prstGeom>
          </p:spPr>
        </p:pic>
      </p:grpSp>
      <p:grpSp>
        <p:nvGrpSpPr>
          <p:cNvPr id="61" name="Group 60">
            <a:extLst>
              <a:ext uri="{FF2B5EF4-FFF2-40B4-BE49-F238E27FC236}">
                <a16:creationId xmlns:a16="http://schemas.microsoft.com/office/drawing/2014/main" id="{B774572E-305E-1F0C-66DE-3F11CDD7B144}"/>
              </a:ext>
            </a:extLst>
          </p:cNvPr>
          <p:cNvGrpSpPr/>
          <p:nvPr/>
        </p:nvGrpSpPr>
        <p:grpSpPr>
          <a:xfrm>
            <a:off x="1142450" y="1701121"/>
            <a:ext cx="9701209" cy="3636520"/>
            <a:chOff x="1376652" y="1636291"/>
            <a:chExt cx="9701209" cy="3636520"/>
          </a:xfrm>
        </p:grpSpPr>
        <p:grpSp>
          <p:nvGrpSpPr>
            <p:cNvPr id="37" name="Group 36">
              <a:extLst>
                <a:ext uri="{FF2B5EF4-FFF2-40B4-BE49-F238E27FC236}">
                  <a16:creationId xmlns:a16="http://schemas.microsoft.com/office/drawing/2014/main" id="{4B25BB08-6E2B-B757-251C-FBE7535DC7DC}"/>
                </a:ext>
              </a:extLst>
            </p:cNvPr>
            <p:cNvGrpSpPr/>
            <p:nvPr/>
          </p:nvGrpSpPr>
          <p:grpSpPr>
            <a:xfrm>
              <a:off x="1376652" y="1643852"/>
              <a:ext cx="2203065" cy="3619291"/>
              <a:chOff x="212876" y="1900634"/>
              <a:chExt cx="2529787" cy="4049489"/>
            </a:xfrm>
            <a:solidFill>
              <a:srgbClr val="08716C"/>
            </a:solidFill>
          </p:grpSpPr>
          <p:sp>
            <p:nvSpPr>
              <p:cNvPr id="58" name="Rectangle: Rounded Corners 57">
                <a:extLst>
                  <a:ext uri="{FF2B5EF4-FFF2-40B4-BE49-F238E27FC236}">
                    <a16:creationId xmlns:a16="http://schemas.microsoft.com/office/drawing/2014/main" id="{3C7C91EF-4A70-E1A3-C0E3-9A8B607E8BC2}"/>
                  </a:ext>
                </a:extLst>
              </p:cNvPr>
              <p:cNvSpPr/>
              <p:nvPr/>
            </p:nvSpPr>
            <p:spPr>
              <a:xfrm>
                <a:off x="222642" y="2698126"/>
                <a:ext cx="2520021" cy="3251997"/>
              </a:xfrm>
              <a:prstGeom prst="roundRect">
                <a:avLst/>
              </a:prstGeom>
              <a:solidFill>
                <a:srgbClr val="F49D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9" name="Oval 58">
                <a:extLst>
                  <a:ext uri="{FF2B5EF4-FFF2-40B4-BE49-F238E27FC236}">
                    <a16:creationId xmlns:a16="http://schemas.microsoft.com/office/drawing/2014/main" id="{23E743F1-8A1F-60D9-A741-ADE3D20AC3DC}"/>
                  </a:ext>
                </a:extLst>
              </p:cNvPr>
              <p:cNvSpPr/>
              <p:nvPr/>
            </p:nvSpPr>
            <p:spPr>
              <a:xfrm>
                <a:off x="212876" y="1900634"/>
                <a:ext cx="2520021" cy="2254883"/>
              </a:xfrm>
              <a:prstGeom prst="ellipse">
                <a:avLst/>
              </a:prstGeom>
              <a:solidFill>
                <a:srgbClr val="F49D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pic>
          <p:nvPicPr>
            <p:cNvPr id="38" name="Picture 6" descr="data report Icon 1800748">
              <a:extLst>
                <a:ext uri="{FF2B5EF4-FFF2-40B4-BE49-F238E27FC236}">
                  <a16:creationId xmlns:a16="http://schemas.microsoft.com/office/drawing/2014/main" id="{9357B6AC-C5CE-2559-4DBC-DAFED589C27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965440" y="1924305"/>
              <a:ext cx="1027615" cy="967580"/>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AB59AA47-35B5-EEA4-9839-38E86976C3CB}"/>
                </a:ext>
              </a:extLst>
            </p:cNvPr>
            <p:cNvSpPr txBox="1"/>
            <p:nvPr/>
          </p:nvSpPr>
          <p:spPr>
            <a:xfrm>
              <a:off x="1513130" y="2892870"/>
              <a:ext cx="1955146" cy="1268660"/>
            </a:xfrm>
            <a:prstGeom prst="rect">
              <a:avLst/>
            </a:prstGeom>
            <a:noFill/>
          </p:spPr>
          <p:txBody>
            <a:bodyPr wrap="square" lIns="91440" tIns="45720" rIns="91440" bIns="45720" anchor="t">
              <a:noAutofit/>
            </a:bodyPr>
            <a:lstStyle/>
            <a:p>
              <a:pPr algn="ctr"/>
              <a:r>
                <a:rPr lang="en-US" sz="1600" b="1" noProof="0">
                  <a:solidFill>
                    <a:schemeClr val="bg1"/>
                  </a:solidFill>
                  <a:latin typeface="Poppins"/>
                  <a:cs typeface="Poppins"/>
                </a:rPr>
                <a:t>Routine RMNCAH-N Data</a:t>
              </a:r>
            </a:p>
            <a:p>
              <a:pPr algn="ctr">
                <a:spcBef>
                  <a:spcPts val="600"/>
                </a:spcBef>
              </a:pPr>
              <a:r>
                <a:rPr lang="en-US" sz="1100" noProof="0">
                  <a:solidFill>
                    <a:schemeClr val="bg1"/>
                  </a:solidFill>
                  <a:latin typeface="Poppins"/>
                  <a:cs typeface="Poppins"/>
                </a:rPr>
                <a:t>Leverage HMIS data to routinely monitor changes in the coverage of health services during reforms, shocks, or within vulnerable populations, while identifying and addressing data quality challenges.</a:t>
              </a:r>
              <a:br>
                <a:rPr lang="en-US" sz="1100" noProof="0">
                  <a:latin typeface="Poppins" panose="00000500000000000000" pitchFamily="2" charset="0"/>
                  <a:cs typeface="Poppins" panose="00000500000000000000" pitchFamily="2" charset="0"/>
                </a:rPr>
              </a:br>
              <a:endParaRPr lang="en-US" sz="1100" noProof="0">
                <a:solidFill>
                  <a:schemeClr val="bg1"/>
                </a:solidFill>
                <a:latin typeface="Poppins"/>
                <a:cs typeface="Poppins"/>
              </a:endParaRPr>
            </a:p>
          </p:txBody>
        </p:sp>
        <p:grpSp>
          <p:nvGrpSpPr>
            <p:cNvPr id="40" name="Group 39">
              <a:extLst>
                <a:ext uri="{FF2B5EF4-FFF2-40B4-BE49-F238E27FC236}">
                  <a16:creationId xmlns:a16="http://schemas.microsoft.com/office/drawing/2014/main" id="{7F1A4FFB-D36B-CA59-6109-C4AB3E8C56CA}"/>
                </a:ext>
              </a:extLst>
            </p:cNvPr>
            <p:cNvGrpSpPr/>
            <p:nvPr/>
          </p:nvGrpSpPr>
          <p:grpSpPr>
            <a:xfrm>
              <a:off x="4015542" y="1643852"/>
              <a:ext cx="2194563" cy="3619291"/>
              <a:chOff x="839753" y="1900634"/>
              <a:chExt cx="2520040" cy="4049489"/>
            </a:xfrm>
            <a:solidFill>
              <a:srgbClr val="08716C"/>
            </a:solidFill>
          </p:grpSpPr>
          <p:sp>
            <p:nvSpPr>
              <p:cNvPr id="56" name="Rectangle: Rounded Corners 55">
                <a:extLst>
                  <a:ext uri="{FF2B5EF4-FFF2-40B4-BE49-F238E27FC236}">
                    <a16:creationId xmlns:a16="http://schemas.microsoft.com/office/drawing/2014/main" id="{5B634B76-5D77-EA6E-6292-9595451DBC13}"/>
                  </a:ext>
                </a:extLst>
              </p:cNvPr>
              <p:cNvSpPr/>
              <p:nvPr/>
            </p:nvSpPr>
            <p:spPr>
              <a:xfrm>
                <a:off x="839756" y="2698126"/>
                <a:ext cx="2520037" cy="325199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ECD1"/>
                  </a:solidFill>
                </a:endParaRPr>
              </a:p>
            </p:txBody>
          </p:sp>
          <p:sp>
            <p:nvSpPr>
              <p:cNvPr id="57" name="Oval 56">
                <a:extLst>
                  <a:ext uri="{FF2B5EF4-FFF2-40B4-BE49-F238E27FC236}">
                    <a16:creationId xmlns:a16="http://schemas.microsoft.com/office/drawing/2014/main" id="{8877D580-2AAE-D18E-6F61-6AF3C20DE88F}"/>
                  </a:ext>
                </a:extLst>
              </p:cNvPr>
              <p:cNvSpPr/>
              <p:nvPr/>
            </p:nvSpPr>
            <p:spPr>
              <a:xfrm>
                <a:off x="839753" y="1900634"/>
                <a:ext cx="2520037" cy="22548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ECD1"/>
                  </a:solidFill>
                </a:endParaRPr>
              </a:p>
            </p:txBody>
          </p:sp>
        </p:grpSp>
        <p:pic>
          <p:nvPicPr>
            <p:cNvPr id="41" name="Picture 4" descr="hospital Icon 4974446">
              <a:extLst>
                <a:ext uri="{FF2B5EF4-FFF2-40B4-BE49-F238E27FC236}">
                  <a16:creationId xmlns:a16="http://schemas.microsoft.com/office/drawing/2014/main" id="{A56CF834-297C-2A30-F9C2-B7171EAE168A}"/>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604328" y="1924305"/>
              <a:ext cx="1027615" cy="967580"/>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F0D89F34-B1D6-335D-BC1A-8E20A602F06C}"/>
                </a:ext>
              </a:extLst>
            </p:cNvPr>
            <p:cNvSpPr txBox="1"/>
            <p:nvPr/>
          </p:nvSpPr>
          <p:spPr>
            <a:xfrm>
              <a:off x="4056484" y="2892870"/>
              <a:ext cx="2141835" cy="605175"/>
            </a:xfrm>
            <a:prstGeom prst="rect">
              <a:avLst/>
            </a:prstGeom>
            <a:noFill/>
          </p:spPr>
          <p:txBody>
            <a:bodyPr wrap="square" lIns="91440" tIns="45720" rIns="91440" bIns="45720" anchor="t">
              <a:noAutofit/>
            </a:bodyPr>
            <a:lstStyle/>
            <a:p>
              <a:pPr algn="ctr"/>
              <a:r>
                <a:rPr lang="en-US" sz="1600" b="1" noProof="0">
                  <a:solidFill>
                    <a:schemeClr val="bg1"/>
                  </a:solidFill>
                  <a:latin typeface="Poppins"/>
                  <a:cs typeface="Poppins"/>
                </a:rPr>
                <a:t>Health facility Surveys</a:t>
              </a:r>
            </a:p>
            <a:p>
              <a:pPr algn="ctr">
                <a:spcBef>
                  <a:spcPts val="600"/>
                </a:spcBef>
              </a:pPr>
              <a:r>
                <a:rPr lang="en-US" sz="1100" noProof="0">
                  <a:solidFill>
                    <a:schemeClr val="bg1"/>
                  </a:solidFill>
                  <a:latin typeface="Poppins"/>
                  <a:cs typeface="Poppins"/>
                </a:rPr>
                <a:t>Understand service delivery gaps in PHC facilities and monitor their performance over time; understand the impact of health reforms or shocks on PHC performance.</a:t>
              </a:r>
              <a:endParaRPr lang="en-US" sz="1100" b="1" noProof="0">
                <a:solidFill>
                  <a:schemeClr val="bg1"/>
                </a:solidFill>
                <a:latin typeface="Poppins"/>
                <a:cs typeface="Poppins"/>
              </a:endParaRPr>
            </a:p>
            <a:p>
              <a:pPr algn="ctr"/>
              <a:endParaRPr lang="en-US" sz="800" noProof="0">
                <a:solidFill>
                  <a:schemeClr val="bg1"/>
                </a:solidFill>
                <a:latin typeface="Poppins" panose="00000500000000000000" pitchFamily="2" charset="0"/>
                <a:cs typeface="Poppins" panose="00000500000000000000" pitchFamily="2" charset="0"/>
              </a:endParaRPr>
            </a:p>
            <a:p>
              <a:pPr algn="ctr"/>
              <a:r>
                <a:rPr lang="en-US" sz="1200" noProof="0">
                  <a:solidFill>
                    <a:schemeClr val="bg1"/>
                  </a:solidFill>
                  <a:latin typeface="Poppins"/>
                  <a:cs typeface="Poppins"/>
                </a:rPr>
                <a:t> </a:t>
              </a:r>
            </a:p>
          </p:txBody>
        </p:sp>
        <p:grpSp>
          <p:nvGrpSpPr>
            <p:cNvPr id="44" name="Group 43">
              <a:extLst>
                <a:ext uri="{FF2B5EF4-FFF2-40B4-BE49-F238E27FC236}">
                  <a16:creationId xmlns:a16="http://schemas.microsoft.com/office/drawing/2014/main" id="{59E58D25-DD74-8FDB-59FB-F1681BD7B75B}"/>
                </a:ext>
              </a:extLst>
            </p:cNvPr>
            <p:cNvGrpSpPr/>
            <p:nvPr/>
          </p:nvGrpSpPr>
          <p:grpSpPr>
            <a:xfrm>
              <a:off x="8883298" y="1653520"/>
              <a:ext cx="2194563" cy="3619291"/>
              <a:chOff x="11490593" y="1566028"/>
              <a:chExt cx="2311964" cy="4049489"/>
            </a:xfrm>
          </p:grpSpPr>
          <p:grpSp>
            <p:nvGrpSpPr>
              <p:cNvPr id="51" name="Group 50">
                <a:extLst>
                  <a:ext uri="{FF2B5EF4-FFF2-40B4-BE49-F238E27FC236}">
                    <a16:creationId xmlns:a16="http://schemas.microsoft.com/office/drawing/2014/main" id="{2E1362A0-0D46-63AB-66EE-326EC6923C7F}"/>
                  </a:ext>
                </a:extLst>
              </p:cNvPr>
              <p:cNvGrpSpPr/>
              <p:nvPr/>
            </p:nvGrpSpPr>
            <p:grpSpPr>
              <a:xfrm>
                <a:off x="11490593" y="1566028"/>
                <a:ext cx="2311964" cy="4049489"/>
                <a:chOff x="1497975" y="1900634"/>
                <a:chExt cx="2520043" cy="4049489"/>
              </a:xfrm>
              <a:solidFill>
                <a:srgbClr val="08716C"/>
              </a:solidFill>
            </p:grpSpPr>
            <p:sp>
              <p:nvSpPr>
                <p:cNvPr id="54" name="Rectangle: Rounded Corners 53">
                  <a:extLst>
                    <a:ext uri="{FF2B5EF4-FFF2-40B4-BE49-F238E27FC236}">
                      <a16:creationId xmlns:a16="http://schemas.microsoft.com/office/drawing/2014/main" id="{3277BAF7-D17E-BD8B-C870-EE78F2F9C331}"/>
                    </a:ext>
                  </a:extLst>
                </p:cNvPr>
                <p:cNvSpPr/>
                <p:nvPr/>
              </p:nvSpPr>
              <p:spPr>
                <a:xfrm>
                  <a:off x="1497978" y="2698126"/>
                  <a:ext cx="2520040" cy="3251997"/>
                </a:xfrm>
                <a:prstGeom prst="roundRect">
                  <a:avLst/>
                </a:prstGeom>
                <a:solidFill>
                  <a:srgbClr val="3F29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5" name="Oval 54">
                  <a:extLst>
                    <a:ext uri="{FF2B5EF4-FFF2-40B4-BE49-F238E27FC236}">
                      <a16:creationId xmlns:a16="http://schemas.microsoft.com/office/drawing/2014/main" id="{BBDD603A-64D5-8219-917D-A95756DB359F}"/>
                    </a:ext>
                  </a:extLst>
                </p:cNvPr>
                <p:cNvSpPr/>
                <p:nvPr/>
              </p:nvSpPr>
              <p:spPr>
                <a:xfrm>
                  <a:off x="1497975" y="1900634"/>
                  <a:ext cx="2520039" cy="2254883"/>
                </a:xfrm>
                <a:prstGeom prst="ellipse">
                  <a:avLst/>
                </a:prstGeom>
                <a:solidFill>
                  <a:srgbClr val="3F29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52" name="TextBox 51">
                <a:extLst>
                  <a:ext uri="{FF2B5EF4-FFF2-40B4-BE49-F238E27FC236}">
                    <a16:creationId xmlns:a16="http://schemas.microsoft.com/office/drawing/2014/main" id="{0A8BBE48-FC8A-274B-8149-1D4D7D9106C0}"/>
                  </a:ext>
                </a:extLst>
              </p:cNvPr>
              <p:cNvSpPr txBox="1"/>
              <p:nvPr/>
            </p:nvSpPr>
            <p:spPr>
              <a:xfrm>
                <a:off x="11634372" y="2952690"/>
                <a:ext cx="2068702" cy="677106"/>
              </a:xfrm>
              <a:prstGeom prst="rect">
                <a:avLst/>
              </a:prstGeom>
              <a:noFill/>
            </p:spPr>
            <p:txBody>
              <a:bodyPr wrap="square" lIns="91440" tIns="45720" rIns="91440" bIns="45720" anchor="t">
                <a:noAutofit/>
              </a:bodyPr>
              <a:lstStyle/>
              <a:p>
                <a:pPr algn="ctr"/>
                <a:r>
                  <a:rPr lang="en-US" sz="1600" b="1" noProof="0">
                    <a:solidFill>
                      <a:schemeClr val="bg1"/>
                    </a:solidFill>
                    <a:latin typeface="Poppins"/>
                    <a:cs typeface="Poppins"/>
                  </a:rPr>
                  <a:t>Digging deeper with follow-up analyses</a:t>
                </a:r>
              </a:p>
              <a:p>
                <a:pPr algn="ctr">
                  <a:spcBef>
                    <a:spcPts val="600"/>
                  </a:spcBef>
                </a:pPr>
                <a:r>
                  <a:rPr lang="en-US" sz="1100" noProof="0">
                    <a:solidFill>
                      <a:schemeClr val="bg1"/>
                    </a:solidFill>
                    <a:latin typeface="Poppins"/>
                    <a:cs typeface="Poppins"/>
                  </a:rPr>
                  <a:t>Gain a richer understanding of emerging health systems issues through rapid and adaptable mixed-methods approaches.</a:t>
                </a:r>
                <a:endParaRPr lang="en-US" sz="1100" noProof="0">
                  <a:solidFill>
                    <a:schemeClr val="bg1"/>
                  </a:solidFill>
                  <a:latin typeface="Poppins" panose="00000500000000000000" pitchFamily="2" charset="0"/>
                  <a:cs typeface="Poppins" panose="00000500000000000000" pitchFamily="2" charset="0"/>
                </a:endParaRPr>
              </a:p>
              <a:p>
                <a:pPr algn="ctr">
                  <a:spcBef>
                    <a:spcPts val="600"/>
                  </a:spcBef>
                </a:pPr>
                <a:endParaRPr lang="en-US" sz="1100" b="1" noProof="0">
                  <a:solidFill>
                    <a:schemeClr val="bg1"/>
                  </a:solidFill>
                  <a:latin typeface="Poppins"/>
                  <a:cs typeface="Poppins"/>
                </a:endParaRPr>
              </a:p>
              <a:p>
                <a:pPr algn="ctr"/>
                <a:endParaRPr lang="en-US" sz="1000" noProof="0">
                  <a:solidFill>
                    <a:schemeClr val="bg1"/>
                  </a:solidFill>
                  <a:latin typeface="Poppins" panose="00000500000000000000" pitchFamily="2" charset="0"/>
                  <a:cs typeface="Poppins" panose="00000500000000000000" pitchFamily="2" charset="0"/>
                </a:endParaRPr>
              </a:p>
            </p:txBody>
          </p:sp>
          <p:pic>
            <p:nvPicPr>
              <p:cNvPr id="53" name="Picture 52" descr="Shape&#10;&#10;Description automatically generated with low confidence">
                <a:extLst>
                  <a:ext uri="{FF2B5EF4-FFF2-40B4-BE49-F238E27FC236}">
                    <a16:creationId xmlns:a16="http://schemas.microsoft.com/office/drawing/2014/main" id="{8B31C4CB-015F-25FF-2CFB-96A2E57FB247}"/>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b="11524"/>
              <a:stretch/>
            </p:blipFill>
            <p:spPr>
              <a:xfrm>
                <a:off x="12051326" y="1868999"/>
                <a:ext cx="1223593" cy="1082589"/>
              </a:xfrm>
              <a:prstGeom prst="rect">
                <a:avLst/>
              </a:prstGeom>
            </p:spPr>
          </p:pic>
        </p:grpSp>
        <p:grpSp>
          <p:nvGrpSpPr>
            <p:cNvPr id="45" name="Group 44">
              <a:extLst>
                <a:ext uri="{FF2B5EF4-FFF2-40B4-BE49-F238E27FC236}">
                  <a16:creationId xmlns:a16="http://schemas.microsoft.com/office/drawing/2014/main" id="{F3F2CC98-9922-2E4E-E41F-2D2BC2EDF9E9}"/>
                </a:ext>
              </a:extLst>
            </p:cNvPr>
            <p:cNvGrpSpPr/>
            <p:nvPr/>
          </p:nvGrpSpPr>
          <p:grpSpPr>
            <a:xfrm>
              <a:off x="6513733" y="1636291"/>
              <a:ext cx="2194563" cy="3619291"/>
              <a:chOff x="9840878" y="1864893"/>
              <a:chExt cx="2311964" cy="4049489"/>
            </a:xfrm>
          </p:grpSpPr>
          <p:grpSp>
            <p:nvGrpSpPr>
              <p:cNvPr id="46" name="Group 45">
                <a:extLst>
                  <a:ext uri="{FF2B5EF4-FFF2-40B4-BE49-F238E27FC236}">
                    <a16:creationId xmlns:a16="http://schemas.microsoft.com/office/drawing/2014/main" id="{EAAECF70-5461-8277-ACBC-945200E47A88}"/>
                  </a:ext>
                </a:extLst>
              </p:cNvPr>
              <p:cNvGrpSpPr/>
              <p:nvPr/>
            </p:nvGrpSpPr>
            <p:grpSpPr>
              <a:xfrm>
                <a:off x="9840878" y="1864893"/>
                <a:ext cx="2311964" cy="4049489"/>
                <a:chOff x="1247222" y="1900634"/>
                <a:chExt cx="2520040" cy="4049489"/>
              </a:xfrm>
              <a:solidFill>
                <a:srgbClr val="0D1F2D"/>
              </a:solidFill>
            </p:grpSpPr>
            <p:sp>
              <p:nvSpPr>
                <p:cNvPr id="49" name="Rectangle: Rounded Corners 48">
                  <a:extLst>
                    <a:ext uri="{FF2B5EF4-FFF2-40B4-BE49-F238E27FC236}">
                      <a16:creationId xmlns:a16="http://schemas.microsoft.com/office/drawing/2014/main" id="{3CFD5F99-762C-C0FE-6164-51FB705B8091}"/>
                    </a:ext>
                  </a:extLst>
                </p:cNvPr>
                <p:cNvSpPr/>
                <p:nvPr/>
              </p:nvSpPr>
              <p:spPr>
                <a:xfrm>
                  <a:off x="1247225" y="2698126"/>
                  <a:ext cx="2520037" cy="3251997"/>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0" name="Oval 49">
                  <a:extLst>
                    <a:ext uri="{FF2B5EF4-FFF2-40B4-BE49-F238E27FC236}">
                      <a16:creationId xmlns:a16="http://schemas.microsoft.com/office/drawing/2014/main" id="{582A0C63-B893-EBC6-FF34-3227D310FB80}"/>
                    </a:ext>
                  </a:extLst>
                </p:cNvPr>
                <p:cNvSpPr/>
                <p:nvPr/>
              </p:nvSpPr>
              <p:spPr>
                <a:xfrm>
                  <a:off x="1247222" y="1900634"/>
                  <a:ext cx="2520037" cy="225488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pic>
            <p:nvPicPr>
              <p:cNvPr id="47" name="Picture 2" descr="neighborhood Icon 2802491">
                <a:extLst>
                  <a:ext uri="{FF2B5EF4-FFF2-40B4-BE49-F238E27FC236}">
                    <a16:creationId xmlns:a16="http://schemas.microsoft.com/office/drawing/2014/main" id="{886E6BD0-AD6F-A920-C459-315B132B8101}"/>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l="11029" t="9729" r="10331" b="10332"/>
              <a:stretch/>
            </p:blipFill>
            <p:spPr bwMode="auto">
              <a:xfrm>
                <a:off x="10460192" y="2187141"/>
                <a:ext cx="1082589" cy="1100482"/>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7519E028-70C8-9EC2-8AB0-37883FFA23A6}"/>
                  </a:ext>
                </a:extLst>
              </p:cNvPr>
              <p:cNvSpPr txBox="1"/>
              <p:nvPr/>
            </p:nvSpPr>
            <p:spPr>
              <a:xfrm>
                <a:off x="9984661" y="3270832"/>
                <a:ext cx="2068697" cy="677106"/>
              </a:xfrm>
              <a:prstGeom prst="rect">
                <a:avLst/>
              </a:prstGeom>
              <a:noFill/>
            </p:spPr>
            <p:txBody>
              <a:bodyPr wrap="square" lIns="91440" tIns="45720" rIns="91440" bIns="45720" anchor="t">
                <a:noAutofit/>
              </a:bodyPr>
              <a:lstStyle/>
              <a:p>
                <a:pPr algn="ctr"/>
                <a:r>
                  <a:rPr lang="en-US" sz="1600" b="1" noProof="0">
                    <a:solidFill>
                      <a:schemeClr val="bg1"/>
                    </a:solidFill>
                    <a:latin typeface="Poppins" panose="00000500000000000000" pitchFamily="2" charset="0"/>
                    <a:cs typeface="Poppins" panose="00000500000000000000" pitchFamily="2" charset="0"/>
                  </a:rPr>
                  <a:t>Household &amp; client  surveys</a:t>
                </a:r>
              </a:p>
              <a:p>
                <a:pPr algn="ctr">
                  <a:spcBef>
                    <a:spcPts val="600"/>
                  </a:spcBef>
                </a:pPr>
                <a:r>
                  <a:rPr lang="en-US" sz="1100" noProof="0">
                    <a:solidFill>
                      <a:schemeClr val="bg1"/>
                    </a:solidFill>
                    <a:latin typeface="Poppins"/>
                    <a:cs typeface="Poppins"/>
                  </a:rPr>
                  <a:t>Provide snapshots of health service utilization, foregone care, and community perceptions of service quality</a:t>
                </a:r>
              </a:p>
              <a:p>
                <a:pPr algn="ctr"/>
                <a:endParaRPr lang="en-US" sz="1600" b="1" noProof="0">
                  <a:solidFill>
                    <a:schemeClr val="bg1"/>
                  </a:solidFill>
                  <a:latin typeface="Poppins" panose="00000500000000000000" pitchFamily="2" charset="0"/>
                  <a:cs typeface="Poppins" panose="00000500000000000000" pitchFamily="2" charset="0"/>
                </a:endParaRPr>
              </a:p>
              <a:p>
                <a:pPr algn="ctr"/>
                <a:endParaRPr lang="en-US" sz="1000" noProof="0">
                  <a:solidFill>
                    <a:schemeClr val="bg1"/>
                  </a:solidFill>
                  <a:latin typeface="Poppins" panose="00000500000000000000" pitchFamily="2" charset="0"/>
                  <a:cs typeface="Poppins" panose="00000500000000000000" pitchFamily="2" charset="0"/>
                </a:endParaRPr>
              </a:p>
            </p:txBody>
          </p:sp>
        </p:grpSp>
      </p:grpSp>
      <p:sp>
        <p:nvSpPr>
          <p:cNvPr id="62" name="TextBox 61">
            <a:extLst>
              <a:ext uri="{FF2B5EF4-FFF2-40B4-BE49-F238E27FC236}">
                <a16:creationId xmlns:a16="http://schemas.microsoft.com/office/drawing/2014/main" id="{FDFE9BA8-90AC-6E3B-FD4A-621DD2C6C3D4}"/>
              </a:ext>
            </a:extLst>
          </p:cNvPr>
          <p:cNvSpPr txBox="1"/>
          <p:nvPr/>
        </p:nvSpPr>
        <p:spPr>
          <a:xfrm>
            <a:off x="176213" y="6554025"/>
            <a:ext cx="11157207" cy="246221"/>
          </a:xfrm>
          <a:prstGeom prst="rect">
            <a:avLst/>
          </a:prstGeom>
          <a:noFill/>
        </p:spPr>
        <p:txBody>
          <a:bodyPr wrap="square" rtlCol="0">
            <a:spAutoFit/>
          </a:bodyPr>
          <a:lstStyle/>
          <a:p>
            <a:r>
              <a:rPr lang="en-US" sz="1000" noProof="0">
                <a:solidFill>
                  <a:schemeClr val="bg1">
                    <a:lumMod val="95000"/>
                  </a:schemeClr>
                </a:solidFill>
                <a:latin typeface="Inter" panose="02000503000000020004" pitchFamily="2" charset="0"/>
                <a:ea typeface="Inter" panose="02000503000000020004" pitchFamily="2" charset="0"/>
              </a:rPr>
              <a:t>Find more details on FASTR’s rapid-cycle health facility surveys, including publicly available tools and resources, </a:t>
            </a:r>
            <a:r>
              <a:rPr lang="en-US" sz="1000" b="1" noProof="0">
                <a:solidFill>
                  <a:schemeClr val="bg1">
                    <a:lumMod val="95000"/>
                  </a:schemeClr>
                </a:solidFill>
                <a:latin typeface="Inter" panose="02000503000000020004" pitchFamily="2" charset="0"/>
                <a:ea typeface="Inter" panose="02000503000000020004" pitchFamily="2" charset="0"/>
                <a:hlinkClick r:id="rId13">
                  <a:extLst>
                    <a:ext uri="{A12FA001-AC4F-418D-AE19-62706E023703}">
                      <ahyp:hlinkClr xmlns:ahyp="http://schemas.microsoft.com/office/drawing/2018/hyperlinkcolor" val="tx"/>
                    </a:ext>
                  </a:extLst>
                </a:hlinkClick>
              </a:rPr>
              <a:t>on our website</a:t>
            </a:r>
            <a:r>
              <a:rPr lang="en-US" sz="1000" b="1" noProof="0">
                <a:solidFill>
                  <a:schemeClr val="bg1">
                    <a:lumMod val="95000"/>
                  </a:schemeClr>
                </a:solidFill>
                <a:latin typeface="Inter" panose="02000503000000020004" pitchFamily="2" charset="0"/>
                <a:ea typeface="Inter" panose="02000503000000020004" pitchFamily="2" charset="0"/>
              </a:rPr>
              <a:t>. </a:t>
            </a:r>
          </a:p>
        </p:txBody>
      </p:sp>
    </p:spTree>
    <p:extLst>
      <p:ext uri="{BB962C8B-B14F-4D97-AF65-F5344CB8AC3E}">
        <p14:creationId xmlns:p14="http://schemas.microsoft.com/office/powerpoint/2010/main" val="38534395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25087-3459-0023-7119-DD31E121B155}"/>
            </a:ext>
          </a:extLst>
        </p:cNvPr>
        <p:cNvGrpSpPr/>
        <p:nvPr/>
      </p:nvGrpSpPr>
      <p:grpSpPr>
        <a:xfrm>
          <a:off x="0" y="0"/>
          <a:ext cx="0" cy="0"/>
          <a:chOff x="0" y="0"/>
          <a:chExt cx="0" cy="0"/>
        </a:xfrm>
      </p:grpSpPr>
      <p:sp>
        <p:nvSpPr>
          <p:cNvPr id="58" name="Oval 57">
            <a:extLst>
              <a:ext uri="{FF2B5EF4-FFF2-40B4-BE49-F238E27FC236}">
                <a16:creationId xmlns:a16="http://schemas.microsoft.com/office/drawing/2014/main" id="{52472A69-9558-10C4-84E1-D5890F780EC4}"/>
              </a:ext>
            </a:extLst>
          </p:cNvPr>
          <p:cNvSpPr/>
          <p:nvPr/>
        </p:nvSpPr>
        <p:spPr>
          <a:xfrm>
            <a:off x="7303168" y="2299835"/>
            <a:ext cx="4086827" cy="3686721"/>
          </a:xfrm>
          <a:prstGeom prst="ellipse">
            <a:avLst/>
          </a:prstGeom>
          <a:solidFill>
            <a:schemeClr val="bg1"/>
          </a:solidFill>
          <a:ln w="254000">
            <a:solidFill>
              <a:srgbClr val="065B57">
                <a:alpha val="27059"/>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70" name="Graphic 69">
            <a:extLst>
              <a:ext uri="{FF2B5EF4-FFF2-40B4-BE49-F238E27FC236}">
                <a16:creationId xmlns:a16="http://schemas.microsoft.com/office/drawing/2014/main" id="{B184BD8B-CE01-B8F2-C004-6B484ACC94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26862" y="6512990"/>
            <a:ext cx="1221298" cy="324259"/>
          </a:xfrm>
          <a:prstGeom prst="rect">
            <a:avLst/>
          </a:prstGeom>
        </p:spPr>
      </p:pic>
      <p:sp>
        <p:nvSpPr>
          <p:cNvPr id="89" name="Rectangle 88">
            <a:extLst>
              <a:ext uri="{FF2B5EF4-FFF2-40B4-BE49-F238E27FC236}">
                <a16:creationId xmlns:a16="http://schemas.microsoft.com/office/drawing/2014/main" id="{7B85EDCF-34AE-B76E-3A5B-8C74E3F23A07}"/>
              </a:ext>
            </a:extLst>
          </p:cNvPr>
          <p:cNvSpPr/>
          <p:nvPr/>
        </p:nvSpPr>
        <p:spPr>
          <a:xfrm>
            <a:off x="3" y="6586157"/>
            <a:ext cx="12192000" cy="271843"/>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pic>
        <p:nvPicPr>
          <p:cNvPr id="90" name="Graphic 89">
            <a:extLst>
              <a:ext uri="{FF2B5EF4-FFF2-40B4-BE49-F238E27FC236}">
                <a16:creationId xmlns:a16="http://schemas.microsoft.com/office/drawing/2014/main" id="{4DAE36CA-6B7B-3F04-0C5E-807BBE0103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2440" y="6586157"/>
            <a:ext cx="945720" cy="251092"/>
          </a:xfrm>
          <a:prstGeom prst="rect">
            <a:avLst/>
          </a:prstGeom>
        </p:spPr>
      </p:pic>
      <p:sp>
        <p:nvSpPr>
          <p:cNvPr id="4" name="Rectangle 3">
            <a:extLst>
              <a:ext uri="{FF2B5EF4-FFF2-40B4-BE49-F238E27FC236}">
                <a16:creationId xmlns:a16="http://schemas.microsoft.com/office/drawing/2014/main" id="{59885A06-AD8E-C59B-BB84-329D20883662}"/>
              </a:ext>
            </a:extLst>
          </p:cNvPr>
          <p:cNvSpPr/>
          <p:nvPr/>
        </p:nvSpPr>
        <p:spPr>
          <a:xfrm>
            <a:off x="-4033" y="-30741"/>
            <a:ext cx="6464991" cy="6616897"/>
          </a:xfrm>
          <a:prstGeom prst="rect">
            <a:avLst/>
          </a:prstGeom>
          <a:solidFill>
            <a:srgbClr val="0954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Title 1">
            <a:extLst>
              <a:ext uri="{FF2B5EF4-FFF2-40B4-BE49-F238E27FC236}">
                <a16:creationId xmlns:a16="http://schemas.microsoft.com/office/drawing/2014/main" id="{190EB88B-76AC-4B93-01A2-F0287F66D6D3}"/>
              </a:ext>
            </a:extLst>
          </p:cNvPr>
          <p:cNvSpPr>
            <a:spLocks noGrp="1"/>
          </p:cNvSpPr>
          <p:nvPr>
            <p:ph type="title"/>
          </p:nvPr>
        </p:nvSpPr>
        <p:spPr>
          <a:xfrm>
            <a:off x="6870032" y="529390"/>
            <a:ext cx="5321968" cy="839472"/>
          </a:xfrm>
          <a:solidFill>
            <a:srgbClr val="ECF4F3">
              <a:alpha val="80000"/>
            </a:srgbClr>
          </a:solidFill>
        </p:spPr>
        <p:txBody>
          <a:bodyPr>
            <a:noAutofit/>
          </a:bodyPr>
          <a:lstStyle/>
          <a:p>
            <a:pPr>
              <a:lnSpc>
                <a:spcPct val="100000"/>
              </a:lnSpc>
            </a:pPr>
            <a:r>
              <a:rPr lang="en-US" sz="2500" b="1" noProof="0">
                <a:latin typeface="Poppins" panose="00000500000000000000" pitchFamily="2" charset="0"/>
                <a:ea typeface="Inter" panose="02000503000000020004" pitchFamily="2" charset="0"/>
                <a:cs typeface="Poppins" panose="00000500000000000000" pitchFamily="2" charset="0"/>
              </a:rPr>
              <a:t>Themes:</a:t>
            </a:r>
          </a:p>
        </p:txBody>
      </p:sp>
      <p:pic>
        <p:nvPicPr>
          <p:cNvPr id="6" name="Picture 4" descr="hospital Icon 4974446">
            <a:extLst>
              <a:ext uri="{FF2B5EF4-FFF2-40B4-BE49-F238E27FC236}">
                <a16:creationId xmlns:a16="http://schemas.microsoft.com/office/drawing/2014/main" id="{98D9D7CC-E5EB-C5F9-BD0C-C3885881FFF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357425" y="455709"/>
            <a:ext cx="1106905" cy="11069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15F5630-AA70-3D51-9B73-B094F6CC648F}"/>
              </a:ext>
            </a:extLst>
          </p:cNvPr>
          <p:cNvSpPr txBox="1"/>
          <p:nvPr/>
        </p:nvSpPr>
        <p:spPr>
          <a:xfrm>
            <a:off x="1534055" y="605223"/>
            <a:ext cx="4926904" cy="1106905"/>
          </a:xfrm>
          <a:prstGeom prst="rect">
            <a:avLst/>
          </a:prstGeom>
          <a:noFill/>
        </p:spPr>
        <p:txBody>
          <a:bodyPr wrap="square" lIns="91440" tIns="45720" rIns="91440" bIns="45720" anchor="t">
            <a:noAutofit/>
          </a:bodyPr>
          <a:lstStyle/>
          <a:p>
            <a:pPr>
              <a:lnSpc>
                <a:spcPts val="3200"/>
              </a:lnSpc>
            </a:pPr>
            <a:r>
              <a:rPr lang="en-US" sz="3200" b="1" noProof="0">
                <a:solidFill>
                  <a:schemeClr val="bg1"/>
                </a:solidFill>
                <a:latin typeface="Poppins"/>
                <a:cs typeface="Poppins"/>
              </a:rPr>
              <a:t>Rapid Health Facility Phone Surveys</a:t>
            </a:r>
          </a:p>
        </p:txBody>
      </p:sp>
      <p:sp>
        <p:nvSpPr>
          <p:cNvPr id="8" name="Title 1">
            <a:extLst>
              <a:ext uri="{FF2B5EF4-FFF2-40B4-BE49-F238E27FC236}">
                <a16:creationId xmlns:a16="http://schemas.microsoft.com/office/drawing/2014/main" id="{E2E97C7F-9641-B5F7-E1D1-EC6AAC5BB30C}"/>
              </a:ext>
            </a:extLst>
          </p:cNvPr>
          <p:cNvSpPr txBox="1">
            <a:spLocks/>
          </p:cNvSpPr>
          <p:nvPr/>
        </p:nvSpPr>
        <p:spPr>
          <a:xfrm>
            <a:off x="588614" y="2124086"/>
            <a:ext cx="5667806" cy="3776394"/>
          </a:xfrm>
          <a:prstGeom prst="rect">
            <a:avLst/>
          </a:prstGeom>
          <a:solidFill>
            <a:srgbClr val="095457"/>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buFont typeface="Arial" panose="020B0604020202020204" pitchFamily="34" charset="0"/>
              <a:buChar char="•"/>
            </a:pP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Assess </a:t>
            </a:r>
            <a:r>
              <a:rPr lang="en-US" sz="1800" b="1" noProof="0">
                <a:solidFill>
                  <a:schemeClr val="bg1"/>
                </a:solidFill>
                <a:latin typeface="Poppins" panose="00000500000000000000" pitchFamily="2" charset="0"/>
                <a:ea typeface="Inter" panose="02000503000000020004" pitchFamily="2" charset="0"/>
                <a:cs typeface="Poppins" panose="00000500000000000000" pitchFamily="2" charset="0"/>
              </a:rPr>
              <a:t>service delivery constraints and readiness i</a:t>
            </a: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n primary health care (PHC) facilities</a:t>
            </a:r>
          </a:p>
          <a:p>
            <a:pPr marL="342900" indent="-342900">
              <a:lnSpc>
                <a:spcPct val="100000"/>
              </a:lnSpc>
              <a:buFont typeface="Arial" panose="020B0604020202020204" pitchFamily="34" charset="0"/>
              <a:buChar char="•"/>
            </a:pPr>
            <a:endParaRPr lang="en-US" sz="1800"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ct val="100000"/>
              </a:lnSpc>
              <a:buFont typeface="Arial" panose="020B0604020202020204" pitchFamily="34" charset="0"/>
              <a:buChar char="•"/>
            </a:pP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Support continuous </a:t>
            </a:r>
            <a:r>
              <a:rPr lang="en-US" sz="1800" b="1" noProof="0">
                <a:solidFill>
                  <a:schemeClr val="bg1"/>
                </a:solidFill>
                <a:latin typeface="Poppins" panose="00000500000000000000" pitchFamily="2" charset="0"/>
                <a:ea typeface="Inter" panose="02000503000000020004" pitchFamily="2" charset="0"/>
                <a:cs typeface="Poppins" panose="00000500000000000000" pitchFamily="2" charset="0"/>
              </a:rPr>
              <a:t>monitoring and evaluation of reforms or projects </a:t>
            </a: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to inform  decision-making  and enable rapid course correction</a:t>
            </a:r>
          </a:p>
          <a:p>
            <a:pPr marL="342900" indent="-342900">
              <a:lnSpc>
                <a:spcPct val="100000"/>
              </a:lnSpc>
              <a:buFont typeface="Arial" panose="020B0604020202020204" pitchFamily="34" charset="0"/>
              <a:buChar char="•"/>
            </a:pPr>
            <a:endParaRPr lang="en-US" sz="1800" noProof="0">
              <a:solidFill>
                <a:schemeClr val="bg1"/>
              </a:solidFill>
              <a:latin typeface="Poppins" panose="00000500000000000000" pitchFamily="2" charset="0"/>
              <a:ea typeface="Inter" panose="02000503000000020004" pitchFamily="2" charset="0"/>
              <a:cs typeface="Poppins" panose="00000500000000000000" pitchFamily="2" charset="0"/>
            </a:endParaRPr>
          </a:p>
          <a:p>
            <a:pPr marL="342900" indent="-342900">
              <a:lnSpc>
                <a:spcPct val="100000"/>
              </a:lnSpc>
              <a:buFont typeface="Arial" panose="020B0604020202020204" pitchFamily="34" charset="0"/>
              <a:buChar char="•"/>
            </a:pP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Improve </a:t>
            </a:r>
            <a:r>
              <a:rPr lang="en-US" sz="1800" b="1" noProof="0">
                <a:solidFill>
                  <a:schemeClr val="bg1"/>
                </a:solidFill>
                <a:latin typeface="Poppins" panose="00000500000000000000" pitchFamily="2" charset="0"/>
                <a:ea typeface="Inter" panose="02000503000000020004" pitchFamily="2" charset="0"/>
                <a:cs typeface="Poppins" panose="00000500000000000000" pitchFamily="2" charset="0"/>
              </a:rPr>
              <a:t>timeliness, relevance, and cost-effectiveness</a:t>
            </a:r>
            <a:r>
              <a:rPr lang="en-US" sz="1800" noProof="0">
                <a:solidFill>
                  <a:schemeClr val="bg1"/>
                </a:solidFill>
                <a:latin typeface="Poppins" panose="00000500000000000000" pitchFamily="2" charset="0"/>
                <a:ea typeface="Inter" panose="02000503000000020004" pitchFamily="2" charset="0"/>
                <a:cs typeface="Poppins" panose="00000500000000000000" pitchFamily="2" charset="0"/>
              </a:rPr>
              <a:t> of facility surveys as an adaptative management tool</a:t>
            </a:r>
          </a:p>
        </p:txBody>
      </p:sp>
      <p:sp>
        <p:nvSpPr>
          <p:cNvPr id="10" name="TextBox 9">
            <a:extLst>
              <a:ext uri="{FF2B5EF4-FFF2-40B4-BE49-F238E27FC236}">
                <a16:creationId xmlns:a16="http://schemas.microsoft.com/office/drawing/2014/main" id="{AF7C9560-903E-023F-3AB9-0B1BC7F9DFE9}"/>
              </a:ext>
            </a:extLst>
          </p:cNvPr>
          <p:cNvSpPr txBox="1"/>
          <p:nvPr/>
        </p:nvSpPr>
        <p:spPr>
          <a:xfrm>
            <a:off x="6740698" y="1488004"/>
            <a:ext cx="5678905" cy="738664"/>
          </a:xfrm>
          <a:prstGeom prst="rect">
            <a:avLst/>
          </a:prstGeom>
          <a:noFill/>
        </p:spPr>
        <p:txBody>
          <a:bodyPr wrap="square" rtlCol="0">
            <a:spAutoFit/>
          </a:bodyPr>
          <a:lstStyle/>
          <a:p>
            <a:r>
              <a:rPr lang="en-US" sz="1400" noProof="0">
                <a:latin typeface="Poppins" panose="00000500000000000000" pitchFamily="2" charset="0"/>
                <a:cs typeface="Poppins" panose="00000500000000000000" pitchFamily="2" charset="0"/>
              </a:rPr>
              <a:t>11 survey modules based on </a:t>
            </a:r>
            <a:r>
              <a:rPr lang="en-US" sz="1400" b="1" noProof="0">
                <a:latin typeface="Poppins" panose="00000500000000000000" pitchFamily="2" charset="0"/>
                <a:cs typeface="Poppins" panose="00000500000000000000" pitchFamily="2" charset="0"/>
              </a:rPr>
              <a:t>WHO’s PHCMFI framework</a:t>
            </a:r>
          </a:p>
          <a:p>
            <a:r>
              <a:rPr lang="en-US" sz="1400" noProof="0">
                <a:latin typeface="Poppins" panose="00000500000000000000" pitchFamily="2" charset="0"/>
                <a:cs typeface="Poppins" panose="00000500000000000000" pitchFamily="2" charset="0"/>
              </a:rPr>
              <a:t>Questions inspired by large-scale </a:t>
            </a:r>
            <a:r>
              <a:rPr lang="en-US" sz="1400" b="1" noProof="0">
                <a:latin typeface="Poppins" panose="00000500000000000000" pitchFamily="2" charset="0"/>
                <a:cs typeface="Poppins" panose="00000500000000000000" pitchFamily="2" charset="0"/>
              </a:rPr>
              <a:t>HHFA/ SARA, SPA et SDI</a:t>
            </a:r>
          </a:p>
          <a:p>
            <a:endParaRPr lang="en-US" sz="1400" noProof="0">
              <a:latin typeface="Poppins" panose="00000500000000000000" pitchFamily="2" charset="0"/>
              <a:cs typeface="Poppins" panose="00000500000000000000" pitchFamily="2" charset="0"/>
            </a:endParaRPr>
          </a:p>
        </p:txBody>
      </p:sp>
      <p:grpSp>
        <p:nvGrpSpPr>
          <p:cNvPr id="47" name="Group 46">
            <a:extLst>
              <a:ext uri="{FF2B5EF4-FFF2-40B4-BE49-F238E27FC236}">
                <a16:creationId xmlns:a16="http://schemas.microsoft.com/office/drawing/2014/main" id="{272D464C-1F9F-877C-F80D-68113F10C56F}"/>
              </a:ext>
            </a:extLst>
          </p:cNvPr>
          <p:cNvGrpSpPr/>
          <p:nvPr/>
        </p:nvGrpSpPr>
        <p:grpSpPr>
          <a:xfrm>
            <a:off x="6725336" y="4161014"/>
            <a:ext cx="2582264" cy="1362155"/>
            <a:chOff x="7566053" y="4454800"/>
            <a:chExt cx="2582264" cy="1036059"/>
          </a:xfrm>
        </p:grpSpPr>
        <p:sp>
          <p:nvSpPr>
            <p:cNvPr id="34" name="Rectangle: Rounded Corners 33">
              <a:extLst>
                <a:ext uri="{FF2B5EF4-FFF2-40B4-BE49-F238E27FC236}">
                  <a16:creationId xmlns:a16="http://schemas.microsoft.com/office/drawing/2014/main" id="{1D20D143-594C-33CA-F7BD-D47FC78BD7C7}"/>
                </a:ext>
              </a:extLst>
            </p:cNvPr>
            <p:cNvSpPr/>
            <p:nvPr/>
          </p:nvSpPr>
          <p:spPr>
            <a:xfrm>
              <a:off x="7739145" y="4624939"/>
              <a:ext cx="2409172" cy="865920"/>
            </a:xfrm>
            <a:prstGeom prst="roundRect">
              <a:avLst/>
            </a:prstGeom>
            <a:solidFill>
              <a:schemeClr val="bg1"/>
            </a:solidFill>
            <a:ln w="28575">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indent="-182880">
                <a:buClr>
                  <a:srgbClr val="065B57"/>
                </a:buClr>
                <a:buFont typeface="Arial" panose="020B0604020202020204" pitchFamily="34" charset="0"/>
                <a:buChar char="•"/>
              </a:pPr>
              <a:endParaRPr lang="en-US" sz="1200" noProof="0">
                <a:solidFill>
                  <a:srgbClr val="1F9A9C"/>
                </a:solidFill>
                <a:latin typeface="Roboto" panose="02000000000000000000" pitchFamily="2" charset="0"/>
                <a:ea typeface="Roboto" panose="02000000000000000000" pitchFamily="2" charset="0"/>
              </a:endParaRP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Community engagement</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Quality improvement processes</a:t>
              </a:r>
            </a:p>
          </p:txBody>
        </p:sp>
        <p:sp>
          <p:nvSpPr>
            <p:cNvPr id="35" name="Rectangle: Rounded Corners 34">
              <a:extLst>
                <a:ext uri="{FF2B5EF4-FFF2-40B4-BE49-F238E27FC236}">
                  <a16:creationId xmlns:a16="http://schemas.microsoft.com/office/drawing/2014/main" id="{3A6430BC-2C41-E25F-2023-8303ED7C2435}"/>
                </a:ext>
              </a:extLst>
            </p:cNvPr>
            <p:cNvSpPr/>
            <p:nvPr/>
          </p:nvSpPr>
          <p:spPr>
            <a:xfrm>
              <a:off x="7566053" y="4454800"/>
              <a:ext cx="2015326" cy="285153"/>
            </a:xfrm>
            <a:prstGeom prst="roundRect">
              <a:avLst/>
            </a:prstGeom>
            <a:solidFill>
              <a:srgbClr val="1F9A9C"/>
            </a:solidFill>
            <a:ln w="38100">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noProof="0">
                  <a:solidFill>
                    <a:schemeClr val="bg1"/>
                  </a:solidFill>
                  <a:latin typeface="Roboto" panose="02000000000000000000" pitchFamily="2" charset="0"/>
                  <a:ea typeface="Roboto" panose="02000000000000000000" pitchFamily="2" charset="0"/>
                </a:rPr>
                <a:t>PROCESSES</a:t>
              </a:r>
            </a:p>
          </p:txBody>
        </p:sp>
      </p:grpSp>
      <p:grpSp>
        <p:nvGrpSpPr>
          <p:cNvPr id="49" name="Group 48">
            <a:extLst>
              <a:ext uri="{FF2B5EF4-FFF2-40B4-BE49-F238E27FC236}">
                <a16:creationId xmlns:a16="http://schemas.microsoft.com/office/drawing/2014/main" id="{83CF49CE-656B-A729-28C9-2997F2D91578}"/>
              </a:ext>
            </a:extLst>
          </p:cNvPr>
          <p:cNvGrpSpPr/>
          <p:nvPr/>
        </p:nvGrpSpPr>
        <p:grpSpPr>
          <a:xfrm>
            <a:off x="9363579" y="4161014"/>
            <a:ext cx="2582264" cy="1382963"/>
            <a:chOff x="7486482" y="2323446"/>
            <a:chExt cx="2582264" cy="1008126"/>
          </a:xfrm>
        </p:grpSpPr>
        <p:sp>
          <p:nvSpPr>
            <p:cNvPr id="50" name="Rectangle: Rounded Corners 49">
              <a:extLst>
                <a:ext uri="{FF2B5EF4-FFF2-40B4-BE49-F238E27FC236}">
                  <a16:creationId xmlns:a16="http://schemas.microsoft.com/office/drawing/2014/main" id="{A8747525-C06B-D397-72DC-6B0A639166A4}"/>
                </a:ext>
              </a:extLst>
            </p:cNvPr>
            <p:cNvSpPr/>
            <p:nvPr/>
          </p:nvSpPr>
          <p:spPr>
            <a:xfrm>
              <a:off x="7659574" y="2486507"/>
              <a:ext cx="2409172" cy="845065"/>
            </a:xfrm>
            <a:prstGeom prst="roundRect">
              <a:avLst/>
            </a:prstGeom>
            <a:solidFill>
              <a:schemeClr val="bg1"/>
            </a:solidFill>
            <a:ln w="28575">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indent="-182880">
                <a:buClr>
                  <a:srgbClr val="065B57"/>
                </a:buClr>
                <a:buFont typeface="Arial" panose="020B0604020202020204" pitchFamily="34" charset="0"/>
                <a:buChar char="•"/>
              </a:pPr>
              <a:endParaRPr lang="en-US" sz="1200" noProof="0">
                <a:solidFill>
                  <a:srgbClr val="1F9A9C"/>
                </a:solidFill>
                <a:latin typeface="Roboto" panose="02000000000000000000" pitchFamily="2" charset="0"/>
                <a:ea typeface="Roboto" panose="02000000000000000000" pitchFamily="2" charset="0"/>
              </a:endParaRP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Service availability</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Resilience to shocks</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Service delivery challenges</a:t>
              </a:r>
            </a:p>
          </p:txBody>
        </p:sp>
        <p:sp>
          <p:nvSpPr>
            <p:cNvPr id="51" name="Rectangle: Rounded Corners 50">
              <a:extLst>
                <a:ext uri="{FF2B5EF4-FFF2-40B4-BE49-F238E27FC236}">
                  <a16:creationId xmlns:a16="http://schemas.microsoft.com/office/drawing/2014/main" id="{22CD744A-EC26-7152-A005-3E38879F01B4}"/>
                </a:ext>
              </a:extLst>
            </p:cNvPr>
            <p:cNvSpPr/>
            <p:nvPr/>
          </p:nvSpPr>
          <p:spPr>
            <a:xfrm>
              <a:off x="7486482" y="2323446"/>
              <a:ext cx="2015326" cy="274320"/>
            </a:xfrm>
            <a:prstGeom prst="roundRect">
              <a:avLst/>
            </a:prstGeom>
            <a:solidFill>
              <a:srgbClr val="1F9A9C"/>
            </a:solidFill>
            <a:ln w="38100">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noProof="0">
                  <a:solidFill>
                    <a:schemeClr val="bg1"/>
                  </a:solidFill>
                  <a:latin typeface="Roboto" panose="02000000000000000000" pitchFamily="2" charset="0"/>
                  <a:ea typeface="Roboto" panose="02000000000000000000" pitchFamily="2" charset="0"/>
                </a:rPr>
                <a:t>OUTPUTS</a:t>
              </a:r>
            </a:p>
          </p:txBody>
        </p:sp>
      </p:grpSp>
      <p:grpSp>
        <p:nvGrpSpPr>
          <p:cNvPr id="53" name="Group 52">
            <a:extLst>
              <a:ext uri="{FF2B5EF4-FFF2-40B4-BE49-F238E27FC236}">
                <a16:creationId xmlns:a16="http://schemas.microsoft.com/office/drawing/2014/main" id="{5E4BD191-2F96-5F3C-8798-4DBDDD44FEAD}"/>
              </a:ext>
            </a:extLst>
          </p:cNvPr>
          <p:cNvGrpSpPr/>
          <p:nvPr/>
        </p:nvGrpSpPr>
        <p:grpSpPr>
          <a:xfrm>
            <a:off x="6725336" y="2440206"/>
            <a:ext cx="2582264" cy="1399962"/>
            <a:chOff x="6725336" y="2470771"/>
            <a:chExt cx="2582264" cy="1399962"/>
          </a:xfrm>
        </p:grpSpPr>
        <p:grpSp>
          <p:nvGrpSpPr>
            <p:cNvPr id="37" name="Group 36">
              <a:extLst>
                <a:ext uri="{FF2B5EF4-FFF2-40B4-BE49-F238E27FC236}">
                  <a16:creationId xmlns:a16="http://schemas.microsoft.com/office/drawing/2014/main" id="{01DF9B51-002B-98B4-3FA2-AC1BD24679BB}"/>
                </a:ext>
              </a:extLst>
            </p:cNvPr>
            <p:cNvGrpSpPr/>
            <p:nvPr/>
          </p:nvGrpSpPr>
          <p:grpSpPr>
            <a:xfrm>
              <a:off x="6725336" y="2481930"/>
              <a:ext cx="2582264" cy="1388803"/>
              <a:chOff x="7486482" y="2323445"/>
              <a:chExt cx="2582264" cy="1108775"/>
            </a:xfrm>
          </p:grpSpPr>
          <p:sp>
            <p:nvSpPr>
              <p:cNvPr id="3" name="Rectangle: Rounded Corners 2">
                <a:extLst>
                  <a:ext uri="{FF2B5EF4-FFF2-40B4-BE49-F238E27FC236}">
                    <a16:creationId xmlns:a16="http://schemas.microsoft.com/office/drawing/2014/main" id="{650CFF4A-4D02-599E-3B54-A6E754B81FA9}"/>
                  </a:ext>
                </a:extLst>
              </p:cNvPr>
              <p:cNvSpPr/>
              <p:nvPr/>
            </p:nvSpPr>
            <p:spPr>
              <a:xfrm>
                <a:off x="7659574" y="2444205"/>
                <a:ext cx="2409172" cy="988015"/>
              </a:xfrm>
              <a:prstGeom prst="roundRect">
                <a:avLst/>
              </a:prstGeom>
              <a:solidFill>
                <a:schemeClr val="bg1"/>
              </a:solidFill>
              <a:ln w="28575">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indent="-182880">
                  <a:buClr>
                    <a:srgbClr val="065B57"/>
                  </a:buClr>
                  <a:buFont typeface="Arial" panose="020B0604020202020204" pitchFamily="34" charset="0"/>
                  <a:buChar char="•"/>
                </a:pPr>
                <a:endParaRPr lang="en-US" sz="1200" noProof="0">
                  <a:solidFill>
                    <a:srgbClr val="1F9A9C"/>
                  </a:solidFill>
                  <a:latin typeface="Roboto" panose="02000000000000000000" pitchFamily="2" charset="0"/>
                  <a:ea typeface="Roboto" panose="02000000000000000000" pitchFamily="2" charset="0"/>
                </a:endParaRP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Infrastructure</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Human resources</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Medical supplies</a:t>
                </a:r>
              </a:p>
            </p:txBody>
          </p:sp>
          <p:sp>
            <p:nvSpPr>
              <p:cNvPr id="39" name="Rectangle: Rounded Corners 38">
                <a:extLst>
                  <a:ext uri="{FF2B5EF4-FFF2-40B4-BE49-F238E27FC236}">
                    <a16:creationId xmlns:a16="http://schemas.microsoft.com/office/drawing/2014/main" id="{5A02B9C1-AA30-C513-4C91-D147D66DB639}"/>
                  </a:ext>
                </a:extLst>
              </p:cNvPr>
              <p:cNvSpPr/>
              <p:nvPr/>
            </p:nvSpPr>
            <p:spPr>
              <a:xfrm>
                <a:off x="7486482" y="2323445"/>
                <a:ext cx="2015326" cy="299311"/>
              </a:xfrm>
              <a:prstGeom prst="roundRect">
                <a:avLst/>
              </a:prstGeom>
              <a:solidFill>
                <a:srgbClr val="1F9A9C"/>
              </a:solidFill>
              <a:ln w="38100">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noProof="0">
                    <a:solidFill>
                      <a:schemeClr val="bg1"/>
                    </a:solidFill>
                    <a:latin typeface="Roboto" panose="02000000000000000000" pitchFamily="2" charset="0"/>
                    <a:ea typeface="Roboto" panose="02000000000000000000" pitchFamily="2" charset="0"/>
                  </a:rPr>
                  <a:t>INPUTS</a:t>
                </a:r>
              </a:p>
            </p:txBody>
          </p:sp>
        </p:grpSp>
        <p:pic>
          <p:nvPicPr>
            <p:cNvPr id="52" name="Graphic 51" descr="Medicine with solid fill">
              <a:extLst>
                <a:ext uri="{FF2B5EF4-FFF2-40B4-BE49-F238E27FC236}">
                  <a16:creationId xmlns:a16="http://schemas.microsoft.com/office/drawing/2014/main" id="{900FC02A-C6A9-D031-60FA-BFEA6D29F56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62229" y="2470771"/>
              <a:ext cx="409538" cy="409538"/>
            </a:xfrm>
            <a:prstGeom prst="rect">
              <a:avLst/>
            </a:prstGeom>
          </p:spPr>
        </p:pic>
      </p:grpSp>
      <p:grpSp>
        <p:nvGrpSpPr>
          <p:cNvPr id="55" name="Group 54">
            <a:extLst>
              <a:ext uri="{FF2B5EF4-FFF2-40B4-BE49-F238E27FC236}">
                <a16:creationId xmlns:a16="http://schemas.microsoft.com/office/drawing/2014/main" id="{D9E93903-C1ED-DB29-D696-86785808E6B4}"/>
              </a:ext>
            </a:extLst>
          </p:cNvPr>
          <p:cNvGrpSpPr/>
          <p:nvPr/>
        </p:nvGrpSpPr>
        <p:grpSpPr>
          <a:xfrm>
            <a:off x="9363579" y="2441619"/>
            <a:ext cx="2582262" cy="1407939"/>
            <a:chOff x="9398888" y="2491378"/>
            <a:chExt cx="2582262" cy="1407939"/>
          </a:xfrm>
        </p:grpSpPr>
        <p:grpSp>
          <p:nvGrpSpPr>
            <p:cNvPr id="36" name="Group 35">
              <a:extLst>
                <a:ext uri="{FF2B5EF4-FFF2-40B4-BE49-F238E27FC236}">
                  <a16:creationId xmlns:a16="http://schemas.microsoft.com/office/drawing/2014/main" id="{7A4CEAF1-A983-9195-08E5-76B39B939CF8}"/>
                </a:ext>
              </a:extLst>
            </p:cNvPr>
            <p:cNvGrpSpPr/>
            <p:nvPr/>
          </p:nvGrpSpPr>
          <p:grpSpPr>
            <a:xfrm>
              <a:off x="9398888" y="2501122"/>
              <a:ext cx="2582262" cy="1398195"/>
              <a:chOff x="7486482" y="3416185"/>
              <a:chExt cx="2582262" cy="1077722"/>
            </a:xfrm>
          </p:grpSpPr>
          <p:sp>
            <p:nvSpPr>
              <p:cNvPr id="31" name="Rectangle: Rounded Corners 30">
                <a:extLst>
                  <a:ext uri="{FF2B5EF4-FFF2-40B4-BE49-F238E27FC236}">
                    <a16:creationId xmlns:a16="http://schemas.microsoft.com/office/drawing/2014/main" id="{B12934D8-05B2-457F-EFEE-E2F5CF46B510}"/>
                  </a:ext>
                </a:extLst>
              </p:cNvPr>
              <p:cNvSpPr/>
              <p:nvPr/>
            </p:nvSpPr>
            <p:spPr>
              <a:xfrm>
                <a:off x="7659573" y="3540015"/>
                <a:ext cx="2409171" cy="953892"/>
              </a:xfrm>
              <a:prstGeom prst="roundRect">
                <a:avLst/>
              </a:prstGeom>
              <a:solidFill>
                <a:schemeClr val="bg1"/>
              </a:solidFill>
              <a:ln w="28575">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2880" indent="-182880">
                  <a:buClr>
                    <a:srgbClr val="065B57"/>
                  </a:buClr>
                  <a:buFont typeface="Arial" panose="020B0604020202020204" pitchFamily="34" charset="0"/>
                  <a:buChar char="•"/>
                </a:pPr>
                <a:endParaRPr lang="en-US" sz="1200" noProof="0">
                  <a:solidFill>
                    <a:srgbClr val="1F9A9C"/>
                  </a:solidFill>
                  <a:latin typeface="Roboto" panose="02000000000000000000" pitchFamily="2" charset="0"/>
                  <a:ea typeface="Roboto" panose="02000000000000000000" pitchFamily="2" charset="0"/>
                </a:endParaRP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Financing</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Leadership &amp; coordination</a:t>
                </a:r>
              </a:p>
              <a:p>
                <a:pPr marL="182880" indent="-182880">
                  <a:buClr>
                    <a:srgbClr val="065B57"/>
                  </a:buClr>
                  <a:buFont typeface="Arial" panose="020B0604020202020204" pitchFamily="34" charset="0"/>
                  <a:buChar char="•"/>
                </a:pPr>
                <a:r>
                  <a:rPr lang="en-US" sz="1200" noProof="0">
                    <a:solidFill>
                      <a:srgbClr val="1F9A9C"/>
                    </a:solidFill>
                    <a:latin typeface="Roboto" panose="02000000000000000000" pitchFamily="2" charset="0"/>
                    <a:ea typeface="Roboto" panose="02000000000000000000" pitchFamily="2" charset="0"/>
                  </a:rPr>
                  <a:t>Emergency Management, Preparedness and Response</a:t>
                </a:r>
              </a:p>
            </p:txBody>
          </p:sp>
          <p:sp>
            <p:nvSpPr>
              <p:cNvPr id="32" name="Rectangle: Rounded Corners 31">
                <a:extLst>
                  <a:ext uri="{FF2B5EF4-FFF2-40B4-BE49-F238E27FC236}">
                    <a16:creationId xmlns:a16="http://schemas.microsoft.com/office/drawing/2014/main" id="{BFA36853-0A22-B6A6-51F2-FAD81E1A4EDC}"/>
                  </a:ext>
                </a:extLst>
              </p:cNvPr>
              <p:cNvSpPr/>
              <p:nvPr/>
            </p:nvSpPr>
            <p:spPr>
              <a:xfrm>
                <a:off x="7486482" y="3416185"/>
                <a:ext cx="2015326" cy="288974"/>
              </a:xfrm>
              <a:prstGeom prst="roundRect">
                <a:avLst/>
              </a:prstGeom>
              <a:solidFill>
                <a:srgbClr val="1F9A9C"/>
              </a:solidFill>
              <a:ln w="38100">
                <a:solidFill>
                  <a:srgbClr val="1F9A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noProof="0">
                    <a:solidFill>
                      <a:schemeClr val="bg1"/>
                    </a:solidFill>
                    <a:latin typeface="Roboto" panose="02000000000000000000" pitchFamily="2" charset="0"/>
                    <a:ea typeface="Roboto" panose="02000000000000000000" pitchFamily="2" charset="0"/>
                  </a:rPr>
                  <a:t>STRUCTURES</a:t>
                </a:r>
              </a:p>
            </p:txBody>
          </p:sp>
        </p:grpSp>
        <p:pic>
          <p:nvPicPr>
            <p:cNvPr id="12" name="Graphic 11" descr="Hierarchy with solid fill">
              <a:extLst>
                <a:ext uri="{FF2B5EF4-FFF2-40B4-BE49-F238E27FC236}">
                  <a16:creationId xmlns:a16="http://schemas.microsoft.com/office/drawing/2014/main" id="{3F2CCF56-DFAC-CAA1-B53F-8DC1930B991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1034119" y="2491378"/>
              <a:ext cx="365760" cy="365760"/>
            </a:xfrm>
            <a:prstGeom prst="rect">
              <a:avLst/>
            </a:prstGeom>
          </p:spPr>
        </p:pic>
      </p:grpSp>
      <p:pic>
        <p:nvPicPr>
          <p:cNvPr id="33" name="Graphic 32" descr="Arrow circle with solid fill">
            <a:extLst>
              <a:ext uri="{FF2B5EF4-FFF2-40B4-BE49-F238E27FC236}">
                <a16:creationId xmlns:a16="http://schemas.microsoft.com/office/drawing/2014/main" id="{7656AF98-BEB4-67EB-96D1-A3E90CF432DB}"/>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8302326" y="4113745"/>
            <a:ext cx="469441" cy="469441"/>
          </a:xfrm>
          <a:prstGeom prst="rect">
            <a:avLst/>
          </a:prstGeom>
        </p:spPr>
      </p:pic>
      <p:pic>
        <p:nvPicPr>
          <p:cNvPr id="57" name="Graphic 56" descr="Weight Loss with solid fill">
            <a:extLst>
              <a:ext uri="{FF2B5EF4-FFF2-40B4-BE49-F238E27FC236}">
                <a16:creationId xmlns:a16="http://schemas.microsoft.com/office/drawing/2014/main" id="{9DDFB2DA-0C5B-3903-0CE2-E03B1FD70DA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868070" y="4105461"/>
            <a:ext cx="469441" cy="469441"/>
          </a:xfrm>
          <a:prstGeom prst="rect">
            <a:avLst/>
          </a:prstGeom>
        </p:spPr>
      </p:pic>
      <p:sp>
        <p:nvSpPr>
          <p:cNvPr id="60" name="TextBox 59">
            <a:extLst>
              <a:ext uri="{FF2B5EF4-FFF2-40B4-BE49-F238E27FC236}">
                <a16:creationId xmlns:a16="http://schemas.microsoft.com/office/drawing/2014/main" id="{BC6D121D-3B80-71DA-385E-95F6FD1CD8F1}"/>
              </a:ext>
            </a:extLst>
          </p:cNvPr>
          <p:cNvSpPr txBox="1"/>
          <p:nvPr/>
        </p:nvSpPr>
        <p:spPr>
          <a:xfrm>
            <a:off x="9531016" y="6210246"/>
            <a:ext cx="2609850" cy="276999"/>
          </a:xfrm>
          <a:prstGeom prst="rect">
            <a:avLst/>
          </a:prstGeom>
          <a:noFill/>
        </p:spPr>
        <p:txBody>
          <a:bodyPr wrap="square">
            <a:spAutoFit/>
          </a:bodyPr>
          <a:lstStyle/>
          <a:p>
            <a:r>
              <a:rPr lang="en-US" sz="1200" b="1" noProof="0">
                <a:solidFill>
                  <a:srgbClr val="C00000"/>
                </a:solidFill>
                <a:latin typeface="Poppins" panose="00000500000000000000" pitchFamily="2" charset="0"/>
                <a:ea typeface="Inter" panose="02000503000000020004" pitchFamily="2" charset="0"/>
                <a:cs typeface="Poppins" panose="00000500000000000000" pitchFamily="2" charset="0"/>
              </a:rPr>
              <a:t>100% adaptable by countries</a:t>
            </a:r>
            <a:endParaRPr lang="en-US" sz="1200" noProof="0"/>
          </a:p>
        </p:txBody>
      </p:sp>
    </p:spTree>
    <p:extLst>
      <p:ext uri="{BB962C8B-B14F-4D97-AF65-F5344CB8AC3E}">
        <p14:creationId xmlns:p14="http://schemas.microsoft.com/office/powerpoint/2010/main" val="19597481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E793C-D6B7-020D-9F10-038F8E91D0F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99D0A07-E649-9FFB-4BE4-ABD541297DC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Lst>
          </a:blip>
          <a:srcRect l="-1" r="1"/>
          <a:stretch>
            <a:fillRect/>
          </a:stretch>
        </p:blipFill>
        <p:spPr>
          <a:xfrm>
            <a:off x="-1" y="-1"/>
            <a:ext cx="12192001" cy="6857999"/>
          </a:xfrm>
          <a:prstGeom prst="rect">
            <a:avLst/>
          </a:prstGeom>
        </p:spPr>
      </p:pic>
      <p:pic>
        <p:nvPicPr>
          <p:cNvPr id="3" name="Picture 2" descr="A group of white logos&#10;&#10;AI-generated content may be incorrect.">
            <a:extLst>
              <a:ext uri="{FF2B5EF4-FFF2-40B4-BE49-F238E27FC236}">
                <a16:creationId xmlns:a16="http://schemas.microsoft.com/office/drawing/2014/main" id="{ECB9FA4A-9046-838D-CF8D-B8361B7F3FA8}"/>
              </a:ext>
            </a:extLst>
          </p:cNvPr>
          <p:cNvPicPr>
            <a:picLocks noChangeAspect="1"/>
          </p:cNvPicPr>
          <p:nvPr/>
        </p:nvPicPr>
        <p:blipFill>
          <a:blip r:embed="rId4">
            <a:extLst>
              <a:ext uri="{28A0092B-C50C-407E-A947-70E740481C1C}">
                <a14:useLocalDpi xmlns:a14="http://schemas.microsoft.com/office/drawing/2010/main" val="0"/>
              </a:ext>
            </a:extLst>
          </a:blip>
          <a:srcRect l="16446" t="38069" r="11550" b="44092"/>
          <a:stretch>
            <a:fillRect/>
          </a:stretch>
        </p:blipFill>
        <p:spPr>
          <a:xfrm>
            <a:off x="639251" y="265776"/>
            <a:ext cx="4946235" cy="946928"/>
          </a:xfrm>
          <a:prstGeom prst="rect">
            <a:avLst/>
          </a:prstGeom>
        </p:spPr>
      </p:pic>
      <p:pic>
        <p:nvPicPr>
          <p:cNvPr id="9" name="Picture 8" descr="A white text on a black background&#10;&#10;AI-generated content may be incorrect.">
            <a:extLst>
              <a:ext uri="{FF2B5EF4-FFF2-40B4-BE49-F238E27FC236}">
                <a16:creationId xmlns:a16="http://schemas.microsoft.com/office/drawing/2014/main" id="{574ECF11-B9B3-143C-BD6B-74A0E4B209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63479" y="142661"/>
            <a:ext cx="2573567" cy="1193157"/>
          </a:xfrm>
          <a:prstGeom prst="rect">
            <a:avLst/>
          </a:prstGeom>
        </p:spPr>
      </p:pic>
      <p:sp>
        <p:nvSpPr>
          <p:cNvPr id="10" name="TextBox 9">
            <a:extLst>
              <a:ext uri="{FF2B5EF4-FFF2-40B4-BE49-F238E27FC236}">
                <a16:creationId xmlns:a16="http://schemas.microsoft.com/office/drawing/2014/main" id="{CD508CCA-90CD-37CF-A883-329510D47038}"/>
              </a:ext>
            </a:extLst>
          </p:cNvPr>
          <p:cNvSpPr txBox="1"/>
          <p:nvPr/>
        </p:nvSpPr>
        <p:spPr>
          <a:xfrm>
            <a:off x="429985" y="1574867"/>
            <a:ext cx="8929915" cy="3908762"/>
          </a:xfrm>
          <a:prstGeom prst="rect">
            <a:avLst/>
          </a:prstGeom>
          <a:noFill/>
        </p:spPr>
        <p:txBody>
          <a:bodyPr wrap="square" rtlCol="0">
            <a:spAutoFit/>
          </a:bodyPr>
          <a:lstStyle/>
          <a:p>
            <a:endParaRPr lang="en-US" sz="4400"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endParaRPr lang="en-US" sz="4400"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endParaRPr lang="en-US" sz="4400"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endParaRPr lang="en-US" sz="4400" b="1" noProof="0">
              <a:solidFill>
                <a:schemeClr val="bg1"/>
              </a:solidFill>
              <a:latin typeface="Poppins" panose="00000500000000000000" pitchFamily="2" charset="0"/>
              <a:ea typeface="Inter" panose="02000503000000020004" pitchFamily="2" charset="0"/>
              <a:cs typeface="Poppins" panose="00000500000000000000" pitchFamily="2" charset="0"/>
            </a:endParaRPr>
          </a:p>
          <a:p>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rPr>
              <a:t>About </a:t>
            </a:r>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hlinkClick r:id="rId6">
                  <a:extLst>
                    <a:ext uri="{A12FA001-AC4F-418D-AE19-62706E023703}">
                      <ahyp:hlinkClr xmlns:ahyp="http://schemas.microsoft.com/office/drawing/2018/hyperlinkcolor" val="tx"/>
                    </a:ext>
                  </a:extLst>
                </a:hlinkClick>
              </a:rPr>
              <a:t>FASTR</a:t>
            </a:r>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rPr>
              <a:t> I Access the FASTR </a:t>
            </a:r>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hlinkClick r:id="rId7">
                  <a:extLst>
                    <a:ext uri="{A12FA001-AC4F-418D-AE19-62706E023703}">
                      <ahyp:hlinkClr xmlns:ahyp="http://schemas.microsoft.com/office/drawing/2018/hyperlinkcolor" val="tx"/>
                    </a:ext>
                  </a:extLst>
                </a:hlinkClick>
              </a:rPr>
              <a:t>resource repository </a:t>
            </a:r>
            <a:endParaRPr lang="en-US" sz="2400" noProof="0">
              <a:solidFill>
                <a:schemeClr val="bg1"/>
              </a:solidFill>
              <a:latin typeface="Poppins" panose="00000500000000000000" pitchFamily="2" charset="0"/>
              <a:ea typeface="Inter" panose="02000503000000020004" pitchFamily="2" charset="0"/>
              <a:cs typeface="Poppins" panose="00000500000000000000" pitchFamily="2" charset="0"/>
            </a:endParaRPr>
          </a:p>
          <a:p>
            <a:endParaRPr lang="en-US" sz="2400" noProof="0">
              <a:solidFill>
                <a:schemeClr val="bg1"/>
              </a:solidFill>
              <a:latin typeface="Poppins" panose="00000500000000000000" pitchFamily="2" charset="0"/>
              <a:ea typeface="Inter" panose="02000503000000020004" pitchFamily="2" charset="0"/>
              <a:cs typeface="Poppins" panose="00000500000000000000" pitchFamily="2" charset="0"/>
            </a:endParaRPr>
          </a:p>
          <a:p>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rPr>
              <a:t>Contact us at </a:t>
            </a:r>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hlinkClick r:id="rId8">
                  <a:extLst>
                    <a:ext uri="{A12FA001-AC4F-418D-AE19-62706E023703}">
                      <ahyp:hlinkClr xmlns:ahyp="http://schemas.microsoft.com/office/drawing/2018/hyperlinkcolor" val="tx"/>
                    </a:ext>
                  </a:extLst>
                </a:hlinkClick>
              </a:rPr>
              <a:t>fastr@worldbank.org</a:t>
            </a:r>
            <a:r>
              <a:rPr lang="en-US" sz="2400" noProof="0">
                <a:solidFill>
                  <a:schemeClr val="bg1"/>
                </a:solidFill>
                <a:latin typeface="Poppins" panose="00000500000000000000" pitchFamily="2" charset="0"/>
                <a:ea typeface="Inter" panose="02000503000000020004" pitchFamily="2" charset="0"/>
                <a:cs typeface="Poppins" panose="00000500000000000000" pitchFamily="2" charset="0"/>
              </a:rPr>
              <a:t>   </a:t>
            </a:r>
          </a:p>
        </p:txBody>
      </p:sp>
    </p:spTree>
    <p:extLst>
      <p:ext uri="{BB962C8B-B14F-4D97-AF65-F5344CB8AC3E}">
        <p14:creationId xmlns:p14="http://schemas.microsoft.com/office/powerpoint/2010/main" val="2049388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604C3B73AE9943B737720A48E3AF7C" ma:contentTypeVersion="21" ma:contentTypeDescription="Create a new document." ma:contentTypeScope="" ma:versionID="c6687789abfd74a298a8a5b73530ae90">
  <xsd:schema xmlns:xsd="http://www.w3.org/2001/XMLSchema" xmlns:xs="http://www.w3.org/2001/XMLSchema" xmlns:p="http://schemas.microsoft.com/office/2006/metadata/properties" xmlns:ns1="http://schemas.microsoft.com/sharepoint/v3" xmlns:ns3="60c75bb3-2e3f-4394-b4f4-3e2677e21dfa" xmlns:ns4="9c83b91e-5ffe-420f-9ed1-9dac5903eaec" targetNamespace="http://schemas.microsoft.com/office/2006/metadata/properties" ma:root="true" ma:fieldsID="ddd6a426537a888eb8fe04784c04f23a" ns1:_="" ns3:_="" ns4:_="">
    <xsd:import namespace="http://schemas.microsoft.com/sharepoint/v3"/>
    <xsd:import namespace="60c75bb3-2e3f-4394-b4f4-3e2677e21dfa"/>
    <xsd:import namespace="9c83b91e-5ffe-420f-9ed1-9dac5903eae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AutoKeyPoints" minOccurs="0"/>
                <xsd:element ref="ns4:MediaServiceKeyPoints" minOccurs="0"/>
                <xsd:element ref="ns4:MediaServiceGenerationTime" minOccurs="0"/>
                <xsd:element ref="ns4:MediaServiceEventHashCode" minOccurs="0"/>
                <xsd:element ref="ns4:MediaServiceLoca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c75bb3-2e3f-4394-b4f4-3e2677e21df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83b91e-5ffe-420f-9ed1-9dac5903eaec"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9c83b91e-5ffe-420f-9ed1-9dac5903eaec" xsi:nil="true"/>
  </documentManagement>
</p:properties>
</file>

<file path=customXml/itemProps1.xml><?xml version="1.0" encoding="utf-8"?>
<ds:datastoreItem xmlns:ds="http://schemas.openxmlformats.org/officeDocument/2006/customXml" ds:itemID="{0AD8955D-D84E-43E0-B352-BAC260C60B30}">
  <ds:schemaRefs>
    <ds:schemaRef ds:uri="60c75bb3-2e3f-4394-b4f4-3e2677e21dfa"/>
    <ds:schemaRef ds:uri="9c83b91e-5ffe-420f-9ed1-9dac5903ea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B9C2CA-C276-41B0-A7E0-D7747FE214A3}">
  <ds:schemaRefs>
    <ds:schemaRef ds:uri="http://schemas.microsoft.com/sharepoint/v3/contenttype/forms"/>
  </ds:schemaRefs>
</ds:datastoreItem>
</file>

<file path=customXml/itemProps3.xml><?xml version="1.0" encoding="utf-8"?>
<ds:datastoreItem xmlns:ds="http://schemas.openxmlformats.org/officeDocument/2006/customXml" ds:itemID="{DF0B3846-3213-4564-9443-9E02267BBD4C}">
  <ds:schemaRefs>
    <ds:schemaRef ds:uri="60c75bb3-2e3f-4394-b4f4-3e2677e21dfa"/>
    <ds:schemaRef ds:uri="9c83b91e-5ffe-420f-9ed1-9dac5903ea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6672</Words>
  <Application>Microsoft Macintosh PowerPoint</Application>
  <PresentationFormat>Widescreen</PresentationFormat>
  <Paragraphs>1110</Paragraphs>
  <Slides>53</Slides>
  <Notes>41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53</vt:i4>
      </vt:variant>
    </vt:vector>
  </HeadingPairs>
  <TitlesOfParts>
    <vt:vector size="70" baseType="lpstr">
      <vt:lpstr>Aptos</vt:lpstr>
      <vt:lpstr>Arial</vt:lpstr>
      <vt:lpstr>Arial Black</vt:lpstr>
      <vt:lpstr>Avenir Next LT Pro</vt:lpstr>
      <vt:lpstr>Calibri</vt:lpstr>
      <vt:lpstr>Calibri Light</vt:lpstr>
      <vt:lpstr>DejaVu Sans</vt:lpstr>
      <vt:lpstr>Gill Sans MT</vt:lpstr>
      <vt:lpstr>Inter</vt:lpstr>
      <vt:lpstr>Poppins</vt:lpstr>
      <vt:lpstr>Poppins Bold</vt:lpstr>
      <vt:lpstr>Poppins Light</vt:lpstr>
      <vt:lpstr>Poppins SemiBold</vt:lpstr>
      <vt:lpstr>Proxima Nova Lt</vt:lpstr>
      <vt:lpstr>Roboto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goal? Rapid cycle analytics accelerates improvements in RMNCAH-N outcomes by increasing the systematic use of data for decision making</vt:lpstr>
      <vt:lpstr>What is FASTR? An approach to catalyzing continuous ‘analyze, learn, strengthen, act’ cycles to drive the systematic use of timely data for decision making</vt:lpstr>
      <vt:lpstr>How can this be achieved? Timely, rigorous, and low-cost approaches to monitoring PHC systems, underpinned by capacity building and data use support aligned with country demand and needs​</vt:lpstr>
      <vt:lpstr>Themes: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Viviane Agathe Julie Renee Azais</dc:creator>
  <cp:lastModifiedBy>Meghan Paul</cp:lastModifiedBy>
  <cp:revision>3</cp:revision>
  <dcterms:created xsi:type="dcterms:W3CDTF">2025-08-27T17:06:21Z</dcterms:created>
  <dcterms:modified xsi:type="dcterms:W3CDTF">2026-05-26T18:08:21Z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2025-08-27T17:07:13Z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cbfc7a87-d7f7-4cfc-8e81-58dbd0eca6de</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Official Use Only</vt:lpwstr>
  </property>
  <property fmtid="{D5CDD505-2E9C-101B-9397-08002B2CF9AE}" pid="12" name="ContentTypeId">
    <vt:lpwstr>0x010100FD604C3B73AE9943B737720A48E3AF7C</vt:lpwstr>
  </property>
</Properties>
</file>